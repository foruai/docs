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charts/chart1.xml" ContentType="application/vnd.openxmlformats-officedocument.drawingml.chart+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20"/>
    <p:sldId id="270" r:id="rId21"/>
    <p:sldId id="271" r:id="rId22"/>
    <p:sldId id="272" r:id="rId23"/>
    <p:sldId id="273" r:id="rId24"/>
    <p:sldId id="274" r:id="rId25"/>
    <p:sldId id="268" r:id="rId14"/>
    <p:sldId id="275" r:id="rId26"/>
    <p:sldId id="276" r:id="rId27"/>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175A"/>
                </a:solidFill>
                <a:latin typeface="Calibri"/>
              </a:defRPr>
            </a:pPr>
            <a:r>
              <a:rPr sz="1300" b="0" i="0" u="none" strike="noStrike">
                <a:solidFill>
                  <a:srgbClr val="00175A"/>
                </a:solidFill>
                <a:latin typeface="Calibri"/>
              </a:rPr>
              <a:t>Benchmark corpus outcomes</a:t>
            </a:r>
          </a:p>
        </c:rich>
      </c:tx>
      <c:layout/>
      <c:overlay val="0"/>
    </c:title>
    <c:autoTitleDeleted val="0"/>
    <c:plotArea>
      <c:layout/>
      <c:barChart>
        <c:barDir val="bar"/>
        <c:grouping val="clustered"/>
        <c:varyColors val="0"/>
        <c:ser>
          <c:idx val="0"/>
          <c:order val="0"/>
          <c:tx>
            <c:strRef>
              <c:f>Sheet1!$B$1</c:f>
              <c:strCache>
                <c:ptCount val="1"/>
                <c:pt idx="0">
                  <c:v>Findings</c:v>
                </c:pt>
              </c:strCache>
            </c:strRef>
          </c:tx>
          <c:spPr>
            <a:solidFill>
              <a:srgbClr val="006FCF"/>
            </a:solidFill>
            <a:effectLst/>
          </c:spPr>
          <c:invertIfNegative val="0"/>
          <c:dLbls>
            <c:numFmt formatCode="#,##0" sourceLinked="0"/>
            <c:txPr>
              <a:bodyPr/>
              <a:lstStyle/>
              <a:p>
                <a:pPr>
                  <a:defRPr b="1" i="0" strike="noStrike" sz="1400" u="none">
                    <a:solidFill>
                      <a:srgbClr val="001233"/>
                    </a:solidFill>
                    <a:latin typeface="Calibri"/>
                  </a:defRPr>
                </a:pPr>
              </a:p>
            </c:txPr>
            <c:showLegendKey val="0"/>
            <c:showVal val="1"/>
            <c:showCatName val="0"/>
            <c:showSerName val="0"/>
            <c:showPercent val="0"/>
            <c:showBubbleSize val="0"/>
            <c:showLeaderLines val="0"/>
          </c:dLbls>
          <c:dPt>
            <c:idx val="0"/>
            <c:invertIfNegative val="0"/>
            <c:bubble3D val="0"/>
            <c:spPr>
              <a:solidFill>
                <a:srgbClr val="006FCF"/>
              </a:solidFill>
              <a:effectLst/>
            </c:spPr>
          </c:dPt>
          <c:dPt>
            <c:idx val="1"/>
            <c:invertIfNegative val="0"/>
            <c:bubble3D val="0"/>
            <c:spPr>
              <a:solidFill>
                <a:srgbClr val="00175A"/>
              </a:solidFill>
              <a:effectLst/>
            </c:spPr>
          </c:dPt>
          <c:dPt>
            <c:idx val="2"/>
            <c:invertIfNegative val="0"/>
            <c:bubble3D val="0"/>
            <c:spPr>
              <a:solidFill>
                <a:srgbClr val="A9C4E2"/>
              </a:solidFill>
              <a:effectLst/>
            </c:spPr>
          </c:dPt>
          <c:cat>
            <c:multiLvlStrRef>
              <c:f>Sheet1!$A$2:$A$4</c:f>
              <c:multiLvlStrCache>
                <c:ptCount val="3"/>
                <c:lvl>
                  <c:pt idx="0">
                    <c:v>Still live in current release</c:v>
                  </c:pt>
                  <c:pt idx="1">
                    <c:v>Confirmed real when found</c:v>
                  </c:pt>
                  <c:pt idx="2">
                    <c:v>Findings assessed</c:v>
                  </c:pt>
                </c:lvl>
              </c:multiLvlStrCache>
            </c:multiLvlStrRef>
          </c:cat>
          <c:val>
            <c:numRef>
              <c:f>Sheet1!$B$2:$B$4</c:f>
              <c:numCache>
                <c:formatCode>General</c:formatCode>
                <c:ptCount val="3"/>
                <c:pt idx="0">
                  <c:v>13</c:v>
                </c:pt>
                <c:pt idx="1">
                  <c:v>17</c:v>
                </c:pt>
                <c:pt idx="2">
                  <c:v>19</c:v>
                </c:pt>
              </c:numCache>
            </c:numRef>
          </c:val>
        </c:ser>
        <c:dLbls>
          <c:numFmt formatCode="#,##0" sourceLinked="0"/>
          <c:txPr>
            <a:bodyPr/>
            <a:lstStyle/>
            <a:p>
              <a:pPr>
                <a:defRPr b="1" i="0" strike="noStrike" sz="1400" u="none">
                  <a:solidFill>
                    <a:srgbClr val="001233"/>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C959E"/>
            </a:solidFill>
            <a:prstDash val="solid"/>
            <a:round/>
          </a:ln>
        </c:spPr>
        <c:txPr>
          <a:bodyPr/>
          <a:lstStyle/>
          <a:p>
            <a:pPr>
              <a:defRPr sz="1200" b="0" i="0" u="none" strike="noStrike">
                <a:solidFill>
                  <a:srgbClr val="001233"/>
                </a:solidFill>
                <a:latin typeface="Calibri"/>
              </a:defRPr>
            </a:pPr>
            <a:endParaRPr lang="en-US"/>
          </a:p>
        </c:txPr>
        <c:crossAx val="2094734552"/>
        <c:crosses val="autoZero"/>
        <c:auto val="1"/>
        <c:lblAlgn val="ctr"/>
        <c:noMultiLvlLbl val="1"/>
      </c:catAx>
      <c:valAx>
        <c:axId val="2094734552"/>
        <c:scaling>
          <c:orientation val="minMax"/>
          <c:max val="22"/>
          <c:min val="0"/>
        </c:scaling>
        <c:delete val="0"/>
        <c:axPos val="b"/>
        <c:majorGridlines>
          <c:spPr>
            <a:ln w="12700" cap="flat">
              <a:solidFill>
                <a:srgbClr val="EDF2FA"/>
              </a:solidFill>
              <a:prstDash val="solid"/>
              <a:round/>
            </a:ln>
          </c:spPr>
        </c:majorGridlines>
        <c:numFmt formatCode="General" sourceLinked="0"/>
        <c:majorTickMark val="out"/>
        <c:minorTickMark val="none"/>
        <c:tickLblPos val="low"/>
        <c:spPr>
          <a:ln w="12700" cap="flat">
            <a:solidFill>
              <a:srgbClr val="8C959E"/>
            </a:solidFill>
            <a:prstDash val="solid"/>
            <a:round/>
          </a:ln>
        </c:spPr>
        <c:txPr>
          <a:bodyPr/>
          <a:lstStyle/>
          <a:p>
            <a:pPr>
              <a:defRPr sz="1000" b="0" i="0" u="none" strike="noStrike">
                <a:solidFill>
                  <a:srgbClr val="53565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PRISM is a model agnostic AI security research system. It combines complementary ways of investigating a repository, consolidates them into distinct root causes, challenges weak findings before they reach users, and uses runtime validation selectively. Ten minutes, four questions: what it is, how it works, why it finds more, why it costs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up front. Nine slides. The first three explain what PRISM is and how it works, the middle four explain why the architecture should find more, deliver cleaner results, cost less and survive model change, and the last two are the scorecard and the direction. Everything here is either built or measurable, and slide eight is explicit about what is not yet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Leadership framing: we are not choosing between scale and depth. The gap is that neither approach separates finding an issue from proving it. That separation is the core of the PRISM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Stage three is the difference: instead of one detection strategy, PRISM runs complementary investigation strategies over the same understood system. Stages four and five are the evidence layer. Runtime proof is applied selectively, not universally.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the 11 versus 42 comparison is not a performance claim. It is evidence that how AI investigation is organized changes what it discovers, even without spending more on inference. A controlled head to head against a strong external baseline is part of the MVP evaluation and has not been run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scanners surface findings directly. PRISM adds a challenge layer between discovery and delivery. Leadership takeaway: fewer, better findings reach engineering teams, and each one arrives with a stated evidence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Progressive investment is the cost story. The expensive model is not applied evenly across the repository. Broad screening is cheap, escalation is selective, and runtime validation is reserved for findings where the answer changes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strategic point: PRISM is the security system, not the model. Model quality will keep improving. Owning the workflow means we capture that improvement without rebuilding, and without locking the security program to one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high level. We are describing architectural categories, not asserting what a named competitor cannot do. The rows in the PRISM column are design commitments that the MVP evaluation will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deliberately a scorecard rather than marketing. If PRISM cannot clear these five measures, we should know early. The external head to head comparison is still ahead of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thesis. The architecture is the asset. As frontier models improve, PRISM gets better without a redesign, and the evidence discipline is what makes the output trustworthy enough to put in front of engineering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attached evidence brief. The point to make out loud: this is field work, not a projection. Three defects proved in three widely used open source projects in one week, each held to a running or reproduced standard before it counted as a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Benchmark validation came before the field work. Ninety two percent of the vulnerable cases detected on OWASP Benchmark, ninety seven percent on Juliet. Both suites pair each vulnerable case with a safe variant, so the same run scores misses and false alarms, and the harness called both sides correctly without inventing findings. Say plainly that these corpora are synthetic with published answers: they show the method is disciplined, and the three field defects show it holds on real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in one week the harness proved three defects in software used by thousands of teams, one of them hiding in plain sight for five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four takeaways. The strongest single line is that a defect sat in a widely used tool for five years and the harness surfaced it in a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step one with the contrast: pattern matching versus understanding. Step three is where the credibility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non-technical. kopia: the badge system never clears the old building. nokogiri: we ran it and got SECRET back. facil.io: a backwards size check reachable from a normal public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years is the headline. No issues, no pull requests, no test coverage for the scenario, and the harness surfaced it in a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Nineteen assessed, seventeen real, thirteen still live, none left undetermined.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capability slide. Depth, precision, speed. Everything here is backed by the three findings already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control and quality. The work is held deliberately, it goes out as one package, and leadership sets the timing.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chart" Target="/ppt/charts/char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233"/>
        </a:solidFill>
      </p:bgPr>
    </p:bg>
    <p:spTree>
      <p:nvGrpSpPr>
        <p:cNvPr id="1" name=""/>
        <p:cNvGrpSpPr/>
        <p:nvPr/>
      </p:nvGrpSpPr>
      <p:grpSpPr>
        <a:xfrm>
          <a:off x="0" y="0"/>
          <a:ext cx="0" cy="0"/>
          <a:chOff x="0" y="0"/>
          <a:chExt cx="0" cy="0"/>
        </a:xfrm>
      </p:grpSpPr>
      <p:sp>
        <p:nvSpPr>
          <p:cNvPr id="2" name="Text 0"/>
          <p:cNvSpPr txBox="1"/>
          <p:nvPr/>
        </p:nvSpPr>
        <p:spPr>
          <a:xfrm>
            <a:off x="822960" y="1600200"/>
            <a:ext cx="5852160" cy="1143000"/>
          </a:xfrm>
          <a:prstGeom prst="rect">
            <a:avLst/>
          </a:prstGeom>
          <a:noFill/>
          <a:ln/>
        </p:spPr>
        <p:txBody>
          <a:bodyPr wrap="square" lIns="0" tIns="0" rIns="0" bIns="0" rtlCol="0" anchor="ctr"/>
          <a:lstStyle/>
          <a:p>
            <a:pPr indent="0" marL="0">
              <a:buNone/>
            </a:pPr>
            <a:r>
              <a:rPr lang="en-US" sz="6800" b="1" spc="300" kern="0" dirty="0">
                <a:solidFill>
                  <a:srgbClr val="FFFFFF"/>
                </a:solidFill>
                <a:latin typeface="Cambria" pitchFamily="34" charset="0"/>
                <a:ea typeface="Cambria" pitchFamily="34" charset="-122"/>
                <a:cs typeface="Cambria" pitchFamily="34" charset="-120"/>
              </a:rPr>
              <a:t>PRISM</a:t>
            </a:r>
            <a:endParaRPr lang="en-US" sz="6800" dirty="0"/>
          </a:p>
        </p:txBody>
      </p:sp>
      <p:sp>
        <p:nvSpPr>
          <p:cNvPr id="3" name="Text 1"/>
          <p:cNvSpPr txBox="1"/>
          <p:nvPr/>
        </p:nvSpPr>
        <p:spPr>
          <a:xfrm>
            <a:off x="841248" y="2788920"/>
            <a:ext cx="6035040" cy="822960"/>
          </a:xfrm>
          <a:prstGeom prst="rect">
            <a:avLst/>
          </a:prstGeom>
          <a:noFill/>
          <a:ln/>
        </p:spPr>
        <p:txBody>
          <a:bodyPr wrap="square" lIns="0" tIns="0" rIns="0" bIns="0" rtlCol="0" anchor="ctr"/>
          <a:lstStyle/>
          <a:p>
            <a:pPr indent="0" marL="0">
              <a:lnSpc>
                <a:spcPct val="115000"/>
              </a:lnSpc>
              <a:buNone/>
            </a:pPr>
            <a:r>
              <a:rPr lang="en-US" sz="2200" dirty="0">
                <a:solidFill>
                  <a:srgbClr val="9BCAEB"/>
                </a:solidFill>
                <a:latin typeface="Cambria" pitchFamily="34" charset="0"/>
                <a:ea typeface="Cambria" pitchFamily="34" charset="-122"/>
                <a:cs typeface="Cambria" pitchFamily="34" charset="-120"/>
              </a:rPr>
              <a:t>AI Security Research Beyond a Single Scanner or Agent</a:t>
            </a:r>
            <a:endParaRPr lang="en-US" sz="2200" dirty="0"/>
          </a:p>
        </p:txBody>
      </p:sp>
      <p:sp>
        <p:nvSpPr>
          <p:cNvPr id="4" name="Text 2"/>
          <p:cNvSpPr txBox="1"/>
          <p:nvPr/>
        </p:nvSpPr>
        <p:spPr>
          <a:xfrm>
            <a:off x="841248" y="3794760"/>
            <a:ext cx="5669280" cy="822960"/>
          </a:xfrm>
          <a:prstGeom prst="rect">
            <a:avLst/>
          </a:prstGeom>
          <a:noFill/>
          <a:ln/>
        </p:spPr>
        <p:txBody>
          <a:bodyPr wrap="square" lIns="0" tIns="0" rIns="0" bIns="0" rtlCol="0" anchor="ctr"/>
          <a:lstStyle/>
          <a:p>
            <a:pPr indent="0" marL="0">
              <a:lnSpc>
                <a:spcPct val="125000"/>
              </a:lnSpc>
              <a:buNone/>
            </a:pPr>
            <a:r>
              <a:rPr lang="en-US" sz="1450" dirty="0">
                <a:solidFill>
                  <a:srgbClr val="C5D9EE"/>
                </a:solidFill>
                <a:latin typeface="Calibri" pitchFamily="34" charset="0"/>
                <a:ea typeface="Calibri" pitchFamily="34" charset="-122"/>
                <a:cs typeface="Calibri" pitchFamily="34" charset="-120"/>
              </a:rPr>
              <a:t>Find broader vulnerability coverage, reduce noise through evidence, and spend deep AI reasoning only where it matters.</a:t>
            </a:r>
            <a:endParaRPr lang="en-US" sz="1450" dirty="0"/>
          </a:p>
        </p:txBody>
      </p:sp>
      <p:sp>
        <p:nvSpPr>
          <p:cNvPr id="5" name="Text 3"/>
          <p:cNvSpPr txBox="1"/>
          <p:nvPr/>
        </p:nvSpPr>
        <p:spPr>
          <a:xfrm>
            <a:off x="841248" y="5897880"/>
            <a:ext cx="7315200" cy="310896"/>
          </a:xfrm>
          <a:prstGeom prst="rect">
            <a:avLst/>
          </a:prstGeom>
          <a:noFill/>
          <a:ln/>
        </p:spPr>
        <p:txBody>
          <a:bodyPr wrap="square" lIns="0" tIns="0" rIns="0" bIns="0" rtlCol="0" anchor="ctr"/>
          <a:lstStyle/>
          <a:p>
            <a:pPr indent="0" marL="0">
              <a:buNone/>
            </a:pPr>
            <a:r>
              <a:rPr lang="en-US" sz="1100" spc="80" kern="0" dirty="0">
                <a:solidFill>
                  <a:srgbClr val="7D93AE"/>
                </a:solidFill>
                <a:latin typeface="Calibri" pitchFamily="34" charset="0"/>
                <a:ea typeface="Calibri" pitchFamily="34" charset="-122"/>
                <a:cs typeface="Calibri" pitchFamily="34" charset="-120"/>
              </a:rPr>
              <a:t>Executive Briefing   |   Security Architecture and Emerging Technology</a:t>
            </a:r>
            <a:endParaRPr lang="en-US" sz="1100" dirty="0"/>
          </a:p>
        </p:txBody>
      </p:sp>
      <p:sp>
        <p:nvSpPr>
          <p:cNvPr id="6" name="Shape 4"/>
          <p:cNvSpPr/>
          <p:nvPr/>
        </p:nvSpPr>
        <p:spPr>
          <a:xfrm>
            <a:off x="6720840" y="3566160"/>
            <a:ext cx="1956816" cy="0"/>
          </a:xfrm>
          <a:prstGeom prst="line">
            <a:avLst/>
          </a:prstGeom>
          <a:noFill/>
          <a:ln w="28575">
            <a:solidFill>
              <a:srgbClr val="FFFFFF"/>
            </a:solidFill>
            <a:prstDash val="solid"/>
          </a:ln>
        </p:spPr>
      </p:sp>
      <p:sp>
        <p:nvSpPr>
          <p:cNvPr id="7" name="Shape 5"/>
          <p:cNvSpPr/>
          <p:nvPr/>
        </p:nvSpPr>
        <p:spPr>
          <a:xfrm>
            <a:off x="8229600" y="2194560"/>
            <a:ext cx="2377440" cy="2194560"/>
          </a:xfrm>
          <a:prstGeom prst="triangle">
            <a:avLst/>
          </a:prstGeom>
          <a:solidFill>
            <a:srgbClr val="002050"/>
          </a:solidFill>
          <a:ln w="25400">
            <a:solidFill>
              <a:srgbClr val="9BCAEB"/>
            </a:solidFill>
            <a:prstDash val="solid"/>
          </a:ln>
        </p:spPr>
      </p:sp>
      <p:sp>
        <p:nvSpPr>
          <p:cNvPr id="8" name="Shape 6"/>
          <p:cNvSpPr/>
          <p:nvPr/>
        </p:nvSpPr>
        <p:spPr>
          <a:xfrm flipV="1">
            <a:off x="10158984" y="2606040"/>
            <a:ext cx="1499616" cy="960120"/>
          </a:xfrm>
          <a:prstGeom prst="line">
            <a:avLst/>
          </a:prstGeom>
          <a:noFill/>
          <a:ln w="25400">
            <a:solidFill>
              <a:srgbClr val="9BCAEB"/>
            </a:solidFill>
            <a:prstDash val="solid"/>
          </a:ln>
        </p:spPr>
      </p:sp>
      <p:sp>
        <p:nvSpPr>
          <p:cNvPr id="9" name="Shape 7"/>
          <p:cNvSpPr/>
          <p:nvPr/>
        </p:nvSpPr>
        <p:spPr>
          <a:xfrm flipV="1">
            <a:off x="10158984" y="3154680"/>
            <a:ext cx="1499616" cy="411480"/>
          </a:xfrm>
          <a:prstGeom prst="line">
            <a:avLst/>
          </a:prstGeom>
          <a:noFill/>
          <a:ln w="25400">
            <a:solidFill>
              <a:srgbClr val="7FC3F5"/>
            </a:solidFill>
            <a:prstDash val="solid"/>
          </a:ln>
        </p:spPr>
      </p:sp>
      <p:sp>
        <p:nvSpPr>
          <p:cNvPr id="10" name="Shape 8"/>
          <p:cNvSpPr/>
          <p:nvPr/>
        </p:nvSpPr>
        <p:spPr>
          <a:xfrm>
            <a:off x="10158984" y="3566160"/>
            <a:ext cx="1499616" cy="137160"/>
          </a:xfrm>
          <a:prstGeom prst="line">
            <a:avLst/>
          </a:prstGeom>
          <a:noFill/>
          <a:ln w="25400">
            <a:solidFill>
              <a:srgbClr val="D9B36C"/>
            </a:solidFill>
            <a:prstDash val="solid"/>
          </a:ln>
        </p:spPr>
      </p:sp>
      <p:sp>
        <p:nvSpPr>
          <p:cNvPr id="11" name="Shape 9"/>
          <p:cNvSpPr/>
          <p:nvPr/>
        </p:nvSpPr>
        <p:spPr>
          <a:xfrm>
            <a:off x="10158984" y="3566160"/>
            <a:ext cx="1499616" cy="685800"/>
          </a:xfrm>
          <a:prstGeom prst="line">
            <a:avLst/>
          </a:prstGeom>
          <a:noFill/>
          <a:ln w="25400">
            <a:solidFill>
              <a:srgbClr val="E8EEF6"/>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Shape 0"/>
          <p:cNvSpPr/>
          <p:nvPr/>
        </p:nvSpPr>
        <p:spPr>
          <a:xfrm rot="5400000">
            <a:off x="566928" y="475488"/>
            <a:ext cx="128016" cy="146304"/>
          </a:xfrm>
          <a:prstGeom prst="triangle">
            <a:avLst/>
          </a:prstGeom>
          <a:solidFill>
            <a:srgbClr val="006FCF"/>
          </a:solidFill>
          <a:ln/>
        </p:spPr>
      </p:sp>
      <p:sp>
        <p:nvSpPr>
          <p:cNvPr id="3" name="Text 1"/>
          <p:cNvSpPr txBox="1"/>
          <p:nvPr/>
        </p:nvSpPr>
        <p:spPr>
          <a:xfrm>
            <a:off x="777240" y="402336"/>
            <a:ext cx="7315200" cy="292608"/>
          </a:xfrm>
          <a:prstGeom prst="rect">
            <a:avLst/>
          </a:prstGeom>
          <a:noFill/>
          <a:ln/>
        </p:spPr>
        <p:txBody>
          <a:bodyPr wrap="square" lIns="0" tIns="0" rIns="0" bIns="0" rtlCol="0" anchor="ctr"/>
          <a:lstStyle/>
          <a:p>
            <a:pPr indent="0" marL="0">
              <a:buNone/>
            </a:pPr>
            <a:r>
              <a:rPr lang="en-US" sz="1150" b="1" spc="160" kern="0" dirty="0">
                <a:solidFill>
                  <a:srgbClr val="006FCF"/>
                </a:solidFill>
                <a:latin typeface="Calibri" pitchFamily="34" charset="0"/>
                <a:ea typeface="Calibri" pitchFamily="34" charset="-122"/>
                <a:cs typeface="Calibri" pitchFamily="34" charset="-120"/>
              </a:rPr>
              <a:t>WHAT THIS BRIEFING COVERS</a:t>
            </a:r>
            <a:endParaRPr lang="en-US" sz="1150" dirty="0"/>
          </a:p>
        </p:txBody>
      </p:sp>
      <p:sp>
        <p:nvSpPr>
          <p:cNvPr id="4" name="Text 2"/>
          <p:cNvSpPr txBox="1"/>
          <p:nvPr/>
        </p:nvSpPr>
        <p:spPr>
          <a:xfrm>
            <a:off x="548640" y="731520"/>
            <a:ext cx="11155680" cy="566928"/>
          </a:xfrm>
          <a:prstGeom prst="rect">
            <a:avLst/>
          </a:prstGeom>
          <a:noFill/>
          <a:ln/>
        </p:spPr>
        <p:txBody>
          <a:bodyPr wrap="square" lIns="0" tIns="0" rIns="0" bIns="0" rtlCol="0" anchor="t"/>
          <a:lstStyle/>
          <a:p>
            <a:pPr indent="0" marL="0">
              <a:buNone/>
            </a:pPr>
            <a:r>
              <a:rPr lang="en-US" sz="3100" b="1" dirty="0">
                <a:solidFill>
                  <a:srgbClr val="1B2A44"/>
                </a:solidFill>
                <a:latin typeface="Cambria" pitchFamily="34" charset="0"/>
                <a:ea typeface="Cambria" pitchFamily="34" charset="-122"/>
                <a:cs typeface="Cambria" pitchFamily="34" charset="-120"/>
              </a:rPr>
              <a:t>Four questions, answered in under ten minutes</a:t>
            </a:r>
            <a:endParaRPr lang="en-US" sz="3100" dirty="0"/>
          </a:p>
        </p:txBody>
      </p:sp>
      <p:sp>
        <p:nvSpPr>
          <p:cNvPr id="5" name="Text 3"/>
          <p:cNvSpPr txBox="1"/>
          <p:nvPr/>
        </p:nvSpPr>
        <p:spPr>
          <a:xfrm>
            <a:off x="548640" y="1298448"/>
            <a:ext cx="10607040" cy="310896"/>
          </a:xfrm>
          <a:prstGeom prst="rect">
            <a:avLst/>
          </a:prstGeom>
          <a:noFill/>
          <a:ln/>
        </p:spPr>
        <p:txBody>
          <a:bodyPr wrap="square" lIns="0" tIns="0" rIns="0" bIns="0" rtlCol="0" anchor="ctr"/>
          <a:lstStyle/>
          <a:p>
            <a:pPr indent="0" marL="0">
              <a:buNone/>
            </a:pPr>
            <a:r>
              <a:rPr lang="en-US" sz="1400" dirty="0">
                <a:solidFill>
                  <a:srgbClr val="53565A"/>
                </a:solidFill>
                <a:latin typeface="Calibri" pitchFamily="34" charset="0"/>
                <a:ea typeface="Calibri" pitchFamily="34" charset="-122"/>
                <a:cs typeface="Calibri" pitchFamily="34" charset="-120"/>
              </a:rPr>
              <a:t>What PRISM is, how it works, why it is designed to find more, and why it can do that at lower cost with cleaner results.</a:t>
            </a:r>
            <a:endParaRPr lang="en-US" sz="1400" dirty="0"/>
          </a:p>
        </p:txBody>
      </p:sp>
      <p:sp>
        <p:nvSpPr>
          <p:cNvPr id="6" name="Shape 4"/>
          <p:cNvSpPr/>
          <p:nvPr/>
        </p:nvSpPr>
        <p:spPr>
          <a:xfrm>
            <a:off x="457200" y="2103120"/>
            <a:ext cx="3566160" cy="1234440"/>
          </a:xfrm>
          <a:prstGeom prst="roundRect">
            <a:avLst>
              <a:gd name="adj" fmla="val 5926"/>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7" name="Text 5"/>
          <p:cNvSpPr txBox="1"/>
          <p:nvPr/>
        </p:nvSpPr>
        <p:spPr>
          <a:xfrm>
            <a:off x="731520" y="2249424"/>
            <a:ext cx="640080" cy="237744"/>
          </a:xfrm>
          <a:prstGeom prst="rect">
            <a:avLst/>
          </a:prstGeom>
          <a:noFill/>
          <a:ln/>
        </p:spPr>
        <p:txBody>
          <a:bodyPr wrap="square" lIns="0" tIns="0" rIns="0" bIns="0" rtlCol="0" anchor="ctr"/>
          <a:lstStyle/>
          <a:p>
            <a:pPr indent="0" marL="0">
              <a:buNone/>
            </a:pPr>
            <a:r>
              <a:rPr lang="en-US" sz="1050" b="1" spc="120" kern="0" dirty="0">
                <a:solidFill>
                  <a:srgbClr val="006FCF"/>
                </a:solidFill>
                <a:latin typeface="Calibri" pitchFamily="34" charset="0"/>
                <a:ea typeface="Calibri" pitchFamily="34" charset="-122"/>
                <a:cs typeface="Calibri" pitchFamily="34" charset="-120"/>
              </a:rPr>
              <a:t>01</a:t>
            </a:r>
            <a:endParaRPr lang="en-US" sz="1050" dirty="0"/>
          </a:p>
        </p:txBody>
      </p:sp>
      <p:sp>
        <p:nvSpPr>
          <p:cNvPr id="8" name="Text 6"/>
          <p:cNvSpPr txBox="1"/>
          <p:nvPr/>
        </p:nvSpPr>
        <p:spPr>
          <a:xfrm>
            <a:off x="731520" y="2505456"/>
            <a:ext cx="3017520" cy="292608"/>
          </a:xfrm>
          <a:prstGeom prst="rect">
            <a:avLst/>
          </a:prstGeom>
          <a:noFill/>
          <a:ln/>
        </p:spPr>
        <p:txBody>
          <a:bodyPr wrap="square" lIns="0" tIns="0" rIns="0" bIns="0" rtlCol="0" anchor="ctr"/>
          <a:lstStyle/>
          <a:p>
            <a:pPr indent="0" marL="0">
              <a:buNone/>
            </a:pPr>
            <a:r>
              <a:rPr lang="en-US" sz="1450" b="1" dirty="0">
                <a:solidFill>
                  <a:srgbClr val="1B2A44"/>
                </a:solidFill>
                <a:latin typeface="Cambria" pitchFamily="34" charset="0"/>
                <a:ea typeface="Cambria" pitchFamily="34" charset="-122"/>
                <a:cs typeface="Cambria" pitchFamily="34" charset="-120"/>
              </a:rPr>
              <a:t>The problem</a:t>
            </a:r>
            <a:endParaRPr lang="en-US" sz="1450" dirty="0"/>
          </a:p>
        </p:txBody>
      </p:sp>
      <p:sp>
        <p:nvSpPr>
          <p:cNvPr id="9" name="Text 7"/>
          <p:cNvSpPr txBox="1"/>
          <p:nvPr/>
        </p:nvSpPr>
        <p:spPr>
          <a:xfrm>
            <a:off x="731520" y="2825496"/>
            <a:ext cx="3017520" cy="438912"/>
          </a:xfrm>
          <a:prstGeom prst="rect">
            <a:avLst/>
          </a:prstGeom>
          <a:noFill/>
          <a:ln/>
        </p:spPr>
        <p:txBody>
          <a:bodyPr wrap="square" lIns="0" tIns="0" rIns="0" bIns="0" rtlCol="0" anchor="ctr"/>
          <a:lstStyle/>
          <a:p>
            <a:pPr indent="0" marL="0">
              <a:lnSpc>
                <a:spcPct val="115000"/>
              </a:lnSpc>
              <a:buNone/>
            </a:pPr>
            <a:r>
              <a:rPr lang="en-US" sz="1050" dirty="0">
                <a:solidFill>
                  <a:srgbClr val="53565A"/>
                </a:solidFill>
                <a:latin typeface="Calibri" pitchFamily="34" charset="0"/>
                <a:ea typeface="Calibri" pitchFamily="34" charset="-122"/>
                <a:cs typeface="Calibri" pitchFamily="34" charset="-120"/>
              </a:rPr>
              <a:t>Where scale and depth trade off against each other today</a:t>
            </a:r>
            <a:endParaRPr lang="en-US" sz="1050" dirty="0"/>
          </a:p>
        </p:txBody>
      </p:sp>
      <p:sp>
        <p:nvSpPr>
          <p:cNvPr id="10" name="Shape 8"/>
          <p:cNvSpPr/>
          <p:nvPr/>
        </p:nvSpPr>
        <p:spPr>
          <a:xfrm>
            <a:off x="4297680" y="2103120"/>
            <a:ext cx="3566160" cy="1234440"/>
          </a:xfrm>
          <a:prstGeom prst="roundRect">
            <a:avLst>
              <a:gd name="adj" fmla="val 5926"/>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11" name="Text 9"/>
          <p:cNvSpPr txBox="1"/>
          <p:nvPr/>
        </p:nvSpPr>
        <p:spPr>
          <a:xfrm>
            <a:off x="4572000" y="2249424"/>
            <a:ext cx="640080" cy="237744"/>
          </a:xfrm>
          <a:prstGeom prst="rect">
            <a:avLst/>
          </a:prstGeom>
          <a:noFill/>
          <a:ln/>
        </p:spPr>
        <p:txBody>
          <a:bodyPr wrap="square" lIns="0" tIns="0" rIns="0" bIns="0" rtlCol="0" anchor="ctr"/>
          <a:lstStyle/>
          <a:p>
            <a:pPr indent="0" marL="0">
              <a:buNone/>
            </a:pPr>
            <a:r>
              <a:rPr lang="en-US" sz="1050" b="1" spc="120" kern="0" dirty="0">
                <a:solidFill>
                  <a:srgbClr val="006FCF"/>
                </a:solidFill>
                <a:latin typeface="Calibri" pitchFamily="34" charset="0"/>
                <a:ea typeface="Calibri" pitchFamily="34" charset="-122"/>
                <a:cs typeface="Calibri" pitchFamily="34" charset="-120"/>
              </a:rPr>
              <a:t>02</a:t>
            </a:r>
            <a:endParaRPr lang="en-US" sz="1050" dirty="0"/>
          </a:p>
        </p:txBody>
      </p:sp>
      <p:sp>
        <p:nvSpPr>
          <p:cNvPr id="12" name="Text 10"/>
          <p:cNvSpPr txBox="1"/>
          <p:nvPr/>
        </p:nvSpPr>
        <p:spPr>
          <a:xfrm>
            <a:off x="4572000" y="2505456"/>
            <a:ext cx="3017520" cy="292608"/>
          </a:xfrm>
          <a:prstGeom prst="rect">
            <a:avLst/>
          </a:prstGeom>
          <a:noFill/>
          <a:ln/>
        </p:spPr>
        <p:txBody>
          <a:bodyPr wrap="square" lIns="0" tIns="0" rIns="0" bIns="0" rtlCol="0" anchor="ctr"/>
          <a:lstStyle/>
          <a:p>
            <a:pPr indent="0" marL="0">
              <a:buNone/>
            </a:pPr>
            <a:r>
              <a:rPr lang="en-US" sz="1450" b="1" dirty="0">
                <a:solidFill>
                  <a:srgbClr val="1B2A44"/>
                </a:solidFill>
                <a:latin typeface="Cambria" pitchFamily="34" charset="0"/>
                <a:ea typeface="Cambria" pitchFamily="34" charset="-122"/>
                <a:cs typeface="Cambria" pitchFamily="34" charset="-120"/>
              </a:rPr>
              <a:t>High level architecture</a:t>
            </a:r>
            <a:endParaRPr lang="en-US" sz="1450" dirty="0"/>
          </a:p>
        </p:txBody>
      </p:sp>
      <p:sp>
        <p:nvSpPr>
          <p:cNvPr id="13" name="Text 11"/>
          <p:cNvSpPr txBox="1"/>
          <p:nvPr/>
        </p:nvSpPr>
        <p:spPr>
          <a:xfrm>
            <a:off x="4572000" y="2825496"/>
            <a:ext cx="3017520" cy="438912"/>
          </a:xfrm>
          <a:prstGeom prst="rect">
            <a:avLst/>
          </a:prstGeom>
          <a:noFill/>
          <a:ln/>
        </p:spPr>
        <p:txBody>
          <a:bodyPr wrap="square" lIns="0" tIns="0" rIns="0" bIns="0" rtlCol="0" anchor="ctr"/>
          <a:lstStyle/>
          <a:p>
            <a:pPr indent="0" marL="0">
              <a:lnSpc>
                <a:spcPct val="115000"/>
              </a:lnSpc>
              <a:buNone/>
            </a:pPr>
            <a:r>
              <a:rPr lang="en-US" sz="1050" dirty="0">
                <a:solidFill>
                  <a:srgbClr val="53565A"/>
                </a:solidFill>
                <a:latin typeface="Calibri" pitchFamily="34" charset="0"/>
                <a:ea typeface="Calibri" pitchFamily="34" charset="-122"/>
                <a:cs typeface="Calibri" pitchFamily="34" charset="-120"/>
              </a:rPr>
              <a:t>The single workflow that runs from repository to delivered evidence</a:t>
            </a:r>
            <a:endParaRPr lang="en-US" sz="1050" dirty="0"/>
          </a:p>
        </p:txBody>
      </p:sp>
      <p:sp>
        <p:nvSpPr>
          <p:cNvPr id="14" name="Shape 12"/>
          <p:cNvSpPr/>
          <p:nvPr/>
        </p:nvSpPr>
        <p:spPr>
          <a:xfrm>
            <a:off x="8138160" y="2103120"/>
            <a:ext cx="3566160" cy="1234440"/>
          </a:xfrm>
          <a:prstGeom prst="roundRect">
            <a:avLst>
              <a:gd name="adj" fmla="val 5926"/>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15" name="Text 13"/>
          <p:cNvSpPr txBox="1"/>
          <p:nvPr/>
        </p:nvSpPr>
        <p:spPr>
          <a:xfrm>
            <a:off x="8412480" y="2249424"/>
            <a:ext cx="640080" cy="237744"/>
          </a:xfrm>
          <a:prstGeom prst="rect">
            <a:avLst/>
          </a:prstGeom>
          <a:noFill/>
          <a:ln/>
        </p:spPr>
        <p:txBody>
          <a:bodyPr wrap="square" lIns="0" tIns="0" rIns="0" bIns="0" rtlCol="0" anchor="ctr"/>
          <a:lstStyle/>
          <a:p>
            <a:pPr indent="0" marL="0">
              <a:buNone/>
            </a:pPr>
            <a:r>
              <a:rPr lang="en-US" sz="1050" b="1" spc="120" kern="0" dirty="0">
                <a:solidFill>
                  <a:srgbClr val="006FCF"/>
                </a:solidFill>
                <a:latin typeface="Calibri" pitchFamily="34" charset="0"/>
                <a:ea typeface="Calibri" pitchFamily="34" charset="-122"/>
                <a:cs typeface="Calibri" pitchFamily="34" charset="-120"/>
              </a:rPr>
              <a:t>03</a:t>
            </a:r>
            <a:endParaRPr lang="en-US" sz="1050" dirty="0"/>
          </a:p>
        </p:txBody>
      </p:sp>
      <p:sp>
        <p:nvSpPr>
          <p:cNvPr id="16" name="Text 14"/>
          <p:cNvSpPr txBox="1"/>
          <p:nvPr/>
        </p:nvSpPr>
        <p:spPr>
          <a:xfrm>
            <a:off x="8412480" y="2505456"/>
            <a:ext cx="3017520" cy="292608"/>
          </a:xfrm>
          <a:prstGeom prst="rect">
            <a:avLst/>
          </a:prstGeom>
          <a:noFill/>
          <a:ln/>
        </p:spPr>
        <p:txBody>
          <a:bodyPr wrap="square" lIns="0" tIns="0" rIns="0" bIns="0" rtlCol="0" anchor="ctr"/>
          <a:lstStyle/>
          <a:p>
            <a:pPr indent="0" marL="0">
              <a:buNone/>
            </a:pPr>
            <a:r>
              <a:rPr lang="en-US" sz="1450" b="1" dirty="0">
                <a:solidFill>
                  <a:srgbClr val="1B2A44"/>
                </a:solidFill>
                <a:latin typeface="Cambria" pitchFamily="34" charset="0"/>
                <a:ea typeface="Cambria" pitchFamily="34" charset="-122"/>
                <a:cs typeface="Cambria" pitchFamily="34" charset="-120"/>
              </a:rPr>
              <a:t>Why PRISM finds more</a:t>
            </a:r>
            <a:endParaRPr lang="en-US" sz="1450" dirty="0"/>
          </a:p>
        </p:txBody>
      </p:sp>
      <p:sp>
        <p:nvSpPr>
          <p:cNvPr id="17" name="Text 15"/>
          <p:cNvSpPr txBox="1"/>
          <p:nvPr/>
        </p:nvSpPr>
        <p:spPr>
          <a:xfrm>
            <a:off x="8412480" y="2825496"/>
            <a:ext cx="3017520" cy="438912"/>
          </a:xfrm>
          <a:prstGeom prst="rect">
            <a:avLst/>
          </a:prstGeom>
          <a:noFill/>
          <a:ln/>
        </p:spPr>
        <p:txBody>
          <a:bodyPr wrap="square" lIns="0" tIns="0" rIns="0" bIns="0" rtlCol="0" anchor="ctr"/>
          <a:lstStyle/>
          <a:p>
            <a:pPr indent="0" marL="0">
              <a:lnSpc>
                <a:spcPct val="115000"/>
              </a:lnSpc>
              <a:buNone/>
            </a:pPr>
            <a:r>
              <a:rPr lang="en-US" sz="1050" dirty="0">
                <a:solidFill>
                  <a:srgbClr val="53565A"/>
                </a:solidFill>
                <a:latin typeface="Calibri" pitchFamily="34" charset="0"/>
                <a:ea typeface="Calibri" pitchFamily="34" charset="-122"/>
                <a:cs typeface="Calibri" pitchFamily="34" charset="-120"/>
              </a:rPr>
              <a:t>Complementary discovery, and the early internal proof point behind it</a:t>
            </a:r>
            <a:endParaRPr lang="en-US" sz="1050" dirty="0"/>
          </a:p>
        </p:txBody>
      </p:sp>
      <p:sp>
        <p:nvSpPr>
          <p:cNvPr id="18" name="Shape 16"/>
          <p:cNvSpPr/>
          <p:nvPr/>
        </p:nvSpPr>
        <p:spPr>
          <a:xfrm>
            <a:off x="457200" y="3520440"/>
            <a:ext cx="3566160" cy="1234440"/>
          </a:xfrm>
          <a:prstGeom prst="roundRect">
            <a:avLst>
              <a:gd name="adj" fmla="val 5926"/>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19" name="Text 17"/>
          <p:cNvSpPr txBox="1"/>
          <p:nvPr/>
        </p:nvSpPr>
        <p:spPr>
          <a:xfrm>
            <a:off x="731520" y="3666744"/>
            <a:ext cx="640080" cy="237744"/>
          </a:xfrm>
          <a:prstGeom prst="rect">
            <a:avLst/>
          </a:prstGeom>
          <a:noFill/>
          <a:ln/>
        </p:spPr>
        <p:txBody>
          <a:bodyPr wrap="square" lIns="0" tIns="0" rIns="0" bIns="0" rtlCol="0" anchor="ctr"/>
          <a:lstStyle/>
          <a:p>
            <a:pPr indent="0" marL="0">
              <a:buNone/>
            </a:pPr>
            <a:r>
              <a:rPr lang="en-US" sz="1050" b="1" spc="120" kern="0" dirty="0">
                <a:solidFill>
                  <a:srgbClr val="006FCF"/>
                </a:solidFill>
                <a:latin typeface="Calibri" pitchFamily="34" charset="0"/>
                <a:ea typeface="Calibri" pitchFamily="34" charset="-122"/>
                <a:cs typeface="Calibri" pitchFamily="34" charset="-120"/>
              </a:rPr>
              <a:t>04</a:t>
            </a:r>
            <a:endParaRPr lang="en-US" sz="1050" dirty="0"/>
          </a:p>
        </p:txBody>
      </p:sp>
      <p:sp>
        <p:nvSpPr>
          <p:cNvPr id="20" name="Text 18"/>
          <p:cNvSpPr txBox="1"/>
          <p:nvPr/>
        </p:nvSpPr>
        <p:spPr>
          <a:xfrm>
            <a:off x="731520" y="3922776"/>
            <a:ext cx="3017520" cy="292608"/>
          </a:xfrm>
          <a:prstGeom prst="rect">
            <a:avLst/>
          </a:prstGeom>
          <a:noFill/>
          <a:ln/>
        </p:spPr>
        <p:txBody>
          <a:bodyPr wrap="square" lIns="0" tIns="0" rIns="0" bIns="0" rtlCol="0" anchor="ctr"/>
          <a:lstStyle/>
          <a:p>
            <a:pPr indent="0" marL="0">
              <a:buNone/>
            </a:pPr>
            <a:r>
              <a:rPr lang="en-US" sz="1450" b="1" dirty="0">
                <a:solidFill>
                  <a:srgbClr val="1B2A44"/>
                </a:solidFill>
                <a:latin typeface="Cambria" pitchFamily="34" charset="0"/>
                <a:ea typeface="Cambria" pitchFamily="34" charset="-122"/>
                <a:cs typeface="Cambria" pitchFamily="34" charset="-120"/>
              </a:rPr>
              <a:t>Cleaner results</a:t>
            </a:r>
            <a:endParaRPr lang="en-US" sz="1450" dirty="0"/>
          </a:p>
        </p:txBody>
      </p:sp>
      <p:sp>
        <p:nvSpPr>
          <p:cNvPr id="21" name="Text 19"/>
          <p:cNvSpPr txBox="1"/>
          <p:nvPr/>
        </p:nvSpPr>
        <p:spPr>
          <a:xfrm>
            <a:off x="731520" y="4242816"/>
            <a:ext cx="3017520" cy="438912"/>
          </a:xfrm>
          <a:prstGeom prst="rect">
            <a:avLst/>
          </a:prstGeom>
          <a:noFill/>
          <a:ln/>
        </p:spPr>
        <p:txBody>
          <a:bodyPr wrap="square" lIns="0" tIns="0" rIns="0" bIns="0" rtlCol="0" anchor="ctr"/>
          <a:lstStyle/>
          <a:p>
            <a:pPr indent="0" marL="0">
              <a:lnSpc>
                <a:spcPct val="115000"/>
              </a:lnSpc>
              <a:buNone/>
            </a:pPr>
            <a:r>
              <a:rPr lang="en-US" sz="1050" dirty="0">
                <a:solidFill>
                  <a:srgbClr val="53565A"/>
                </a:solidFill>
                <a:latin typeface="Calibri" pitchFamily="34" charset="0"/>
                <a:ea typeface="Calibri" pitchFamily="34" charset="-122"/>
                <a:cs typeface="Calibri" pitchFamily="34" charset="-120"/>
              </a:rPr>
              <a:t>The evidence layer that sits between discovery and delivery</a:t>
            </a:r>
            <a:endParaRPr lang="en-US" sz="1050" dirty="0"/>
          </a:p>
        </p:txBody>
      </p:sp>
      <p:sp>
        <p:nvSpPr>
          <p:cNvPr id="22" name="Shape 20"/>
          <p:cNvSpPr/>
          <p:nvPr/>
        </p:nvSpPr>
        <p:spPr>
          <a:xfrm>
            <a:off x="4297680" y="3520440"/>
            <a:ext cx="3566160" cy="1234440"/>
          </a:xfrm>
          <a:prstGeom prst="roundRect">
            <a:avLst>
              <a:gd name="adj" fmla="val 5926"/>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23" name="Text 21"/>
          <p:cNvSpPr txBox="1"/>
          <p:nvPr/>
        </p:nvSpPr>
        <p:spPr>
          <a:xfrm>
            <a:off x="4572000" y="3666744"/>
            <a:ext cx="640080" cy="237744"/>
          </a:xfrm>
          <a:prstGeom prst="rect">
            <a:avLst/>
          </a:prstGeom>
          <a:noFill/>
          <a:ln/>
        </p:spPr>
        <p:txBody>
          <a:bodyPr wrap="square" lIns="0" tIns="0" rIns="0" bIns="0" rtlCol="0" anchor="ctr"/>
          <a:lstStyle/>
          <a:p>
            <a:pPr indent="0" marL="0">
              <a:buNone/>
            </a:pPr>
            <a:r>
              <a:rPr lang="en-US" sz="1050" b="1" spc="120" kern="0" dirty="0">
                <a:solidFill>
                  <a:srgbClr val="006FCF"/>
                </a:solidFill>
                <a:latin typeface="Calibri" pitchFamily="34" charset="0"/>
                <a:ea typeface="Calibri" pitchFamily="34" charset="-122"/>
                <a:cs typeface="Calibri" pitchFamily="34" charset="-120"/>
              </a:rPr>
              <a:t>05</a:t>
            </a:r>
            <a:endParaRPr lang="en-US" sz="1050" dirty="0"/>
          </a:p>
        </p:txBody>
      </p:sp>
      <p:sp>
        <p:nvSpPr>
          <p:cNvPr id="24" name="Text 22"/>
          <p:cNvSpPr txBox="1"/>
          <p:nvPr/>
        </p:nvSpPr>
        <p:spPr>
          <a:xfrm>
            <a:off x="4572000" y="3922776"/>
            <a:ext cx="3017520" cy="292608"/>
          </a:xfrm>
          <a:prstGeom prst="rect">
            <a:avLst/>
          </a:prstGeom>
          <a:noFill/>
          <a:ln/>
        </p:spPr>
        <p:txBody>
          <a:bodyPr wrap="square" lIns="0" tIns="0" rIns="0" bIns="0" rtlCol="0" anchor="ctr"/>
          <a:lstStyle/>
          <a:p>
            <a:pPr indent="0" marL="0">
              <a:buNone/>
            </a:pPr>
            <a:r>
              <a:rPr lang="en-US" sz="1450" b="1" dirty="0">
                <a:solidFill>
                  <a:srgbClr val="1B2A44"/>
                </a:solidFill>
                <a:latin typeface="Cambria" pitchFamily="34" charset="0"/>
                <a:ea typeface="Cambria" pitchFamily="34" charset="-122"/>
                <a:cs typeface="Cambria" pitchFamily="34" charset="-120"/>
              </a:rPr>
              <a:t>Why it can cost less</a:t>
            </a:r>
            <a:endParaRPr lang="en-US" sz="1450" dirty="0"/>
          </a:p>
        </p:txBody>
      </p:sp>
      <p:sp>
        <p:nvSpPr>
          <p:cNvPr id="25" name="Text 23"/>
          <p:cNvSpPr txBox="1"/>
          <p:nvPr/>
        </p:nvSpPr>
        <p:spPr>
          <a:xfrm>
            <a:off x="4572000" y="4242816"/>
            <a:ext cx="3017520" cy="438912"/>
          </a:xfrm>
          <a:prstGeom prst="rect">
            <a:avLst/>
          </a:prstGeom>
          <a:noFill/>
          <a:ln/>
        </p:spPr>
        <p:txBody>
          <a:bodyPr wrap="square" lIns="0" tIns="0" rIns="0" bIns="0" rtlCol="0" anchor="ctr"/>
          <a:lstStyle/>
          <a:p>
            <a:pPr indent="0" marL="0">
              <a:lnSpc>
                <a:spcPct val="115000"/>
              </a:lnSpc>
              <a:buNone/>
            </a:pPr>
            <a:r>
              <a:rPr lang="en-US" sz="1050" dirty="0">
                <a:solidFill>
                  <a:srgbClr val="53565A"/>
                </a:solidFill>
                <a:latin typeface="Calibri" pitchFamily="34" charset="0"/>
                <a:ea typeface="Calibri" pitchFamily="34" charset="-122"/>
                <a:cs typeface="Calibri" pitchFamily="34" charset="-120"/>
              </a:rPr>
              <a:t>Progressive investment, and the cost measure that actually matters</a:t>
            </a:r>
            <a:endParaRPr lang="en-US" sz="1050" dirty="0"/>
          </a:p>
        </p:txBody>
      </p:sp>
      <p:sp>
        <p:nvSpPr>
          <p:cNvPr id="26" name="Shape 24"/>
          <p:cNvSpPr/>
          <p:nvPr/>
        </p:nvSpPr>
        <p:spPr>
          <a:xfrm>
            <a:off x="8138160" y="3520440"/>
            <a:ext cx="3566160" cy="1234440"/>
          </a:xfrm>
          <a:prstGeom prst="roundRect">
            <a:avLst>
              <a:gd name="adj" fmla="val 5926"/>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27" name="Text 25"/>
          <p:cNvSpPr txBox="1"/>
          <p:nvPr/>
        </p:nvSpPr>
        <p:spPr>
          <a:xfrm>
            <a:off x="8412480" y="3666744"/>
            <a:ext cx="640080" cy="237744"/>
          </a:xfrm>
          <a:prstGeom prst="rect">
            <a:avLst/>
          </a:prstGeom>
          <a:noFill/>
          <a:ln/>
        </p:spPr>
        <p:txBody>
          <a:bodyPr wrap="square" lIns="0" tIns="0" rIns="0" bIns="0" rtlCol="0" anchor="ctr"/>
          <a:lstStyle/>
          <a:p>
            <a:pPr indent="0" marL="0">
              <a:buNone/>
            </a:pPr>
            <a:r>
              <a:rPr lang="en-US" sz="1050" b="1" spc="120" kern="0" dirty="0">
                <a:solidFill>
                  <a:srgbClr val="006FCF"/>
                </a:solidFill>
                <a:latin typeface="Calibri" pitchFamily="34" charset="0"/>
                <a:ea typeface="Calibri" pitchFamily="34" charset="-122"/>
                <a:cs typeface="Calibri" pitchFamily="34" charset="-120"/>
              </a:rPr>
              <a:t>06</a:t>
            </a:r>
            <a:endParaRPr lang="en-US" sz="1050" dirty="0"/>
          </a:p>
        </p:txBody>
      </p:sp>
      <p:sp>
        <p:nvSpPr>
          <p:cNvPr id="28" name="Text 26"/>
          <p:cNvSpPr txBox="1"/>
          <p:nvPr/>
        </p:nvSpPr>
        <p:spPr>
          <a:xfrm>
            <a:off x="8412480" y="3922776"/>
            <a:ext cx="3017520" cy="292608"/>
          </a:xfrm>
          <a:prstGeom prst="rect">
            <a:avLst/>
          </a:prstGeom>
          <a:noFill/>
          <a:ln/>
        </p:spPr>
        <p:txBody>
          <a:bodyPr wrap="square" lIns="0" tIns="0" rIns="0" bIns="0" rtlCol="0" anchor="ctr"/>
          <a:lstStyle/>
          <a:p>
            <a:pPr indent="0" marL="0">
              <a:buNone/>
            </a:pPr>
            <a:r>
              <a:rPr lang="en-US" sz="1450" b="1" dirty="0">
                <a:solidFill>
                  <a:srgbClr val="1B2A44"/>
                </a:solidFill>
                <a:latin typeface="Cambria" pitchFamily="34" charset="0"/>
                <a:ea typeface="Cambria" pitchFamily="34" charset="-122"/>
                <a:cs typeface="Cambria" pitchFamily="34" charset="-120"/>
              </a:rPr>
              <a:t>Model agnostic by design</a:t>
            </a:r>
            <a:endParaRPr lang="en-US" sz="1450" dirty="0"/>
          </a:p>
        </p:txBody>
      </p:sp>
      <p:sp>
        <p:nvSpPr>
          <p:cNvPr id="29" name="Text 27"/>
          <p:cNvSpPr txBox="1"/>
          <p:nvPr/>
        </p:nvSpPr>
        <p:spPr>
          <a:xfrm>
            <a:off x="8412480" y="4242816"/>
            <a:ext cx="3017520" cy="438912"/>
          </a:xfrm>
          <a:prstGeom prst="rect">
            <a:avLst/>
          </a:prstGeom>
          <a:noFill/>
          <a:ln/>
        </p:spPr>
        <p:txBody>
          <a:bodyPr wrap="square" lIns="0" tIns="0" rIns="0" bIns="0" rtlCol="0" anchor="ctr"/>
          <a:lstStyle/>
          <a:p>
            <a:pPr indent="0" marL="0">
              <a:lnSpc>
                <a:spcPct val="115000"/>
              </a:lnSpc>
              <a:buNone/>
            </a:pPr>
            <a:r>
              <a:rPr lang="en-US" sz="1050" dirty="0">
                <a:solidFill>
                  <a:srgbClr val="53565A"/>
                </a:solidFill>
                <a:latin typeface="Calibri" pitchFamily="34" charset="0"/>
                <a:ea typeface="Calibri" pitchFamily="34" charset="-122"/>
                <a:cs typeface="Calibri" pitchFamily="34" charset="-120"/>
              </a:rPr>
              <a:t>Why the security workflow is the asset, not the model underneath it</a:t>
            </a:r>
            <a:endParaRPr lang="en-US" sz="1050" dirty="0"/>
          </a:p>
        </p:txBody>
      </p:sp>
      <p:sp>
        <p:nvSpPr>
          <p:cNvPr id="30" name="Shape 28"/>
          <p:cNvSpPr/>
          <p:nvPr/>
        </p:nvSpPr>
        <p:spPr>
          <a:xfrm>
            <a:off x="457200" y="4937760"/>
            <a:ext cx="3566160" cy="1234440"/>
          </a:xfrm>
          <a:prstGeom prst="roundRect">
            <a:avLst>
              <a:gd name="adj" fmla="val 5926"/>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31" name="Text 29"/>
          <p:cNvSpPr txBox="1"/>
          <p:nvPr/>
        </p:nvSpPr>
        <p:spPr>
          <a:xfrm>
            <a:off x="731520" y="5084064"/>
            <a:ext cx="640080" cy="237744"/>
          </a:xfrm>
          <a:prstGeom prst="rect">
            <a:avLst/>
          </a:prstGeom>
          <a:noFill/>
          <a:ln/>
        </p:spPr>
        <p:txBody>
          <a:bodyPr wrap="square" lIns="0" tIns="0" rIns="0" bIns="0" rtlCol="0" anchor="ctr"/>
          <a:lstStyle/>
          <a:p>
            <a:pPr indent="0" marL="0">
              <a:buNone/>
            </a:pPr>
            <a:r>
              <a:rPr lang="en-US" sz="1050" b="1" spc="120" kern="0" dirty="0">
                <a:solidFill>
                  <a:srgbClr val="006FCF"/>
                </a:solidFill>
                <a:latin typeface="Calibri" pitchFamily="34" charset="0"/>
                <a:ea typeface="Calibri" pitchFamily="34" charset="-122"/>
                <a:cs typeface="Calibri" pitchFamily="34" charset="-120"/>
              </a:rPr>
              <a:t>07</a:t>
            </a:r>
            <a:endParaRPr lang="en-US" sz="1050" dirty="0"/>
          </a:p>
        </p:txBody>
      </p:sp>
      <p:sp>
        <p:nvSpPr>
          <p:cNvPr id="32" name="Text 30"/>
          <p:cNvSpPr txBox="1"/>
          <p:nvPr/>
        </p:nvSpPr>
        <p:spPr>
          <a:xfrm>
            <a:off x="731520" y="5340096"/>
            <a:ext cx="3017520" cy="292608"/>
          </a:xfrm>
          <a:prstGeom prst="rect">
            <a:avLst/>
          </a:prstGeom>
          <a:noFill/>
          <a:ln/>
        </p:spPr>
        <p:txBody>
          <a:bodyPr wrap="square" lIns="0" tIns="0" rIns="0" bIns="0" rtlCol="0" anchor="ctr"/>
          <a:lstStyle/>
          <a:p>
            <a:pPr indent="0" marL="0">
              <a:buNone/>
            </a:pPr>
            <a:r>
              <a:rPr lang="en-US" sz="1450" b="1" dirty="0">
                <a:solidFill>
                  <a:srgbClr val="1B2A44"/>
                </a:solidFill>
                <a:latin typeface="Cambria" pitchFamily="34" charset="0"/>
                <a:ea typeface="Cambria" pitchFamily="34" charset="-122"/>
                <a:cs typeface="Cambria" pitchFamily="34" charset="-120"/>
              </a:rPr>
              <a:t>How PRISM differs</a:t>
            </a:r>
            <a:endParaRPr lang="en-US" sz="1450" dirty="0"/>
          </a:p>
        </p:txBody>
      </p:sp>
      <p:sp>
        <p:nvSpPr>
          <p:cNvPr id="33" name="Text 31"/>
          <p:cNvSpPr txBox="1"/>
          <p:nvPr/>
        </p:nvSpPr>
        <p:spPr>
          <a:xfrm>
            <a:off x="731520" y="5660136"/>
            <a:ext cx="3017520" cy="438912"/>
          </a:xfrm>
          <a:prstGeom prst="rect">
            <a:avLst/>
          </a:prstGeom>
          <a:noFill/>
          <a:ln/>
        </p:spPr>
        <p:txBody>
          <a:bodyPr wrap="square" lIns="0" tIns="0" rIns="0" bIns="0" rtlCol="0" anchor="ctr"/>
          <a:lstStyle/>
          <a:p>
            <a:pPr indent="0" marL="0">
              <a:lnSpc>
                <a:spcPct val="115000"/>
              </a:lnSpc>
              <a:buNone/>
            </a:pPr>
            <a:r>
              <a:rPr lang="en-US" sz="1050" dirty="0">
                <a:solidFill>
                  <a:srgbClr val="53565A"/>
                </a:solidFill>
                <a:latin typeface="Calibri" pitchFamily="34" charset="0"/>
                <a:ea typeface="Calibri" pitchFamily="34" charset="-122"/>
                <a:cs typeface="Calibri" pitchFamily="34" charset="-120"/>
              </a:rPr>
              <a:t>A capability comparison against the common approaches on the market</a:t>
            </a:r>
            <a:endParaRPr lang="en-US" sz="1050" dirty="0"/>
          </a:p>
        </p:txBody>
      </p:sp>
      <p:sp>
        <p:nvSpPr>
          <p:cNvPr id="34" name="Shape 32"/>
          <p:cNvSpPr/>
          <p:nvPr/>
        </p:nvSpPr>
        <p:spPr>
          <a:xfrm>
            <a:off x="4297680" y="4937760"/>
            <a:ext cx="3566160" cy="1234440"/>
          </a:xfrm>
          <a:prstGeom prst="roundRect">
            <a:avLst>
              <a:gd name="adj" fmla="val 5926"/>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35" name="Text 33"/>
          <p:cNvSpPr txBox="1"/>
          <p:nvPr/>
        </p:nvSpPr>
        <p:spPr>
          <a:xfrm>
            <a:off x="4572000" y="5084064"/>
            <a:ext cx="640080" cy="237744"/>
          </a:xfrm>
          <a:prstGeom prst="rect">
            <a:avLst/>
          </a:prstGeom>
          <a:noFill/>
          <a:ln/>
        </p:spPr>
        <p:txBody>
          <a:bodyPr wrap="square" lIns="0" tIns="0" rIns="0" bIns="0" rtlCol="0" anchor="ctr"/>
          <a:lstStyle/>
          <a:p>
            <a:pPr indent="0" marL="0">
              <a:buNone/>
            </a:pPr>
            <a:r>
              <a:rPr lang="en-US" sz="1050" b="1" spc="120" kern="0" dirty="0">
                <a:solidFill>
                  <a:srgbClr val="006FCF"/>
                </a:solidFill>
                <a:latin typeface="Calibri" pitchFamily="34" charset="0"/>
                <a:ea typeface="Calibri" pitchFamily="34" charset="-122"/>
                <a:cs typeface="Calibri" pitchFamily="34" charset="-120"/>
              </a:rPr>
              <a:t>08</a:t>
            </a:r>
            <a:endParaRPr lang="en-US" sz="1050" dirty="0"/>
          </a:p>
        </p:txBody>
      </p:sp>
      <p:sp>
        <p:nvSpPr>
          <p:cNvPr id="36" name="Text 34"/>
          <p:cNvSpPr txBox="1"/>
          <p:nvPr/>
        </p:nvSpPr>
        <p:spPr>
          <a:xfrm>
            <a:off x="4572000" y="5340096"/>
            <a:ext cx="3017520" cy="292608"/>
          </a:xfrm>
          <a:prstGeom prst="rect">
            <a:avLst/>
          </a:prstGeom>
          <a:noFill/>
          <a:ln/>
        </p:spPr>
        <p:txBody>
          <a:bodyPr wrap="square" lIns="0" tIns="0" rIns="0" bIns="0" rtlCol="0" anchor="ctr"/>
          <a:lstStyle/>
          <a:p>
            <a:pPr indent="0" marL="0">
              <a:buNone/>
            </a:pPr>
            <a:r>
              <a:rPr lang="en-US" sz="1450" b="1" dirty="0">
                <a:solidFill>
                  <a:srgbClr val="1B2A44"/>
                </a:solidFill>
                <a:latin typeface="Cambria" pitchFamily="34" charset="0"/>
                <a:ea typeface="Cambria" pitchFamily="34" charset="-122"/>
                <a:cs typeface="Cambria" pitchFamily="34" charset="-120"/>
              </a:rPr>
              <a:t>MVP success criteria</a:t>
            </a:r>
            <a:endParaRPr lang="en-US" sz="1450" dirty="0"/>
          </a:p>
        </p:txBody>
      </p:sp>
      <p:sp>
        <p:nvSpPr>
          <p:cNvPr id="37" name="Text 35"/>
          <p:cNvSpPr txBox="1"/>
          <p:nvPr/>
        </p:nvSpPr>
        <p:spPr>
          <a:xfrm>
            <a:off x="4572000" y="5660136"/>
            <a:ext cx="3017520" cy="438912"/>
          </a:xfrm>
          <a:prstGeom prst="rect">
            <a:avLst/>
          </a:prstGeom>
          <a:noFill/>
          <a:ln/>
        </p:spPr>
        <p:txBody>
          <a:bodyPr wrap="square" lIns="0" tIns="0" rIns="0" bIns="0" rtlCol="0" anchor="ctr"/>
          <a:lstStyle/>
          <a:p>
            <a:pPr indent="0" marL="0">
              <a:lnSpc>
                <a:spcPct val="115000"/>
              </a:lnSpc>
              <a:buNone/>
            </a:pPr>
            <a:r>
              <a:rPr lang="en-US" sz="1050" dirty="0">
                <a:solidFill>
                  <a:srgbClr val="53565A"/>
                </a:solidFill>
                <a:latin typeface="Calibri" pitchFamily="34" charset="0"/>
                <a:ea typeface="Calibri" pitchFamily="34" charset="-122"/>
                <a:cs typeface="Calibri" pitchFamily="34" charset="-120"/>
              </a:rPr>
              <a:t>The five measures that decide whether this works, and what is not yet claimed</a:t>
            </a:r>
            <a:endParaRPr lang="en-US" sz="1050" dirty="0"/>
          </a:p>
        </p:txBody>
      </p:sp>
      <p:sp>
        <p:nvSpPr>
          <p:cNvPr id="38" name="Shape 36"/>
          <p:cNvSpPr/>
          <p:nvPr/>
        </p:nvSpPr>
        <p:spPr>
          <a:xfrm>
            <a:off x="8138160" y="4937760"/>
            <a:ext cx="3566160" cy="1234440"/>
          </a:xfrm>
          <a:prstGeom prst="roundRect">
            <a:avLst>
              <a:gd name="adj" fmla="val 5926"/>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39" name="Text 37"/>
          <p:cNvSpPr txBox="1"/>
          <p:nvPr/>
        </p:nvSpPr>
        <p:spPr>
          <a:xfrm>
            <a:off x="8412480" y="5084064"/>
            <a:ext cx="640080" cy="237744"/>
          </a:xfrm>
          <a:prstGeom prst="rect">
            <a:avLst/>
          </a:prstGeom>
          <a:noFill/>
          <a:ln/>
        </p:spPr>
        <p:txBody>
          <a:bodyPr wrap="square" lIns="0" tIns="0" rIns="0" bIns="0" rtlCol="0" anchor="ctr"/>
          <a:lstStyle/>
          <a:p>
            <a:pPr indent="0" marL="0">
              <a:buNone/>
            </a:pPr>
            <a:r>
              <a:rPr lang="en-US" sz="1050" b="1" spc="120" kern="0" dirty="0">
                <a:solidFill>
                  <a:srgbClr val="006FCF"/>
                </a:solidFill>
                <a:latin typeface="Calibri" pitchFamily="34" charset="0"/>
                <a:ea typeface="Calibri" pitchFamily="34" charset="-122"/>
                <a:cs typeface="Calibri" pitchFamily="34" charset="-120"/>
              </a:rPr>
              <a:t>09</a:t>
            </a:r>
            <a:endParaRPr lang="en-US" sz="1050" dirty="0"/>
          </a:p>
        </p:txBody>
      </p:sp>
      <p:sp>
        <p:nvSpPr>
          <p:cNvPr id="40" name="Text 38"/>
          <p:cNvSpPr txBox="1"/>
          <p:nvPr/>
        </p:nvSpPr>
        <p:spPr>
          <a:xfrm>
            <a:off x="8412480" y="5340096"/>
            <a:ext cx="3017520" cy="292608"/>
          </a:xfrm>
          <a:prstGeom prst="rect">
            <a:avLst/>
          </a:prstGeom>
          <a:noFill/>
          <a:ln/>
        </p:spPr>
        <p:txBody>
          <a:bodyPr wrap="square" lIns="0" tIns="0" rIns="0" bIns="0" rtlCol="0" anchor="ctr"/>
          <a:lstStyle/>
          <a:p>
            <a:pPr indent="0" marL="0">
              <a:buNone/>
            </a:pPr>
            <a:r>
              <a:rPr lang="en-US" sz="1450" b="1" dirty="0">
                <a:solidFill>
                  <a:srgbClr val="1B2A44"/>
                </a:solidFill>
                <a:latin typeface="Cambria" pitchFamily="34" charset="0"/>
                <a:ea typeface="Cambria" pitchFamily="34" charset="-122"/>
                <a:cs typeface="Cambria" pitchFamily="34" charset="-120"/>
              </a:rPr>
              <a:t>Where this goes</a:t>
            </a:r>
            <a:endParaRPr lang="en-US" sz="1450" dirty="0"/>
          </a:p>
        </p:txBody>
      </p:sp>
      <p:sp>
        <p:nvSpPr>
          <p:cNvPr id="41" name="Text 39"/>
          <p:cNvSpPr txBox="1"/>
          <p:nvPr/>
        </p:nvSpPr>
        <p:spPr>
          <a:xfrm>
            <a:off x="8412480" y="5660136"/>
            <a:ext cx="3017520" cy="438912"/>
          </a:xfrm>
          <a:prstGeom prst="rect">
            <a:avLst/>
          </a:prstGeom>
          <a:noFill/>
          <a:ln/>
        </p:spPr>
        <p:txBody>
          <a:bodyPr wrap="square" lIns="0" tIns="0" rIns="0" bIns="0" rtlCol="0" anchor="ctr"/>
          <a:lstStyle/>
          <a:p>
            <a:pPr indent="0" marL="0">
              <a:lnSpc>
                <a:spcPct val="115000"/>
              </a:lnSpc>
              <a:buNone/>
            </a:pPr>
            <a:r>
              <a:rPr lang="en-US" sz="1050" dirty="0">
                <a:solidFill>
                  <a:srgbClr val="53565A"/>
                </a:solidFill>
                <a:latin typeface="Calibri" pitchFamily="34" charset="0"/>
                <a:ea typeface="Calibri" pitchFamily="34" charset="-122"/>
                <a:cs typeface="Calibri" pitchFamily="34" charset="-120"/>
              </a:rPr>
              <a:t>Today, next and future for evidence first security research</a:t>
            </a:r>
            <a:endParaRPr lang="en-US" sz="1050" dirty="0"/>
          </a:p>
        </p:txBody>
      </p:sp>
      <p:sp>
        <p:nvSpPr>
          <p:cNvPr id="42" name="Text 40"/>
          <p:cNvSpPr txBox="1"/>
          <p:nvPr/>
        </p:nvSpPr>
        <p:spPr>
          <a:xfrm>
            <a:off x="457200" y="6355080"/>
            <a:ext cx="11247120" cy="365760"/>
          </a:xfrm>
          <a:prstGeom prst="rect">
            <a:avLst/>
          </a:prstGeom>
          <a:noFill/>
          <a:ln/>
        </p:spPr>
        <p:txBody>
          <a:bodyPr wrap="square" lIns="0" tIns="0" rIns="0" bIns="0" rtlCol="0" anchor="ctr"/>
          <a:lstStyle/>
          <a:p>
            <a:pPr indent="0" marL="0">
              <a:buNone/>
            </a:pPr>
            <a:r>
              <a:rPr lang="en-US" sz="1150" i="1" dirty="0">
                <a:solidFill>
                  <a:srgbClr val="53565A"/>
                </a:solidFill>
                <a:latin typeface="Calibri" pitchFamily="34" charset="0"/>
                <a:ea typeface="Calibri" pitchFamily="34" charset="-122"/>
                <a:cs typeface="Calibri" pitchFamily="34" charset="-120"/>
              </a:rPr>
              <a:t>Takeaway to leave with: why this architecture could find more, send fewer weak findings, cost less per validated vulnerability, and stay useful as models improve. An appendix of field evidence follows the main deck.</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p:bgPr>
    </p:bg>
    <p:spTree>
      <p:nvGrpSpPr>
        <p:cNvPr id="1" name=""/>
        <p:cNvGrpSpPr/>
        <p:nvPr/>
      </p:nvGrpSpPr>
      <p:grpSpPr>
        <a:xfrm>
          <a:off x="0" y="0"/>
          <a:ext cx="0" cy="0"/>
          <a:chOff x="0" y="0"/>
          <a:chExt cx="0" cy="0"/>
        </a:xfrm>
      </p:grpSpPr>
      <p:sp>
        <p:nvSpPr>
          <p:cNvPr id="2" name="Shape 0"/>
          <p:cNvSpPr/>
          <p:nvPr/>
        </p:nvSpPr>
        <p:spPr>
          <a:xfrm rot="5400000">
            <a:off x="566928" y="475488"/>
            <a:ext cx="128016" cy="146304"/>
          </a:xfrm>
          <a:prstGeom prst="triangle">
            <a:avLst/>
          </a:prstGeom>
          <a:solidFill>
            <a:srgbClr val="006FCF"/>
          </a:solidFill>
          <a:ln/>
        </p:spPr>
      </p:sp>
      <p:sp>
        <p:nvSpPr>
          <p:cNvPr id="3" name="Text 1"/>
          <p:cNvSpPr txBox="1"/>
          <p:nvPr/>
        </p:nvSpPr>
        <p:spPr>
          <a:xfrm>
            <a:off x="777240" y="402336"/>
            <a:ext cx="7315200" cy="292608"/>
          </a:xfrm>
          <a:prstGeom prst="rect">
            <a:avLst/>
          </a:prstGeom>
          <a:noFill/>
          <a:ln/>
        </p:spPr>
        <p:txBody>
          <a:bodyPr wrap="square" lIns="0" tIns="0" rIns="0" bIns="0" rtlCol="0" anchor="ctr"/>
          <a:lstStyle/>
          <a:p>
            <a:pPr indent="0" marL="0">
              <a:buNone/>
            </a:pPr>
            <a:r>
              <a:rPr lang="en-US" sz="1150" b="1" spc="160" kern="0" dirty="0">
                <a:solidFill>
                  <a:srgbClr val="006FCF"/>
                </a:solidFill>
                <a:latin typeface="Calibri" pitchFamily="34" charset="0"/>
                <a:ea typeface="Calibri" pitchFamily="34" charset="-122"/>
                <a:cs typeface="Calibri" pitchFamily="34" charset="-120"/>
              </a:rPr>
              <a:t>01  THE PROBLEM</a:t>
            </a:r>
            <a:endParaRPr lang="en-US" sz="1150" dirty="0"/>
          </a:p>
        </p:txBody>
      </p:sp>
      <p:sp>
        <p:nvSpPr>
          <p:cNvPr id="4" name="Text 2"/>
          <p:cNvSpPr txBox="1"/>
          <p:nvPr/>
        </p:nvSpPr>
        <p:spPr>
          <a:xfrm>
            <a:off x="548640" y="731520"/>
            <a:ext cx="11155680" cy="566928"/>
          </a:xfrm>
          <a:prstGeom prst="rect">
            <a:avLst/>
          </a:prstGeom>
          <a:noFill/>
          <a:ln/>
        </p:spPr>
        <p:txBody>
          <a:bodyPr wrap="square" lIns="0" tIns="0" rIns="0" bIns="0" rtlCol="0" anchor="t"/>
          <a:lstStyle/>
          <a:p>
            <a:pPr indent="0" marL="0">
              <a:buNone/>
            </a:pPr>
            <a:r>
              <a:rPr lang="en-US" sz="3100" b="1" dirty="0">
                <a:solidFill>
                  <a:srgbClr val="1B2A44"/>
                </a:solidFill>
                <a:latin typeface="Cambria" pitchFamily="34" charset="0"/>
                <a:ea typeface="Cambria" pitchFamily="34" charset="-122"/>
                <a:cs typeface="Cambria" pitchFamily="34" charset="-120"/>
              </a:rPr>
              <a:t>Today's tools force a trade-off</a:t>
            </a:r>
            <a:endParaRPr lang="en-US" sz="3100" dirty="0"/>
          </a:p>
        </p:txBody>
      </p:sp>
      <p:sp>
        <p:nvSpPr>
          <p:cNvPr id="5" name="Text 3"/>
          <p:cNvSpPr txBox="1"/>
          <p:nvPr/>
        </p:nvSpPr>
        <p:spPr>
          <a:xfrm>
            <a:off x="548640" y="1298448"/>
            <a:ext cx="10607040" cy="310896"/>
          </a:xfrm>
          <a:prstGeom prst="rect">
            <a:avLst/>
          </a:prstGeom>
          <a:noFill/>
          <a:ln/>
        </p:spPr>
        <p:txBody>
          <a:bodyPr wrap="square" lIns="0" tIns="0" rIns="0" bIns="0" rtlCol="0" anchor="ctr"/>
          <a:lstStyle/>
          <a:p>
            <a:pPr indent="0" marL="0">
              <a:buNone/>
            </a:pPr>
            <a:r>
              <a:rPr lang="en-US" sz="1400" dirty="0">
                <a:solidFill>
                  <a:srgbClr val="53565A"/>
                </a:solidFill>
                <a:latin typeface="Calibri" pitchFamily="34" charset="0"/>
                <a:ea typeface="Calibri" pitchFamily="34" charset="-122"/>
                <a:cs typeface="Calibri" pitchFamily="34" charset="-120"/>
              </a:rPr>
              <a:t>Scale and depth currently come from two different kinds of tool, and neither one settles whether a finding is real.</a:t>
            </a:r>
            <a:endParaRPr lang="en-US" sz="1400" dirty="0"/>
          </a:p>
        </p:txBody>
      </p:sp>
      <p:sp>
        <p:nvSpPr>
          <p:cNvPr id="6" name="Shape 4"/>
          <p:cNvSpPr/>
          <p:nvPr/>
        </p:nvSpPr>
        <p:spPr>
          <a:xfrm>
            <a:off x="548640" y="1783080"/>
            <a:ext cx="5376672" cy="3246120"/>
          </a:xfrm>
          <a:prstGeom prst="roundRect">
            <a:avLst>
              <a:gd name="adj" fmla="val 2254"/>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7" name="Text 5"/>
          <p:cNvSpPr txBox="1"/>
          <p:nvPr/>
        </p:nvSpPr>
        <p:spPr>
          <a:xfrm>
            <a:off x="932688" y="2029968"/>
            <a:ext cx="4206240" cy="256032"/>
          </a:xfrm>
          <a:prstGeom prst="rect">
            <a:avLst/>
          </a:prstGeom>
          <a:noFill/>
          <a:ln/>
        </p:spPr>
        <p:txBody>
          <a:bodyPr wrap="square" lIns="0" tIns="0" rIns="0" bIns="0" rtlCol="0" anchor="ctr"/>
          <a:lstStyle/>
          <a:p>
            <a:pPr indent="0" marL="0">
              <a:buNone/>
            </a:pPr>
            <a:r>
              <a:rPr lang="en-US" sz="1050" b="1" spc="140" kern="0" dirty="0">
                <a:solidFill>
                  <a:srgbClr val="006FCF"/>
                </a:solidFill>
                <a:latin typeface="Calibri" pitchFamily="34" charset="0"/>
                <a:ea typeface="Calibri" pitchFamily="34" charset="-122"/>
                <a:cs typeface="Calibri" pitchFamily="34" charset="-120"/>
              </a:rPr>
              <a:t>HIGH SCALE</a:t>
            </a:r>
            <a:endParaRPr lang="en-US" sz="1050" dirty="0"/>
          </a:p>
        </p:txBody>
      </p:sp>
      <p:sp>
        <p:nvSpPr>
          <p:cNvPr id="8" name="Text 6"/>
          <p:cNvSpPr txBox="1"/>
          <p:nvPr/>
        </p:nvSpPr>
        <p:spPr>
          <a:xfrm>
            <a:off x="932688" y="2286000"/>
            <a:ext cx="4572000" cy="384048"/>
          </a:xfrm>
          <a:prstGeom prst="rect">
            <a:avLst/>
          </a:prstGeom>
          <a:noFill/>
          <a:ln/>
        </p:spPr>
        <p:txBody>
          <a:bodyPr wrap="square" lIns="0" tIns="0" rIns="0" bIns="0" rtlCol="0" anchor="ctr"/>
          <a:lstStyle/>
          <a:p>
            <a:pPr indent="0" marL="0">
              <a:buNone/>
            </a:pPr>
            <a:r>
              <a:rPr lang="en-US" sz="2100" b="1" dirty="0">
                <a:solidFill>
                  <a:srgbClr val="1B2A44"/>
                </a:solidFill>
                <a:latin typeface="Cambria" pitchFamily="34" charset="0"/>
                <a:ea typeface="Cambria" pitchFamily="34" charset="-122"/>
                <a:cs typeface="Cambria" pitchFamily="34" charset="-120"/>
              </a:rPr>
              <a:t>Traditional scanners</a:t>
            </a:r>
            <a:endParaRPr lang="en-US" sz="2100" dirty="0"/>
          </a:p>
        </p:txBody>
      </p:sp>
      <p:sp>
        <p:nvSpPr>
          <p:cNvPr id="9" name="Shape 7"/>
          <p:cNvSpPr/>
          <p:nvPr/>
        </p:nvSpPr>
        <p:spPr>
          <a:xfrm rot="5400000">
            <a:off x="932688" y="2907792"/>
            <a:ext cx="118872" cy="137160"/>
          </a:xfrm>
          <a:prstGeom prst="triangle">
            <a:avLst/>
          </a:prstGeom>
          <a:solidFill>
            <a:srgbClr val="2E7CC8"/>
          </a:solidFill>
          <a:ln/>
        </p:spPr>
      </p:sp>
      <p:sp>
        <p:nvSpPr>
          <p:cNvPr id="10" name="Text 8"/>
          <p:cNvSpPr txBox="1"/>
          <p:nvPr/>
        </p:nvSpPr>
        <p:spPr>
          <a:xfrm>
            <a:off x="1188720" y="2825496"/>
            <a:ext cx="4343400" cy="566928"/>
          </a:xfrm>
          <a:prstGeom prst="rect">
            <a:avLst/>
          </a:prstGeom>
          <a:noFill/>
          <a:ln/>
        </p:spPr>
        <p:txBody>
          <a:bodyPr wrap="square" lIns="0" tIns="0" rIns="0" bIns="0" rtlCol="0" anchor="t"/>
          <a:lstStyle/>
          <a:p>
            <a:pPr indent="0" marL="0">
              <a:lnSpc>
                <a:spcPct val="112000"/>
              </a:lnSpc>
              <a:buNone/>
            </a:pPr>
            <a:r>
              <a:rPr lang="en-US" sz="1200" b="1" dirty="0">
                <a:solidFill>
                  <a:srgbClr val="1B2A44"/>
                </a:solidFill>
                <a:latin typeface="Calibri" pitchFamily="34" charset="0"/>
                <a:ea typeface="Calibri" pitchFamily="34" charset="-122"/>
                <a:cs typeface="Calibri" pitchFamily="34" charset="-120"/>
              </a:rPr>
              <a:t>Fixed detection methodology</a:t>
            </a:r>
            <a:endParaRPr lang="en-US" sz="1200" dirty="0"/>
          </a:p>
          <a:p>
            <a:pPr indent="0" marL="0">
              <a:lnSpc>
                <a:spcPct val="112000"/>
              </a:lnSpc>
              <a:buNone/>
            </a:pPr>
            <a:r>
              <a:rPr lang="en-US" sz="1200" dirty="0">
                <a:solidFill>
                  <a:srgbClr val="53565A"/>
                </a:solidFill>
                <a:latin typeface="Calibri" pitchFamily="34" charset="0"/>
                <a:ea typeface="Calibri" pitchFamily="34" charset="-122"/>
                <a:cs typeface="Calibri" pitchFamily="34" charset="-120"/>
              </a:rPr>
              <a:t>One strategy, applied the same way to every repository</a:t>
            </a:r>
            <a:endParaRPr lang="en-US" sz="1200" dirty="0"/>
          </a:p>
        </p:txBody>
      </p:sp>
      <p:sp>
        <p:nvSpPr>
          <p:cNvPr id="11" name="Shape 9"/>
          <p:cNvSpPr/>
          <p:nvPr/>
        </p:nvSpPr>
        <p:spPr>
          <a:xfrm rot="5400000">
            <a:off x="932688" y="3621024"/>
            <a:ext cx="118872" cy="137160"/>
          </a:xfrm>
          <a:prstGeom prst="triangle">
            <a:avLst/>
          </a:prstGeom>
          <a:solidFill>
            <a:srgbClr val="2E7CC8"/>
          </a:solidFill>
          <a:ln/>
        </p:spPr>
      </p:sp>
      <p:sp>
        <p:nvSpPr>
          <p:cNvPr id="12" name="Text 10"/>
          <p:cNvSpPr txBox="1"/>
          <p:nvPr/>
        </p:nvSpPr>
        <p:spPr>
          <a:xfrm>
            <a:off x="1188720" y="3538728"/>
            <a:ext cx="4343400" cy="566928"/>
          </a:xfrm>
          <a:prstGeom prst="rect">
            <a:avLst/>
          </a:prstGeom>
          <a:noFill/>
          <a:ln/>
        </p:spPr>
        <p:txBody>
          <a:bodyPr wrap="square" lIns="0" tIns="0" rIns="0" bIns="0" rtlCol="0" anchor="t"/>
          <a:lstStyle/>
          <a:p>
            <a:pPr indent="0" marL="0">
              <a:lnSpc>
                <a:spcPct val="112000"/>
              </a:lnSpc>
              <a:buNone/>
            </a:pPr>
            <a:r>
              <a:rPr lang="en-US" sz="1200" b="1" dirty="0">
                <a:solidFill>
                  <a:srgbClr val="1B2A44"/>
                </a:solidFill>
                <a:latin typeface="Calibri" pitchFamily="34" charset="0"/>
                <a:ea typeface="Calibri" pitchFamily="34" charset="-122"/>
                <a:cs typeface="Calibri" pitchFamily="34" charset="-120"/>
              </a:rPr>
              <a:t>Limited semantic depth</a:t>
            </a:r>
            <a:endParaRPr lang="en-US" sz="1200" dirty="0"/>
          </a:p>
          <a:p>
            <a:pPr indent="0" marL="0">
              <a:lnSpc>
                <a:spcPct val="112000"/>
              </a:lnSpc>
              <a:buNone/>
            </a:pPr>
            <a:r>
              <a:rPr lang="en-US" sz="1200" dirty="0">
                <a:solidFill>
                  <a:srgbClr val="53565A"/>
                </a:solidFill>
                <a:latin typeface="Calibri" pitchFamily="34" charset="0"/>
                <a:ea typeface="Calibri" pitchFamily="34" charset="-122"/>
                <a:cs typeface="Calibri" pitchFamily="34" charset="-120"/>
              </a:rPr>
              <a:t>Patterns rather than an understanding of the application</a:t>
            </a:r>
            <a:endParaRPr lang="en-US" sz="1200" dirty="0"/>
          </a:p>
        </p:txBody>
      </p:sp>
      <p:sp>
        <p:nvSpPr>
          <p:cNvPr id="13" name="Shape 11"/>
          <p:cNvSpPr/>
          <p:nvPr/>
        </p:nvSpPr>
        <p:spPr>
          <a:xfrm rot="5400000">
            <a:off x="932688" y="4334256"/>
            <a:ext cx="118872" cy="137160"/>
          </a:xfrm>
          <a:prstGeom prst="triangle">
            <a:avLst/>
          </a:prstGeom>
          <a:solidFill>
            <a:srgbClr val="2E7CC8"/>
          </a:solidFill>
          <a:ln/>
        </p:spPr>
      </p:sp>
      <p:sp>
        <p:nvSpPr>
          <p:cNvPr id="14" name="Text 12"/>
          <p:cNvSpPr txBox="1"/>
          <p:nvPr/>
        </p:nvSpPr>
        <p:spPr>
          <a:xfrm>
            <a:off x="1188720" y="4251960"/>
            <a:ext cx="4343400" cy="566928"/>
          </a:xfrm>
          <a:prstGeom prst="rect">
            <a:avLst/>
          </a:prstGeom>
          <a:noFill/>
          <a:ln/>
        </p:spPr>
        <p:txBody>
          <a:bodyPr wrap="square" lIns="0" tIns="0" rIns="0" bIns="0" rtlCol="0" anchor="t"/>
          <a:lstStyle/>
          <a:p>
            <a:pPr indent="0" marL="0">
              <a:lnSpc>
                <a:spcPct val="112000"/>
              </a:lnSpc>
              <a:buNone/>
            </a:pPr>
            <a:r>
              <a:rPr lang="en-US" sz="1200" b="1" dirty="0">
                <a:solidFill>
                  <a:srgbClr val="1B2A44"/>
                </a:solidFill>
                <a:latin typeface="Calibri" pitchFamily="34" charset="0"/>
                <a:ea typeface="Calibri" pitchFamily="34" charset="-122"/>
                <a:cs typeface="Calibri" pitchFamily="34" charset="-120"/>
              </a:rPr>
              <a:t>Volume reaches engineering</a:t>
            </a:r>
            <a:endParaRPr lang="en-US" sz="1200" dirty="0"/>
          </a:p>
          <a:p>
            <a:pPr indent="0" marL="0">
              <a:lnSpc>
                <a:spcPct val="112000"/>
              </a:lnSpc>
              <a:buNone/>
            </a:pPr>
            <a:r>
              <a:rPr lang="en-US" sz="1200" dirty="0">
                <a:solidFill>
                  <a:srgbClr val="53565A"/>
                </a:solidFill>
                <a:latin typeface="Calibri" pitchFamily="34" charset="0"/>
                <a:ea typeface="Calibri" pitchFamily="34" charset="-122"/>
                <a:cs typeface="Calibri" pitchFamily="34" charset="-120"/>
              </a:rPr>
              <a:t>Duplicates and unreachable findings consume review time</a:t>
            </a:r>
            <a:endParaRPr lang="en-US" sz="1200" dirty="0"/>
          </a:p>
        </p:txBody>
      </p:sp>
      <p:sp>
        <p:nvSpPr>
          <p:cNvPr id="15" name="Shape 13"/>
          <p:cNvSpPr/>
          <p:nvPr/>
        </p:nvSpPr>
        <p:spPr>
          <a:xfrm>
            <a:off x="6263640" y="1783080"/>
            <a:ext cx="5376672" cy="3246120"/>
          </a:xfrm>
          <a:prstGeom prst="roundRect">
            <a:avLst>
              <a:gd name="adj" fmla="val 2254"/>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16" name="Text 14"/>
          <p:cNvSpPr txBox="1"/>
          <p:nvPr/>
        </p:nvSpPr>
        <p:spPr>
          <a:xfrm>
            <a:off x="6647688" y="2029968"/>
            <a:ext cx="4206240" cy="256032"/>
          </a:xfrm>
          <a:prstGeom prst="rect">
            <a:avLst/>
          </a:prstGeom>
          <a:noFill/>
          <a:ln/>
        </p:spPr>
        <p:txBody>
          <a:bodyPr wrap="square" lIns="0" tIns="0" rIns="0" bIns="0" rtlCol="0" anchor="ctr"/>
          <a:lstStyle/>
          <a:p>
            <a:pPr indent="0" marL="0">
              <a:buNone/>
            </a:pPr>
            <a:r>
              <a:rPr lang="en-US" sz="1050" b="1" spc="140" kern="0" dirty="0">
                <a:solidFill>
                  <a:srgbClr val="006FCF"/>
                </a:solidFill>
                <a:latin typeface="Calibri" pitchFamily="34" charset="0"/>
                <a:ea typeface="Calibri" pitchFamily="34" charset="-122"/>
                <a:cs typeface="Calibri" pitchFamily="34" charset="-120"/>
              </a:rPr>
              <a:t>DEEP REASONING</a:t>
            </a:r>
            <a:endParaRPr lang="en-US" sz="1050" dirty="0"/>
          </a:p>
        </p:txBody>
      </p:sp>
      <p:sp>
        <p:nvSpPr>
          <p:cNvPr id="17" name="Text 15"/>
          <p:cNvSpPr txBox="1"/>
          <p:nvPr/>
        </p:nvSpPr>
        <p:spPr>
          <a:xfrm>
            <a:off x="6647688" y="2286000"/>
            <a:ext cx="4572000" cy="384048"/>
          </a:xfrm>
          <a:prstGeom prst="rect">
            <a:avLst/>
          </a:prstGeom>
          <a:noFill/>
          <a:ln/>
        </p:spPr>
        <p:txBody>
          <a:bodyPr wrap="square" lIns="0" tIns="0" rIns="0" bIns="0" rtlCol="0" anchor="ctr"/>
          <a:lstStyle/>
          <a:p>
            <a:pPr indent="0" marL="0">
              <a:buNone/>
            </a:pPr>
            <a:r>
              <a:rPr lang="en-US" sz="2100" b="1" dirty="0">
                <a:solidFill>
                  <a:srgbClr val="1B2A44"/>
                </a:solidFill>
                <a:latin typeface="Cambria" pitchFamily="34" charset="0"/>
                <a:ea typeface="Cambria" pitchFamily="34" charset="-122"/>
                <a:cs typeface="Cambria" pitchFamily="34" charset="-120"/>
              </a:rPr>
              <a:t>Frontier AI agents</a:t>
            </a:r>
            <a:endParaRPr lang="en-US" sz="2100" dirty="0"/>
          </a:p>
        </p:txBody>
      </p:sp>
      <p:sp>
        <p:nvSpPr>
          <p:cNvPr id="18" name="Shape 16"/>
          <p:cNvSpPr/>
          <p:nvPr/>
        </p:nvSpPr>
        <p:spPr>
          <a:xfrm rot="5400000">
            <a:off x="6647688" y="2907792"/>
            <a:ext cx="118872" cy="137160"/>
          </a:xfrm>
          <a:prstGeom prst="triangle">
            <a:avLst/>
          </a:prstGeom>
          <a:solidFill>
            <a:srgbClr val="2E7CC8"/>
          </a:solidFill>
          <a:ln/>
        </p:spPr>
      </p:sp>
      <p:sp>
        <p:nvSpPr>
          <p:cNvPr id="19" name="Text 17"/>
          <p:cNvSpPr txBox="1"/>
          <p:nvPr/>
        </p:nvSpPr>
        <p:spPr>
          <a:xfrm>
            <a:off x="6903720" y="2825496"/>
            <a:ext cx="4343400" cy="566928"/>
          </a:xfrm>
          <a:prstGeom prst="rect">
            <a:avLst/>
          </a:prstGeom>
          <a:noFill/>
          <a:ln/>
        </p:spPr>
        <p:txBody>
          <a:bodyPr wrap="square" lIns="0" tIns="0" rIns="0" bIns="0" rtlCol="0" anchor="t"/>
          <a:lstStyle/>
          <a:p>
            <a:pPr indent="0" marL="0">
              <a:lnSpc>
                <a:spcPct val="112000"/>
              </a:lnSpc>
              <a:buNone/>
            </a:pPr>
            <a:r>
              <a:rPr lang="en-US" sz="1200" b="1" dirty="0">
                <a:solidFill>
                  <a:srgbClr val="1B2A44"/>
                </a:solidFill>
                <a:latin typeface="Calibri" pitchFamily="34" charset="0"/>
                <a:ea typeface="Calibri" pitchFamily="34" charset="-122"/>
                <a:cs typeface="Calibri" pitchFamily="34" charset="-120"/>
              </a:rPr>
              <a:t>One search trajectory</a:t>
            </a:r>
            <a:endParaRPr lang="en-US" sz="1200" dirty="0"/>
          </a:p>
          <a:p>
            <a:pPr indent="0" marL="0">
              <a:lnSpc>
                <a:spcPct val="112000"/>
              </a:lnSpc>
              <a:buNone/>
            </a:pPr>
            <a:r>
              <a:rPr lang="en-US" sz="1200" dirty="0">
                <a:solidFill>
                  <a:srgbClr val="53565A"/>
                </a:solidFill>
                <a:latin typeface="Calibri" pitchFamily="34" charset="0"/>
                <a:ea typeface="Calibri" pitchFamily="34" charset="-122"/>
                <a:cs typeface="Calibri" pitchFamily="34" charset="-120"/>
              </a:rPr>
              <a:t>A single line of reasoning shapes what gets examined</a:t>
            </a:r>
            <a:endParaRPr lang="en-US" sz="1200" dirty="0"/>
          </a:p>
        </p:txBody>
      </p:sp>
      <p:sp>
        <p:nvSpPr>
          <p:cNvPr id="20" name="Shape 18"/>
          <p:cNvSpPr/>
          <p:nvPr/>
        </p:nvSpPr>
        <p:spPr>
          <a:xfrm rot="5400000">
            <a:off x="6647688" y="3621024"/>
            <a:ext cx="118872" cy="137160"/>
          </a:xfrm>
          <a:prstGeom prst="triangle">
            <a:avLst/>
          </a:prstGeom>
          <a:solidFill>
            <a:srgbClr val="2E7CC8"/>
          </a:solidFill>
          <a:ln/>
        </p:spPr>
      </p:sp>
      <p:sp>
        <p:nvSpPr>
          <p:cNvPr id="21" name="Text 19"/>
          <p:cNvSpPr txBox="1"/>
          <p:nvPr/>
        </p:nvSpPr>
        <p:spPr>
          <a:xfrm>
            <a:off x="6903720" y="3538728"/>
            <a:ext cx="4343400" cy="566928"/>
          </a:xfrm>
          <a:prstGeom prst="rect">
            <a:avLst/>
          </a:prstGeom>
          <a:noFill/>
          <a:ln/>
        </p:spPr>
        <p:txBody>
          <a:bodyPr wrap="square" lIns="0" tIns="0" rIns="0" bIns="0" rtlCol="0" anchor="t"/>
          <a:lstStyle/>
          <a:p>
            <a:pPr indent="0" marL="0">
              <a:lnSpc>
                <a:spcPct val="112000"/>
              </a:lnSpc>
              <a:buNone/>
            </a:pPr>
            <a:r>
              <a:rPr lang="en-US" sz="1200" b="1" dirty="0">
                <a:solidFill>
                  <a:srgbClr val="1B2A44"/>
                </a:solidFill>
                <a:latin typeface="Calibri" pitchFamily="34" charset="0"/>
                <a:ea typeface="Calibri" pitchFamily="34" charset="-122"/>
                <a:cs typeface="Calibri" pitchFamily="34" charset="-120"/>
              </a:rPr>
              <a:t>Expensive at repository scale</a:t>
            </a:r>
            <a:endParaRPr lang="en-US" sz="1200" dirty="0"/>
          </a:p>
          <a:p>
            <a:pPr indent="0" marL="0">
              <a:lnSpc>
                <a:spcPct val="112000"/>
              </a:lnSpc>
              <a:buNone/>
            </a:pPr>
            <a:r>
              <a:rPr lang="en-US" sz="1200" dirty="0">
                <a:solidFill>
                  <a:srgbClr val="53565A"/>
                </a:solidFill>
                <a:latin typeface="Calibri" pitchFamily="34" charset="0"/>
                <a:ea typeface="Calibri" pitchFamily="34" charset="-122"/>
                <a:cs typeface="Calibri" pitchFamily="34" charset="-120"/>
              </a:rPr>
              <a:t>Maximum inference applied broadly, not selectively</a:t>
            </a:r>
            <a:endParaRPr lang="en-US" sz="1200" dirty="0"/>
          </a:p>
        </p:txBody>
      </p:sp>
      <p:sp>
        <p:nvSpPr>
          <p:cNvPr id="22" name="Shape 20"/>
          <p:cNvSpPr/>
          <p:nvPr/>
        </p:nvSpPr>
        <p:spPr>
          <a:xfrm rot="5400000">
            <a:off x="6647688" y="4334256"/>
            <a:ext cx="118872" cy="137160"/>
          </a:xfrm>
          <a:prstGeom prst="triangle">
            <a:avLst/>
          </a:prstGeom>
          <a:solidFill>
            <a:srgbClr val="2E7CC8"/>
          </a:solidFill>
          <a:ln/>
        </p:spPr>
      </p:sp>
      <p:sp>
        <p:nvSpPr>
          <p:cNvPr id="23" name="Text 21"/>
          <p:cNvSpPr txBox="1"/>
          <p:nvPr/>
        </p:nvSpPr>
        <p:spPr>
          <a:xfrm>
            <a:off x="6903720" y="4251960"/>
            <a:ext cx="4343400" cy="566928"/>
          </a:xfrm>
          <a:prstGeom prst="rect">
            <a:avLst/>
          </a:prstGeom>
          <a:noFill/>
          <a:ln/>
        </p:spPr>
        <p:txBody>
          <a:bodyPr wrap="square" lIns="0" tIns="0" rIns="0" bIns="0" rtlCol="0" anchor="t"/>
          <a:lstStyle/>
          <a:p>
            <a:pPr indent="0" marL="0">
              <a:lnSpc>
                <a:spcPct val="112000"/>
              </a:lnSpc>
              <a:buNone/>
            </a:pPr>
            <a:r>
              <a:rPr lang="en-US" sz="1200" b="1" dirty="0">
                <a:solidFill>
                  <a:srgbClr val="1B2A44"/>
                </a:solidFill>
                <a:latin typeface="Calibri" pitchFamily="34" charset="0"/>
                <a:ea typeface="Calibri" pitchFamily="34" charset="-122"/>
                <a:cs typeface="Calibri" pitchFamily="34" charset="-120"/>
              </a:rPr>
              <a:t>Often self judged</a:t>
            </a:r>
            <a:endParaRPr lang="en-US" sz="1200" dirty="0"/>
          </a:p>
          <a:p>
            <a:pPr indent="0" marL="0">
              <a:lnSpc>
                <a:spcPct val="112000"/>
              </a:lnSpc>
              <a:buNone/>
            </a:pPr>
            <a:r>
              <a:rPr lang="en-US" sz="1200" dirty="0">
                <a:solidFill>
                  <a:srgbClr val="53565A"/>
                </a:solidFill>
                <a:latin typeface="Calibri" pitchFamily="34" charset="0"/>
                <a:ea typeface="Calibri" pitchFamily="34" charset="-122"/>
                <a:cs typeface="Calibri" pitchFamily="34" charset="-120"/>
              </a:rPr>
              <a:t>The system that raises a finding also rules on it</a:t>
            </a:r>
            <a:endParaRPr lang="en-US" sz="1200" dirty="0"/>
          </a:p>
        </p:txBody>
      </p:sp>
      <p:sp>
        <p:nvSpPr>
          <p:cNvPr id="24" name="Shape 22"/>
          <p:cNvSpPr/>
          <p:nvPr/>
        </p:nvSpPr>
        <p:spPr>
          <a:xfrm>
            <a:off x="548640" y="5285232"/>
            <a:ext cx="11091672" cy="960120"/>
          </a:xfrm>
          <a:prstGeom prst="roundRect">
            <a:avLst>
              <a:gd name="adj" fmla="val 7619"/>
            </a:avLst>
          </a:prstGeom>
          <a:solidFill>
            <a:srgbClr val="00175A"/>
          </a:solidFill>
          <a:ln/>
          <a:effectLst>
            <a:outerShdw sx="100000" sy="100000" kx="0" ky="0" algn="bl" rotWithShape="0" blurRad="152400" dist="25400" dir="5400000">
              <a:srgbClr val="8FA0B8">
                <a:alpha val="20000"/>
              </a:srgbClr>
            </a:outerShdw>
          </a:effectLst>
        </p:spPr>
      </p:sp>
      <p:sp>
        <p:nvSpPr>
          <p:cNvPr id="25" name="Text 23"/>
          <p:cNvSpPr txBox="1"/>
          <p:nvPr/>
        </p:nvSpPr>
        <p:spPr>
          <a:xfrm>
            <a:off x="822960" y="5285232"/>
            <a:ext cx="10515600" cy="96012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PRISM combines breadth, depth and evidence discipline in one system.</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Shape 0"/>
          <p:cNvSpPr/>
          <p:nvPr/>
        </p:nvSpPr>
        <p:spPr>
          <a:xfrm rot="5400000">
            <a:off x="566928" y="475488"/>
            <a:ext cx="128016" cy="146304"/>
          </a:xfrm>
          <a:prstGeom prst="triangle">
            <a:avLst/>
          </a:prstGeom>
          <a:solidFill>
            <a:srgbClr val="006FCF"/>
          </a:solidFill>
          <a:ln/>
        </p:spPr>
      </p:sp>
      <p:sp>
        <p:nvSpPr>
          <p:cNvPr id="3" name="Text 1"/>
          <p:cNvSpPr txBox="1"/>
          <p:nvPr/>
        </p:nvSpPr>
        <p:spPr>
          <a:xfrm>
            <a:off x="777240" y="402336"/>
            <a:ext cx="7315200" cy="292608"/>
          </a:xfrm>
          <a:prstGeom prst="rect">
            <a:avLst/>
          </a:prstGeom>
          <a:noFill/>
          <a:ln/>
        </p:spPr>
        <p:txBody>
          <a:bodyPr wrap="square" lIns="0" tIns="0" rIns="0" bIns="0" rtlCol="0" anchor="ctr"/>
          <a:lstStyle/>
          <a:p>
            <a:pPr indent="0" marL="0">
              <a:buNone/>
            </a:pPr>
            <a:r>
              <a:rPr lang="en-US" sz="1150" b="1" spc="160" kern="0" dirty="0">
                <a:solidFill>
                  <a:srgbClr val="006FCF"/>
                </a:solidFill>
                <a:latin typeface="Calibri" pitchFamily="34" charset="0"/>
                <a:ea typeface="Calibri" pitchFamily="34" charset="-122"/>
                <a:cs typeface="Calibri" pitchFamily="34" charset="-120"/>
              </a:rPr>
              <a:t>02  HIGH LEVEL ARCHITECTURE</a:t>
            </a:r>
            <a:endParaRPr lang="en-US" sz="1150" dirty="0"/>
          </a:p>
        </p:txBody>
      </p:sp>
      <p:sp>
        <p:nvSpPr>
          <p:cNvPr id="4" name="Text 2"/>
          <p:cNvSpPr txBox="1"/>
          <p:nvPr/>
        </p:nvSpPr>
        <p:spPr>
          <a:xfrm>
            <a:off x="548640" y="731520"/>
            <a:ext cx="11155680" cy="566928"/>
          </a:xfrm>
          <a:prstGeom prst="rect">
            <a:avLst/>
          </a:prstGeom>
          <a:noFill/>
          <a:ln/>
        </p:spPr>
        <p:txBody>
          <a:bodyPr wrap="square" lIns="0" tIns="0" rIns="0" bIns="0" rtlCol="0" anchor="t"/>
          <a:lstStyle/>
          <a:p>
            <a:pPr indent="0" marL="0">
              <a:buNone/>
            </a:pPr>
            <a:r>
              <a:rPr lang="en-US" sz="3100" b="1" dirty="0">
                <a:solidFill>
                  <a:srgbClr val="1B2A44"/>
                </a:solidFill>
                <a:latin typeface="Cambria" pitchFamily="34" charset="0"/>
                <a:ea typeface="Cambria" pitchFamily="34" charset="-122"/>
                <a:cs typeface="Cambria" pitchFamily="34" charset="-120"/>
              </a:rPr>
              <a:t>One workflow, from repository to evidence</a:t>
            </a:r>
            <a:endParaRPr lang="en-US" sz="3100" dirty="0"/>
          </a:p>
        </p:txBody>
      </p:sp>
      <p:sp>
        <p:nvSpPr>
          <p:cNvPr id="5" name="Text 3"/>
          <p:cNvSpPr txBox="1"/>
          <p:nvPr/>
        </p:nvSpPr>
        <p:spPr>
          <a:xfrm>
            <a:off x="548640" y="1298448"/>
            <a:ext cx="10607040" cy="310896"/>
          </a:xfrm>
          <a:prstGeom prst="rect">
            <a:avLst/>
          </a:prstGeom>
          <a:noFill/>
          <a:ln/>
        </p:spPr>
        <p:txBody>
          <a:bodyPr wrap="square" lIns="0" tIns="0" rIns="0" bIns="0" rtlCol="0" anchor="ctr"/>
          <a:lstStyle/>
          <a:p>
            <a:pPr indent="0" marL="0">
              <a:buNone/>
            </a:pPr>
            <a:r>
              <a:rPr lang="en-US" sz="1400" dirty="0">
                <a:solidFill>
                  <a:srgbClr val="53565A"/>
                </a:solidFill>
                <a:latin typeface="Calibri" pitchFamily="34" charset="0"/>
                <a:ea typeface="Calibri" pitchFamily="34" charset="-122"/>
                <a:cs typeface="Calibri" pitchFamily="34" charset="-120"/>
              </a:rPr>
              <a:t>One detection strategy becomes a portfolio of complementary strategies, followed by an evidence layer.</a:t>
            </a:r>
            <a:endParaRPr lang="en-US" sz="1400" dirty="0"/>
          </a:p>
        </p:txBody>
      </p:sp>
      <p:sp>
        <p:nvSpPr>
          <p:cNvPr id="6" name="Text 4"/>
          <p:cNvSpPr txBox="1"/>
          <p:nvPr/>
        </p:nvSpPr>
        <p:spPr>
          <a:xfrm>
            <a:off x="457200" y="2286000"/>
            <a:ext cx="5513832" cy="274320"/>
          </a:xfrm>
          <a:prstGeom prst="rect">
            <a:avLst/>
          </a:prstGeom>
          <a:noFill/>
          <a:ln/>
        </p:spPr>
        <p:txBody>
          <a:bodyPr wrap="square" lIns="0" tIns="0" rIns="0" bIns="0" rtlCol="0" anchor="ctr"/>
          <a:lstStyle/>
          <a:p>
            <a:pPr indent="0" marL="0">
              <a:buNone/>
            </a:pPr>
            <a:r>
              <a:rPr lang="en-US" sz="1000" b="1" spc="140" kern="0" dirty="0">
                <a:solidFill>
                  <a:srgbClr val="8C959E"/>
                </a:solidFill>
                <a:latin typeface="Calibri" pitchFamily="34" charset="0"/>
                <a:ea typeface="Calibri" pitchFamily="34" charset="-122"/>
                <a:cs typeface="Calibri" pitchFamily="34" charset="-120"/>
              </a:rPr>
              <a:t>UNDERSTAND AND DISCOVER</a:t>
            </a:r>
            <a:endParaRPr lang="en-US" sz="1000" dirty="0"/>
          </a:p>
        </p:txBody>
      </p:sp>
      <p:sp>
        <p:nvSpPr>
          <p:cNvPr id="7" name="Text 5"/>
          <p:cNvSpPr txBox="1"/>
          <p:nvPr/>
        </p:nvSpPr>
        <p:spPr>
          <a:xfrm>
            <a:off x="6190488" y="2286000"/>
            <a:ext cx="5513832" cy="274320"/>
          </a:xfrm>
          <a:prstGeom prst="rect">
            <a:avLst/>
          </a:prstGeom>
          <a:noFill/>
          <a:ln/>
        </p:spPr>
        <p:txBody>
          <a:bodyPr wrap="square" lIns="0" tIns="0" rIns="0" bIns="0" rtlCol="0" anchor="ctr"/>
          <a:lstStyle/>
          <a:p>
            <a:pPr indent="0" marL="0">
              <a:buNone/>
            </a:pPr>
            <a:r>
              <a:rPr lang="en-US" sz="1000" b="1" spc="140" kern="0" dirty="0">
                <a:solidFill>
                  <a:srgbClr val="8C959E"/>
                </a:solidFill>
                <a:latin typeface="Calibri" pitchFamily="34" charset="0"/>
                <a:ea typeface="Calibri" pitchFamily="34" charset="-122"/>
                <a:cs typeface="Calibri" pitchFamily="34" charset="-120"/>
              </a:rPr>
              <a:t>CONSOLIDATE, CHALLENGE AND PROVE</a:t>
            </a:r>
            <a:endParaRPr lang="en-US" sz="1000" dirty="0"/>
          </a:p>
        </p:txBody>
      </p:sp>
      <p:sp>
        <p:nvSpPr>
          <p:cNvPr id="8" name="Shape 6"/>
          <p:cNvSpPr/>
          <p:nvPr/>
        </p:nvSpPr>
        <p:spPr>
          <a:xfrm>
            <a:off x="457200" y="2697480"/>
            <a:ext cx="1691640" cy="1828800"/>
          </a:xfrm>
          <a:prstGeom prst="roundRect">
            <a:avLst>
              <a:gd name="adj" fmla="val 4324"/>
            </a:avLst>
          </a:prstGeom>
          <a:solidFill>
            <a:srgbClr val="00175A"/>
          </a:solidFill>
          <a:ln/>
          <a:effectLst>
            <a:outerShdw sx="100000" sy="100000" kx="0" ky="0" algn="bl" rotWithShape="0" blurRad="152400" dist="25400" dir="5400000">
              <a:srgbClr val="8FA0B8">
                <a:alpha val="20000"/>
              </a:srgbClr>
            </a:outerShdw>
          </a:effectLst>
        </p:spPr>
      </p:sp>
      <p:sp>
        <p:nvSpPr>
          <p:cNvPr id="9" name="Text 7"/>
          <p:cNvSpPr txBox="1"/>
          <p:nvPr/>
        </p:nvSpPr>
        <p:spPr>
          <a:xfrm>
            <a:off x="658368" y="2862072"/>
            <a:ext cx="548640" cy="237744"/>
          </a:xfrm>
          <a:prstGeom prst="rect">
            <a:avLst/>
          </a:prstGeom>
          <a:noFill/>
          <a:ln/>
        </p:spPr>
        <p:txBody>
          <a:bodyPr wrap="square" lIns="0" tIns="0" rIns="0" bIns="0" rtlCol="0" anchor="ctr"/>
          <a:lstStyle/>
          <a:p>
            <a:pPr indent="0" marL="0">
              <a:buNone/>
            </a:pPr>
            <a:r>
              <a:rPr lang="en-US" sz="1000" b="1" spc="100" kern="0" dirty="0">
                <a:solidFill>
                  <a:srgbClr val="9BCAEB"/>
                </a:solidFill>
                <a:latin typeface="Calibri" pitchFamily="34" charset="0"/>
                <a:ea typeface="Calibri" pitchFamily="34" charset="-122"/>
                <a:cs typeface="Calibri" pitchFamily="34" charset="-120"/>
              </a:rPr>
              <a:t>01</a:t>
            </a:r>
            <a:endParaRPr lang="en-US" sz="1000" dirty="0"/>
          </a:p>
        </p:txBody>
      </p:sp>
      <p:sp>
        <p:nvSpPr>
          <p:cNvPr id="10" name="Text 8"/>
          <p:cNvSpPr txBox="1"/>
          <p:nvPr/>
        </p:nvSpPr>
        <p:spPr>
          <a:xfrm>
            <a:off x="658368" y="3136392"/>
            <a:ext cx="1289304" cy="566928"/>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Cambria" pitchFamily="34" charset="0"/>
                <a:ea typeface="Cambria" pitchFamily="34" charset="-122"/>
                <a:cs typeface="Cambria" pitchFamily="34" charset="-120"/>
              </a:rPr>
              <a:t>Repository</a:t>
            </a:r>
            <a:endParaRPr lang="en-US" sz="1400" dirty="0"/>
          </a:p>
        </p:txBody>
      </p:sp>
      <p:sp>
        <p:nvSpPr>
          <p:cNvPr id="11" name="Text 9"/>
          <p:cNvSpPr txBox="1"/>
          <p:nvPr/>
        </p:nvSpPr>
        <p:spPr>
          <a:xfrm>
            <a:off x="658368" y="3703320"/>
            <a:ext cx="1289304" cy="731520"/>
          </a:xfrm>
          <a:prstGeom prst="rect">
            <a:avLst/>
          </a:prstGeom>
          <a:noFill/>
          <a:ln/>
        </p:spPr>
        <p:txBody>
          <a:bodyPr wrap="square" lIns="0" tIns="0" rIns="0" bIns="0" rtlCol="0" anchor="ctr"/>
          <a:lstStyle/>
          <a:p>
            <a:pPr indent="0" marL="0">
              <a:lnSpc>
                <a:spcPct val="110000"/>
              </a:lnSpc>
              <a:buNone/>
            </a:pPr>
            <a:r>
              <a:rPr lang="en-US" sz="1050" dirty="0">
                <a:solidFill>
                  <a:srgbClr val="C5D9EE"/>
                </a:solidFill>
                <a:latin typeface="Calibri" pitchFamily="34" charset="0"/>
                <a:ea typeface="Calibri" pitchFamily="34" charset="-122"/>
                <a:cs typeface="Calibri" pitchFamily="34" charset="-120"/>
              </a:rPr>
              <a:t>Application source, dependencies and configuration</a:t>
            </a:r>
            <a:endParaRPr lang="en-US" sz="1050" dirty="0"/>
          </a:p>
        </p:txBody>
      </p:sp>
      <p:sp>
        <p:nvSpPr>
          <p:cNvPr id="12" name="Shape 10"/>
          <p:cNvSpPr/>
          <p:nvPr/>
        </p:nvSpPr>
        <p:spPr>
          <a:xfrm rot="5400000">
            <a:off x="2176272" y="3511296"/>
            <a:ext cx="164592" cy="181051"/>
          </a:xfrm>
          <a:prstGeom prst="triangle">
            <a:avLst/>
          </a:prstGeom>
          <a:solidFill>
            <a:srgbClr val="2E7CC8"/>
          </a:solidFill>
          <a:ln/>
        </p:spPr>
      </p:sp>
      <p:sp>
        <p:nvSpPr>
          <p:cNvPr id="13" name="Shape 11"/>
          <p:cNvSpPr/>
          <p:nvPr/>
        </p:nvSpPr>
        <p:spPr>
          <a:xfrm>
            <a:off x="2368296" y="2697480"/>
            <a:ext cx="1691640" cy="1828800"/>
          </a:xfrm>
          <a:prstGeom prst="roundRect">
            <a:avLst>
              <a:gd name="adj" fmla="val 4324"/>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14" name="Text 12"/>
          <p:cNvSpPr txBox="1"/>
          <p:nvPr/>
        </p:nvSpPr>
        <p:spPr>
          <a:xfrm>
            <a:off x="2569464" y="2862072"/>
            <a:ext cx="548640" cy="237744"/>
          </a:xfrm>
          <a:prstGeom prst="rect">
            <a:avLst/>
          </a:prstGeom>
          <a:noFill/>
          <a:ln/>
        </p:spPr>
        <p:txBody>
          <a:bodyPr wrap="square" lIns="0" tIns="0" rIns="0" bIns="0" rtlCol="0" anchor="ctr"/>
          <a:lstStyle/>
          <a:p>
            <a:pPr indent="0" marL="0">
              <a:buNone/>
            </a:pPr>
            <a:r>
              <a:rPr lang="en-US" sz="1000" b="1" spc="100" kern="0" dirty="0">
                <a:solidFill>
                  <a:srgbClr val="2E7CC8"/>
                </a:solidFill>
                <a:latin typeface="Calibri" pitchFamily="34" charset="0"/>
                <a:ea typeface="Calibri" pitchFamily="34" charset="-122"/>
                <a:cs typeface="Calibri" pitchFamily="34" charset="-120"/>
              </a:rPr>
              <a:t>02</a:t>
            </a:r>
            <a:endParaRPr lang="en-US" sz="1000" dirty="0"/>
          </a:p>
        </p:txBody>
      </p:sp>
      <p:sp>
        <p:nvSpPr>
          <p:cNvPr id="15" name="Text 13"/>
          <p:cNvSpPr txBox="1"/>
          <p:nvPr/>
        </p:nvSpPr>
        <p:spPr>
          <a:xfrm>
            <a:off x="2569464" y="3136392"/>
            <a:ext cx="1289304" cy="566928"/>
          </a:xfrm>
          <a:prstGeom prst="rect">
            <a:avLst/>
          </a:prstGeom>
          <a:noFill/>
          <a:ln/>
        </p:spPr>
        <p:txBody>
          <a:bodyPr wrap="square" lIns="0" tIns="0" rIns="0" bIns="0" rtlCol="0" anchor="ctr"/>
          <a:lstStyle/>
          <a:p>
            <a:pPr indent="0" marL="0">
              <a:lnSpc>
                <a:spcPct val="105000"/>
              </a:lnSpc>
              <a:buNone/>
            </a:pPr>
            <a:r>
              <a:rPr lang="en-US" sz="1400" b="1" dirty="0">
                <a:solidFill>
                  <a:srgbClr val="1B2A44"/>
                </a:solidFill>
                <a:latin typeface="Cambria" pitchFamily="34" charset="0"/>
                <a:ea typeface="Cambria" pitchFamily="34" charset="-122"/>
                <a:cs typeface="Cambria" pitchFamily="34" charset="-120"/>
              </a:rPr>
              <a:t>Understand the system</a:t>
            </a:r>
            <a:endParaRPr lang="en-US" sz="1400" dirty="0"/>
          </a:p>
        </p:txBody>
      </p:sp>
      <p:sp>
        <p:nvSpPr>
          <p:cNvPr id="16" name="Text 14"/>
          <p:cNvSpPr txBox="1"/>
          <p:nvPr/>
        </p:nvSpPr>
        <p:spPr>
          <a:xfrm>
            <a:off x="2569464" y="3703320"/>
            <a:ext cx="1289304" cy="731520"/>
          </a:xfrm>
          <a:prstGeom prst="rect">
            <a:avLst/>
          </a:prstGeom>
          <a:noFill/>
          <a:ln/>
        </p:spPr>
        <p:txBody>
          <a:bodyPr wrap="square" lIns="0" tIns="0" rIns="0" bIns="0" rtlCol="0" anchor="ctr"/>
          <a:lstStyle/>
          <a:p>
            <a:pPr indent="0" marL="0">
              <a:lnSpc>
                <a:spcPct val="110000"/>
              </a:lnSpc>
              <a:buNone/>
            </a:pPr>
            <a:r>
              <a:rPr lang="en-US" sz="1050" dirty="0">
                <a:solidFill>
                  <a:srgbClr val="53565A"/>
                </a:solidFill>
                <a:latin typeface="Calibri" pitchFamily="34" charset="0"/>
                <a:ea typeface="Calibri" pitchFamily="34" charset="-122"/>
                <a:cs typeface="Calibri" pitchFamily="34" charset="-120"/>
              </a:rPr>
              <a:t>Build a working map of the application and its attack surface</a:t>
            </a:r>
            <a:endParaRPr lang="en-US" sz="1050" dirty="0"/>
          </a:p>
        </p:txBody>
      </p:sp>
      <p:sp>
        <p:nvSpPr>
          <p:cNvPr id="17" name="Shape 15"/>
          <p:cNvSpPr/>
          <p:nvPr/>
        </p:nvSpPr>
        <p:spPr>
          <a:xfrm rot="5400000">
            <a:off x="4087368" y="3511296"/>
            <a:ext cx="164592" cy="181051"/>
          </a:xfrm>
          <a:prstGeom prst="triangle">
            <a:avLst/>
          </a:prstGeom>
          <a:solidFill>
            <a:srgbClr val="2E7CC8"/>
          </a:solidFill>
          <a:ln/>
        </p:spPr>
      </p:sp>
      <p:sp>
        <p:nvSpPr>
          <p:cNvPr id="18" name="Shape 16"/>
          <p:cNvSpPr/>
          <p:nvPr/>
        </p:nvSpPr>
        <p:spPr>
          <a:xfrm>
            <a:off x="4279392" y="2697480"/>
            <a:ext cx="1691640" cy="1828800"/>
          </a:xfrm>
          <a:prstGeom prst="roundRect">
            <a:avLst>
              <a:gd name="adj" fmla="val 4324"/>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19" name="Text 17"/>
          <p:cNvSpPr txBox="1"/>
          <p:nvPr/>
        </p:nvSpPr>
        <p:spPr>
          <a:xfrm>
            <a:off x="4480560" y="2862072"/>
            <a:ext cx="548640" cy="237744"/>
          </a:xfrm>
          <a:prstGeom prst="rect">
            <a:avLst/>
          </a:prstGeom>
          <a:noFill/>
          <a:ln/>
        </p:spPr>
        <p:txBody>
          <a:bodyPr wrap="square" lIns="0" tIns="0" rIns="0" bIns="0" rtlCol="0" anchor="ctr"/>
          <a:lstStyle/>
          <a:p>
            <a:pPr indent="0" marL="0">
              <a:buNone/>
            </a:pPr>
            <a:r>
              <a:rPr lang="en-US" sz="1000" b="1" spc="100" kern="0" dirty="0">
                <a:solidFill>
                  <a:srgbClr val="2E7CC8"/>
                </a:solidFill>
                <a:latin typeface="Calibri" pitchFamily="34" charset="0"/>
                <a:ea typeface="Calibri" pitchFamily="34" charset="-122"/>
                <a:cs typeface="Calibri" pitchFamily="34" charset="-120"/>
              </a:rPr>
              <a:t>03</a:t>
            </a:r>
            <a:endParaRPr lang="en-US" sz="1000" dirty="0"/>
          </a:p>
        </p:txBody>
      </p:sp>
      <p:sp>
        <p:nvSpPr>
          <p:cNvPr id="20" name="Text 18"/>
          <p:cNvSpPr txBox="1"/>
          <p:nvPr/>
        </p:nvSpPr>
        <p:spPr>
          <a:xfrm>
            <a:off x="4480560" y="3136392"/>
            <a:ext cx="1289304" cy="566928"/>
          </a:xfrm>
          <a:prstGeom prst="rect">
            <a:avLst/>
          </a:prstGeom>
          <a:noFill/>
          <a:ln/>
        </p:spPr>
        <p:txBody>
          <a:bodyPr wrap="square" lIns="0" tIns="0" rIns="0" bIns="0" rtlCol="0" anchor="ctr"/>
          <a:lstStyle/>
          <a:p>
            <a:pPr indent="0" marL="0">
              <a:lnSpc>
                <a:spcPct val="105000"/>
              </a:lnSpc>
              <a:buNone/>
            </a:pPr>
            <a:r>
              <a:rPr lang="en-US" sz="1400" b="1" dirty="0">
                <a:solidFill>
                  <a:srgbClr val="1B2A44"/>
                </a:solidFill>
                <a:latin typeface="Cambria" pitchFamily="34" charset="0"/>
                <a:ea typeface="Cambria" pitchFamily="34" charset="-122"/>
                <a:cs typeface="Cambria" pitchFamily="34" charset="-120"/>
              </a:rPr>
              <a:t>Complementary discovery</a:t>
            </a:r>
            <a:endParaRPr lang="en-US" sz="1400" dirty="0"/>
          </a:p>
        </p:txBody>
      </p:sp>
      <p:sp>
        <p:nvSpPr>
          <p:cNvPr id="21" name="Shape 19"/>
          <p:cNvSpPr/>
          <p:nvPr/>
        </p:nvSpPr>
        <p:spPr>
          <a:xfrm>
            <a:off x="4443984" y="3666744"/>
            <a:ext cx="1362456" cy="347472"/>
          </a:xfrm>
          <a:prstGeom prst="roundRect">
            <a:avLst>
              <a:gd name="adj" fmla="val 15789"/>
            </a:avLst>
          </a:prstGeom>
          <a:solidFill>
            <a:srgbClr val="DCEAF8"/>
          </a:solidFill>
          <a:ln/>
        </p:spPr>
      </p:sp>
      <p:sp>
        <p:nvSpPr>
          <p:cNvPr id="22" name="Text 20"/>
          <p:cNvSpPr txBox="1"/>
          <p:nvPr/>
        </p:nvSpPr>
        <p:spPr>
          <a:xfrm>
            <a:off x="4443984" y="3666744"/>
            <a:ext cx="1362456" cy="347472"/>
          </a:xfrm>
          <a:prstGeom prst="rect">
            <a:avLst/>
          </a:prstGeom>
          <a:noFill/>
          <a:ln/>
        </p:spPr>
        <p:txBody>
          <a:bodyPr wrap="square" lIns="0" tIns="0" rIns="0" bIns="0" rtlCol="0" anchor="ctr"/>
          <a:lstStyle/>
          <a:p>
            <a:pPr algn="ctr" indent="0" marL="0">
              <a:buNone/>
            </a:pPr>
            <a:r>
              <a:rPr lang="en-US" sz="1000" b="1" dirty="0">
                <a:solidFill>
                  <a:srgbClr val="00175A"/>
                </a:solidFill>
                <a:latin typeface="Calibri" pitchFamily="34" charset="0"/>
                <a:ea typeface="Calibri" pitchFamily="34" charset="-122"/>
                <a:cs typeface="Calibri" pitchFamily="34" charset="-120"/>
              </a:rPr>
              <a:t>Broad security search</a:t>
            </a:r>
            <a:endParaRPr lang="en-US" sz="1000" dirty="0"/>
          </a:p>
        </p:txBody>
      </p:sp>
      <p:sp>
        <p:nvSpPr>
          <p:cNvPr id="23" name="Shape 21"/>
          <p:cNvSpPr/>
          <p:nvPr/>
        </p:nvSpPr>
        <p:spPr>
          <a:xfrm>
            <a:off x="4443984" y="4069080"/>
            <a:ext cx="1362456" cy="347472"/>
          </a:xfrm>
          <a:prstGeom prst="roundRect">
            <a:avLst>
              <a:gd name="adj" fmla="val 15789"/>
            </a:avLst>
          </a:prstGeom>
          <a:solidFill>
            <a:srgbClr val="F4EBDA"/>
          </a:solidFill>
          <a:ln/>
        </p:spPr>
      </p:sp>
      <p:sp>
        <p:nvSpPr>
          <p:cNvPr id="24" name="Text 22"/>
          <p:cNvSpPr txBox="1"/>
          <p:nvPr/>
        </p:nvSpPr>
        <p:spPr>
          <a:xfrm>
            <a:off x="4443984" y="4069080"/>
            <a:ext cx="1362456" cy="347472"/>
          </a:xfrm>
          <a:prstGeom prst="rect">
            <a:avLst/>
          </a:prstGeom>
          <a:noFill/>
          <a:ln/>
        </p:spPr>
        <p:txBody>
          <a:bodyPr wrap="square" lIns="0" tIns="0" rIns="0" bIns="0" rtlCol="0" anchor="ctr"/>
          <a:lstStyle/>
          <a:p>
            <a:pPr algn="ctr" indent="0" marL="0">
              <a:buNone/>
            </a:pPr>
            <a:r>
              <a:rPr lang="en-US" sz="1000" b="1" dirty="0">
                <a:solidFill>
                  <a:srgbClr val="A5793A"/>
                </a:solidFill>
                <a:latin typeface="Calibri" pitchFamily="34" charset="0"/>
                <a:ea typeface="Calibri" pitchFamily="34" charset="-122"/>
                <a:cs typeface="Calibri" pitchFamily="34" charset="-120"/>
              </a:rPr>
              <a:t>Deep AI research</a:t>
            </a:r>
            <a:endParaRPr lang="en-US" sz="1000" dirty="0"/>
          </a:p>
        </p:txBody>
      </p:sp>
      <p:sp>
        <p:nvSpPr>
          <p:cNvPr id="25" name="Shape 23"/>
          <p:cNvSpPr/>
          <p:nvPr/>
        </p:nvSpPr>
        <p:spPr>
          <a:xfrm rot="5400000">
            <a:off x="5998464" y="3511296"/>
            <a:ext cx="164592" cy="181051"/>
          </a:xfrm>
          <a:prstGeom prst="triangle">
            <a:avLst/>
          </a:prstGeom>
          <a:solidFill>
            <a:srgbClr val="2E7CC8"/>
          </a:solidFill>
          <a:ln/>
        </p:spPr>
      </p:sp>
      <p:sp>
        <p:nvSpPr>
          <p:cNvPr id="26" name="Shape 24"/>
          <p:cNvSpPr/>
          <p:nvPr/>
        </p:nvSpPr>
        <p:spPr>
          <a:xfrm>
            <a:off x="6190488" y="2697480"/>
            <a:ext cx="1691640" cy="1828800"/>
          </a:xfrm>
          <a:prstGeom prst="roundRect">
            <a:avLst>
              <a:gd name="adj" fmla="val 4324"/>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27" name="Text 25"/>
          <p:cNvSpPr txBox="1"/>
          <p:nvPr/>
        </p:nvSpPr>
        <p:spPr>
          <a:xfrm>
            <a:off x="6391656" y="2862072"/>
            <a:ext cx="548640" cy="237744"/>
          </a:xfrm>
          <a:prstGeom prst="rect">
            <a:avLst/>
          </a:prstGeom>
          <a:noFill/>
          <a:ln/>
        </p:spPr>
        <p:txBody>
          <a:bodyPr wrap="square" lIns="0" tIns="0" rIns="0" bIns="0" rtlCol="0" anchor="ctr"/>
          <a:lstStyle/>
          <a:p>
            <a:pPr indent="0" marL="0">
              <a:buNone/>
            </a:pPr>
            <a:r>
              <a:rPr lang="en-US" sz="1000" b="1" spc="100" kern="0" dirty="0">
                <a:solidFill>
                  <a:srgbClr val="2E7CC8"/>
                </a:solidFill>
                <a:latin typeface="Calibri" pitchFamily="34" charset="0"/>
                <a:ea typeface="Calibri" pitchFamily="34" charset="-122"/>
                <a:cs typeface="Calibri" pitchFamily="34" charset="-120"/>
              </a:rPr>
              <a:t>04</a:t>
            </a:r>
            <a:endParaRPr lang="en-US" sz="1000" dirty="0"/>
          </a:p>
        </p:txBody>
      </p:sp>
      <p:sp>
        <p:nvSpPr>
          <p:cNvPr id="28" name="Text 26"/>
          <p:cNvSpPr txBox="1"/>
          <p:nvPr/>
        </p:nvSpPr>
        <p:spPr>
          <a:xfrm>
            <a:off x="6391656" y="3136392"/>
            <a:ext cx="1289304" cy="566928"/>
          </a:xfrm>
          <a:prstGeom prst="rect">
            <a:avLst/>
          </a:prstGeom>
          <a:noFill/>
          <a:ln/>
        </p:spPr>
        <p:txBody>
          <a:bodyPr wrap="square" lIns="0" tIns="0" rIns="0" bIns="0" rtlCol="0" anchor="ctr"/>
          <a:lstStyle/>
          <a:p>
            <a:pPr indent="0" marL="0">
              <a:lnSpc>
                <a:spcPct val="105000"/>
              </a:lnSpc>
              <a:buNone/>
            </a:pPr>
            <a:r>
              <a:rPr lang="en-US" sz="1400" b="1" dirty="0">
                <a:solidFill>
                  <a:srgbClr val="1B2A44"/>
                </a:solidFill>
                <a:latin typeface="Cambria" pitchFamily="34" charset="0"/>
                <a:ea typeface="Cambria" pitchFamily="34" charset="-122"/>
                <a:cs typeface="Cambria" pitchFamily="34" charset="-120"/>
              </a:rPr>
              <a:t>Merge and consolidate</a:t>
            </a:r>
            <a:endParaRPr lang="en-US" sz="1400" dirty="0"/>
          </a:p>
        </p:txBody>
      </p:sp>
      <p:sp>
        <p:nvSpPr>
          <p:cNvPr id="29" name="Text 27"/>
          <p:cNvSpPr txBox="1"/>
          <p:nvPr/>
        </p:nvSpPr>
        <p:spPr>
          <a:xfrm>
            <a:off x="6391656" y="3703320"/>
            <a:ext cx="1289304" cy="731520"/>
          </a:xfrm>
          <a:prstGeom prst="rect">
            <a:avLst/>
          </a:prstGeom>
          <a:noFill/>
          <a:ln/>
        </p:spPr>
        <p:txBody>
          <a:bodyPr wrap="square" lIns="0" tIns="0" rIns="0" bIns="0" rtlCol="0" anchor="ctr"/>
          <a:lstStyle/>
          <a:p>
            <a:pPr indent="0" marL="0">
              <a:lnSpc>
                <a:spcPct val="110000"/>
              </a:lnSpc>
              <a:buNone/>
            </a:pPr>
            <a:r>
              <a:rPr lang="en-US" sz="1050" dirty="0">
                <a:solidFill>
                  <a:srgbClr val="53565A"/>
                </a:solidFill>
                <a:latin typeface="Calibri" pitchFamily="34" charset="0"/>
                <a:ea typeface="Calibri" pitchFamily="34" charset="-122"/>
                <a:cs typeface="Calibri" pitchFamily="34" charset="-120"/>
              </a:rPr>
              <a:t>Many observations resolve into distinct security root causes</a:t>
            </a:r>
            <a:endParaRPr lang="en-US" sz="1050" dirty="0"/>
          </a:p>
        </p:txBody>
      </p:sp>
      <p:sp>
        <p:nvSpPr>
          <p:cNvPr id="30" name="Shape 28"/>
          <p:cNvSpPr/>
          <p:nvPr/>
        </p:nvSpPr>
        <p:spPr>
          <a:xfrm rot="5400000">
            <a:off x="7909560" y="3511296"/>
            <a:ext cx="164592" cy="181051"/>
          </a:xfrm>
          <a:prstGeom prst="triangle">
            <a:avLst/>
          </a:prstGeom>
          <a:solidFill>
            <a:srgbClr val="2E7CC8"/>
          </a:solidFill>
          <a:ln/>
        </p:spPr>
      </p:sp>
      <p:sp>
        <p:nvSpPr>
          <p:cNvPr id="31" name="Shape 29"/>
          <p:cNvSpPr/>
          <p:nvPr/>
        </p:nvSpPr>
        <p:spPr>
          <a:xfrm>
            <a:off x="8101584" y="2697480"/>
            <a:ext cx="1691640" cy="1828800"/>
          </a:xfrm>
          <a:prstGeom prst="roundRect">
            <a:avLst>
              <a:gd name="adj" fmla="val 4324"/>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32" name="Text 30"/>
          <p:cNvSpPr txBox="1"/>
          <p:nvPr/>
        </p:nvSpPr>
        <p:spPr>
          <a:xfrm>
            <a:off x="8302752" y="2862072"/>
            <a:ext cx="548640" cy="237744"/>
          </a:xfrm>
          <a:prstGeom prst="rect">
            <a:avLst/>
          </a:prstGeom>
          <a:noFill/>
          <a:ln/>
        </p:spPr>
        <p:txBody>
          <a:bodyPr wrap="square" lIns="0" tIns="0" rIns="0" bIns="0" rtlCol="0" anchor="ctr"/>
          <a:lstStyle/>
          <a:p>
            <a:pPr indent="0" marL="0">
              <a:buNone/>
            </a:pPr>
            <a:r>
              <a:rPr lang="en-US" sz="1000" b="1" spc="100" kern="0" dirty="0">
                <a:solidFill>
                  <a:srgbClr val="2E7CC8"/>
                </a:solidFill>
                <a:latin typeface="Calibri" pitchFamily="34" charset="0"/>
                <a:ea typeface="Calibri" pitchFamily="34" charset="-122"/>
                <a:cs typeface="Calibri" pitchFamily="34" charset="-120"/>
              </a:rPr>
              <a:t>05</a:t>
            </a:r>
            <a:endParaRPr lang="en-US" sz="1000" dirty="0"/>
          </a:p>
        </p:txBody>
      </p:sp>
      <p:sp>
        <p:nvSpPr>
          <p:cNvPr id="33" name="Text 31"/>
          <p:cNvSpPr txBox="1"/>
          <p:nvPr/>
        </p:nvSpPr>
        <p:spPr>
          <a:xfrm>
            <a:off x="8302752" y="3136392"/>
            <a:ext cx="1289304" cy="566928"/>
          </a:xfrm>
          <a:prstGeom prst="rect">
            <a:avLst/>
          </a:prstGeom>
          <a:noFill/>
          <a:ln/>
        </p:spPr>
        <p:txBody>
          <a:bodyPr wrap="square" lIns="0" tIns="0" rIns="0" bIns="0" rtlCol="0" anchor="ctr"/>
          <a:lstStyle/>
          <a:p>
            <a:pPr indent="0" marL="0">
              <a:lnSpc>
                <a:spcPct val="105000"/>
              </a:lnSpc>
              <a:buNone/>
            </a:pPr>
            <a:r>
              <a:rPr lang="en-US" sz="1400" b="1" dirty="0">
                <a:solidFill>
                  <a:srgbClr val="1B2A44"/>
                </a:solidFill>
                <a:latin typeface="Cambria" pitchFamily="34" charset="0"/>
                <a:ea typeface="Cambria" pitchFamily="34" charset="-122"/>
                <a:cs typeface="Cambria" pitchFamily="34" charset="-120"/>
              </a:rPr>
              <a:t>Evidence challenge</a:t>
            </a:r>
            <a:endParaRPr lang="en-US" sz="1400" dirty="0"/>
          </a:p>
        </p:txBody>
      </p:sp>
      <p:sp>
        <p:nvSpPr>
          <p:cNvPr id="34" name="Text 32"/>
          <p:cNvSpPr txBox="1"/>
          <p:nvPr/>
        </p:nvSpPr>
        <p:spPr>
          <a:xfrm>
            <a:off x="8302752" y="3703320"/>
            <a:ext cx="1289304" cy="731520"/>
          </a:xfrm>
          <a:prstGeom prst="rect">
            <a:avLst/>
          </a:prstGeom>
          <a:noFill/>
          <a:ln/>
        </p:spPr>
        <p:txBody>
          <a:bodyPr wrap="square" lIns="0" tIns="0" rIns="0" bIns="0" rtlCol="0" anchor="ctr"/>
          <a:lstStyle/>
          <a:p>
            <a:pPr indent="0" marL="0">
              <a:lnSpc>
                <a:spcPct val="110000"/>
              </a:lnSpc>
              <a:buNone/>
            </a:pPr>
            <a:r>
              <a:rPr lang="en-US" sz="1050" dirty="0">
                <a:solidFill>
                  <a:srgbClr val="53565A"/>
                </a:solidFill>
                <a:latin typeface="Calibri" pitchFamily="34" charset="0"/>
                <a:ea typeface="Calibri" pitchFamily="34" charset="-122"/>
                <a:cs typeface="Calibri" pitchFamily="34" charset="-120"/>
              </a:rPr>
              <a:t>Weak, unreachable and duplicate claims are held back</a:t>
            </a:r>
            <a:endParaRPr lang="en-US" sz="1050" dirty="0"/>
          </a:p>
        </p:txBody>
      </p:sp>
      <p:sp>
        <p:nvSpPr>
          <p:cNvPr id="35" name="Shape 33"/>
          <p:cNvSpPr/>
          <p:nvPr/>
        </p:nvSpPr>
        <p:spPr>
          <a:xfrm rot="5400000">
            <a:off x="9820656" y="3511296"/>
            <a:ext cx="164592" cy="181051"/>
          </a:xfrm>
          <a:prstGeom prst="triangle">
            <a:avLst/>
          </a:prstGeom>
          <a:solidFill>
            <a:srgbClr val="2E7CC8"/>
          </a:solidFill>
          <a:ln/>
        </p:spPr>
      </p:sp>
      <p:sp>
        <p:nvSpPr>
          <p:cNvPr id="36" name="Shape 34"/>
          <p:cNvSpPr/>
          <p:nvPr/>
        </p:nvSpPr>
        <p:spPr>
          <a:xfrm>
            <a:off x="10012680" y="2697480"/>
            <a:ext cx="1691640" cy="1828800"/>
          </a:xfrm>
          <a:prstGeom prst="roundRect">
            <a:avLst>
              <a:gd name="adj" fmla="val 4324"/>
            </a:avLst>
          </a:prstGeom>
          <a:solidFill>
            <a:srgbClr val="006FCF"/>
          </a:solidFill>
          <a:ln/>
          <a:effectLst>
            <a:outerShdw sx="100000" sy="100000" kx="0" ky="0" algn="bl" rotWithShape="0" blurRad="152400" dist="25400" dir="5400000">
              <a:srgbClr val="8FA0B8">
                <a:alpha val="20000"/>
              </a:srgbClr>
            </a:outerShdw>
          </a:effectLst>
        </p:spPr>
      </p:sp>
      <p:sp>
        <p:nvSpPr>
          <p:cNvPr id="37" name="Text 35"/>
          <p:cNvSpPr txBox="1"/>
          <p:nvPr/>
        </p:nvSpPr>
        <p:spPr>
          <a:xfrm>
            <a:off x="10213848" y="2862072"/>
            <a:ext cx="548640" cy="237744"/>
          </a:xfrm>
          <a:prstGeom prst="rect">
            <a:avLst/>
          </a:prstGeom>
          <a:noFill/>
          <a:ln/>
        </p:spPr>
        <p:txBody>
          <a:bodyPr wrap="square" lIns="0" tIns="0" rIns="0" bIns="0" rtlCol="0" anchor="ctr"/>
          <a:lstStyle/>
          <a:p>
            <a:pPr indent="0" marL="0">
              <a:buNone/>
            </a:pPr>
            <a:r>
              <a:rPr lang="en-US" sz="1000" b="1" spc="100" kern="0" dirty="0">
                <a:solidFill>
                  <a:srgbClr val="9BCAEB"/>
                </a:solidFill>
                <a:latin typeface="Calibri" pitchFamily="34" charset="0"/>
                <a:ea typeface="Calibri" pitchFamily="34" charset="-122"/>
                <a:cs typeface="Calibri" pitchFamily="34" charset="-120"/>
              </a:rPr>
              <a:t>06</a:t>
            </a:r>
            <a:endParaRPr lang="en-US" sz="1000" dirty="0"/>
          </a:p>
        </p:txBody>
      </p:sp>
      <p:sp>
        <p:nvSpPr>
          <p:cNvPr id="38" name="Text 36"/>
          <p:cNvSpPr txBox="1"/>
          <p:nvPr/>
        </p:nvSpPr>
        <p:spPr>
          <a:xfrm>
            <a:off x="10213848" y="3136392"/>
            <a:ext cx="1289304" cy="566928"/>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Cambria" pitchFamily="34" charset="0"/>
                <a:ea typeface="Cambria" pitchFamily="34" charset="-122"/>
                <a:cs typeface="Cambria" pitchFamily="34" charset="-120"/>
              </a:rPr>
              <a:t>Results</a:t>
            </a:r>
            <a:endParaRPr lang="en-US" sz="1400" dirty="0"/>
          </a:p>
        </p:txBody>
      </p:sp>
      <p:sp>
        <p:nvSpPr>
          <p:cNvPr id="39" name="Text 37"/>
          <p:cNvSpPr txBox="1"/>
          <p:nvPr/>
        </p:nvSpPr>
        <p:spPr>
          <a:xfrm>
            <a:off x="10213848" y="3703320"/>
            <a:ext cx="1289304" cy="731520"/>
          </a:xfrm>
          <a:prstGeom prst="rect">
            <a:avLst/>
          </a:prstGeom>
          <a:noFill/>
          <a:ln/>
        </p:spPr>
        <p:txBody>
          <a:bodyPr wrap="square" lIns="0" tIns="0" rIns="0" bIns="0" rtlCol="0" anchor="ctr"/>
          <a:lstStyle/>
          <a:p>
            <a:pPr indent="0" marL="0">
              <a:lnSpc>
                <a:spcPct val="110000"/>
              </a:lnSpc>
              <a:buNone/>
            </a:pPr>
            <a:r>
              <a:rPr lang="en-US" sz="1050" dirty="0">
                <a:solidFill>
                  <a:srgbClr val="C5D9EE"/>
                </a:solidFill>
                <a:latin typeface="Calibri" pitchFamily="34" charset="0"/>
                <a:ea typeface="Calibri" pitchFamily="34" charset="-122"/>
                <a:cs typeface="Calibri" pitchFamily="34" charset="-120"/>
              </a:rPr>
              <a:t>Actionable findings, each carrying an evidence status</a:t>
            </a:r>
            <a:endParaRPr lang="en-US" sz="1050" dirty="0"/>
          </a:p>
        </p:txBody>
      </p:sp>
      <p:sp>
        <p:nvSpPr>
          <p:cNvPr id="40" name="Shape 38"/>
          <p:cNvSpPr/>
          <p:nvPr/>
        </p:nvSpPr>
        <p:spPr>
          <a:xfrm>
            <a:off x="8101584" y="5029200"/>
            <a:ext cx="3602736" cy="841248"/>
          </a:xfrm>
          <a:prstGeom prst="roundRect">
            <a:avLst>
              <a:gd name="adj" fmla="val 8696"/>
            </a:avLst>
          </a:prstGeom>
          <a:solidFill>
            <a:srgbClr val="EAF2FB"/>
          </a:solidFill>
          <a:ln w="12700">
            <a:solidFill>
              <a:srgbClr val="C6DDF3"/>
            </a:solidFill>
            <a:prstDash val="solid"/>
          </a:ln>
          <a:effectLst>
            <a:outerShdw sx="100000" sy="100000" kx="0" ky="0" algn="bl" rotWithShape="0" blurRad="152400" dist="25400" dir="5400000">
              <a:srgbClr val="8FA0B8">
                <a:alpha val="20000"/>
              </a:srgbClr>
            </a:outerShdw>
          </a:effectLst>
        </p:spPr>
      </p:sp>
      <p:sp>
        <p:nvSpPr>
          <p:cNvPr id="41" name="Text 39"/>
          <p:cNvSpPr txBox="1"/>
          <p:nvPr/>
        </p:nvSpPr>
        <p:spPr>
          <a:xfrm>
            <a:off x="8302752" y="5029200"/>
            <a:ext cx="3200400" cy="841248"/>
          </a:xfrm>
          <a:prstGeom prst="rect">
            <a:avLst/>
          </a:prstGeom>
          <a:noFill/>
          <a:ln/>
        </p:spPr>
        <p:txBody>
          <a:bodyPr wrap="square" lIns="0" tIns="0" rIns="0" bIns="0" rtlCol="0" anchor="ctr"/>
          <a:lstStyle/>
          <a:p>
            <a:pPr indent="0" marL="0">
              <a:lnSpc>
                <a:spcPct val="110000"/>
              </a:lnSpc>
              <a:buNone/>
            </a:pPr>
            <a:r>
              <a:rPr lang="en-US" sz="1150" b="1" dirty="0">
                <a:solidFill>
                  <a:srgbClr val="006FCF"/>
                </a:solidFill>
                <a:latin typeface="Calibri" pitchFamily="34" charset="0"/>
                <a:ea typeface="Calibri" pitchFamily="34" charset="-122"/>
                <a:cs typeface="Calibri" pitchFamily="34" charset="-120"/>
              </a:rPr>
              <a:t>Selective runtime proof   </a:t>
            </a:r>
            <a:pPr indent="0" marL="0">
              <a:lnSpc>
                <a:spcPct val="110000"/>
              </a:lnSpc>
              <a:buNone/>
            </a:pPr>
            <a:r>
              <a:rPr lang="en-US" sz="1150" dirty="0">
                <a:solidFill>
                  <a:srgbClr val="53565A"/>
                </a:solidFill>
                <a:latin typeface="Calibri" pitchFamily="34" charset="0"/>
                <a:ea typeface="Calibri" pitchFamily="34" charset="-122"/>
                <a:cs typeface="Calibri" pitchFamily="34" charset="-120"/>
              </a:rPr>
              <a:t>when an executable environment is available</a:t>
            </a:r>
            <a:endParaRPr lang="en-US" sz="1150" dirty="0"/>
          </a:p>
        </p:txBody>
      </p:sp>
      <p:sp>
        <p:nvSpPr>
          <p:cNvPr id="42" name="Shape 40"/>
          <p:cNvSpPr/>
          <p:nvPr/>
        </p:nvSpPr>
        <p:spPr>
          <a:xfrm flipV="1">
            <a:off x="10858500" y="4526280"/>
            <a:ext cx="0" cy="502920"/>
          </a:xfrm>
          <a:prstGeom prst="line">
            <a:avLst/>
          </a:prstGeom>
          <a:noFill/>
          <a:ln w="22225">
            <a:solidFill>
              <a:srgbClr val="2E7CC8"/>
            </a:solidFill>
            <a:prstDash val="solid"/>
            <a:tailEnd type="triangle"/>
          </a:ln>
        </p:spPr>
      </p:sp>
      <p:sp>
        <p:nvSpPr>
          <p:cNvPr id="43" name="Text 41"/>
          <p:cNvSpPr txBox="1"/>
          <p:nvPr/>
        </p:nvSpPr>
        <p:spPr>
          <a:xfrm>
            <a:off x="457200" y="5029200"/>
            <a:ext cx="7315200" cy="256032"/>
          </a:xfrm>
          <a:prstGeom prst="rect">
            <a:avLst/>
          </a:prstGeom>
          <a:noFill/>
          <a:ln/>
        </p:spPr>
        <p:txBody>
          <a:bodyPr wrap="square" lIns="0" tIns="0" rIns="0" bIns="0" rtlCol="0" anchor="ctr"/>
          <a:lstStyle/>
          <a:p>
            <a:pPr indent="0" marL="0">
              <a:buNone/>
            </a:pPr>
            <a:r>
              <a:rPr lang="en-US" sz="1000" b="1" spc="140" kern="0" dirty="0">
                <a:solidFill>
                  <a:srgbClr val="8C959E"/>
                </a:solidFill>
                <a:latin typeface="Calibri" pitchFamily="34" charset="0"/>
                <a:ea typeface="Calibri" pitchFamily="34" charset="-122"/>
                <a:cs typeface="Calibri" pitchFamily="34" charset="-120"/>
              </a:rPr>
              <a:t>EVERY DELIVERED FINDING CARRIES AN EVIDENCE STATUS</a:t>
            </a:r>
            <a:endParaRPr lang="en-US" sz="1000" dirty="0"/>
          </a:p>
        </p:txBody>
      </p:sp>
      <p:sp>
        <p:nvSpPr>
          <p:cNvPr id="44" name="Shape 42"/>
          <p:cNvSpPr/>
          <p:nvPr/>
        </p:nvSpPr>
        <p:spPr>
          <a:xfrm>
            <a:off x="457200" y="5358384"/>
            <a:ext cx="1691640" cy="512064"/>
          </a:xfrm>
          <a:prstGeom prst="roundRect">
            <a:avLst>
              <a:gd name="adj" fmla="val 17857"/>
            </a:avLst>
          </a:prstGeom>
          <a:solidFill>
            <a:srgbClr val="006FCF"/>
          </a:solidFill>
          <a:ln/>
        </p:spPr>
      </p:sp>
      <p:sp>
        <p:nvSpPr>
          <p:cNvPr id="45" name="Text 43"/>
          <p:cNvSpPr txBox="1"/>
          <p:nvPr/>
        </p:nvSpPr>
        <p:spPr>
          <a:xfrm>
            <a:off x="457200" y="5358384"/>
            <a:ext cx="169164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Runtime demonstrated</a:t>
            </a:r>
            <a:endParaRPr lang="en-US" sz="1050" dirty="0"/>
          </a:p>
        </p:txBody>
      </p:sp>
      <p:sp>
        <p:nvSpPr>
          <p:cNvPr id="46" name="Shape 44"/>
          <p:cNvSpPr/>
          <p:nvPr/>
        </p:nvSpPr>
        <p:spPr>
          <a:xfrm>
            <a:off x="2258568" y="5358384"/>
            <a:ext cx="1691640" cy="512064"/>
          </a:xfrm>
          <a:prstGeom prst="roundRect">
            <a:avLst>
              <a:gd name="adj" fmla="val 17857"/>
            </a:avLst>
          </a:prstGeom>
          <a:solidFill>
            <a:srgbClr val="DCEAF8"/>
          </a:solidFill>
          <a:ln/>
        </p:spPr>
      </p:sp>
      <p:sp>
        <p:nvSpPr>
          <p:cNvPr id="47" name="Text 45"/>
          <p:cNvSpPr txBox="1"/>
          <p:nvPr/>
        </p:nvSpPr>
        <p:spPr>
          <a:xfrm>
            <a:off x="2258568" y="5358384"/>
            <a:ext cx="1691640" cy="512064"/>
          </a:xfrm>
          <a:prstGeom prst="rect">
            <a:avLst/>
          </a:prstGeom>
          <a:noFill/>
          <a:ln/>
        </p:spPr>
        <p:txBody>
          <a:bodyPr wrap="square" lIns="0" tIns="0" rIns="0" bIns="0" rtlCol="0" anchor="ctr"/>
          <a:lstStyle/>
          <a:p>
            <a:pPr algn="ctr" indent="0" marL="0">
              <a:buNone/>
            </a:pPr>
            <a:r>
              <a:rPr lang="en-US" sz="1050" b="1" dirty="0">
                <a:solidFill>
                  <a:srgbClr val="00175A"/>
                </a:solidFill>
                <a:latin typeface="Calibri" pitchFamily="34" charset="0"/>
                <a:ea typeface="Calibri" pitchFamily="34" charset="-122"/>
                <a:cs typeface="Calibri" pitchFamily="34" charset="-120"/>
              </a:rPr>
              <a:t>Source supported</a:t>
            </a:r>
            <a:endParaRPr lang="en-US" sz="1050" dirty="0"/>
          </a:p>
        </p:txBody>
      </p:sp>
      <p:sp>
        <p:nvSpPr>
          <p:cNvPr id="48" name="Shape 46"/>
          <p:cNvSpPr/>
          <p:nvPr/>
        </p:nvSpPr>
        <p:spPr>
          <a:xfrm>
            <a:off x="4059936" y="5358384"/>
            <a:ext cx="1691640" cy="512064"/>
          </a:xfrm>
          <a:prstGeom prst="roundRect">
            <a:avLst>
              <a:gd name="adj" fmla="val 17857"/>
            </a:avLst>
          </a:prstGeom>
          <a:solidFill>
            <a:srgbClr val="F4EBDA"/>
          </a:solidFill>
          <a:ln/>
        </p:spPr>
      </p:sp>
      <p:sp>
        <p:nvSpPr>
          <p:cNvPr id="49" name="Text 47"/>
          <p:cNvSpPr txBox="1"/>
          <p:nvPr/>
        </p:nvSpPr>
        <p:spPr>
          <a:xfrm>
            <a:off x="4059936" y="5358384"/>
            <a:ext cx="1691640" cy="512064"/>
          </a:xfrm>
          <a:prstGeom prst="rect">
            <a:avLst/>
          </a:prstGeom>
          <a:noFill/>
          <a:ln/>
        </p:spPr>
        <p:txBody>
          <a:bodyPr wrap="square" lIns="0" tIns="0" rIns="0" bIns="0" rtlCol="0" anchor="ctr"/>
          <a:lstStyle/>
          <a:p>
            <a:pPr algn="ctr" indent="0" marL="0">
              <a:buNone/>
            </a:pPr>
            <a:r>
              <a:rPr lang="en-US" sz="1050" b="1" dirty="0">
                <a:solidFill>
                  <a:srgbClr val="A5793A"/>
                </a:solidFill>
                <a:latin typeface="Calibri" pitchFamily="34" charset="0"/>
                <a:ea typeface="Calibri" pitchFamily="34" charset="-122"/>
                <a:cs typeface="Calibri" pitchFamily="34" charset="-120"/>
              </a:rPr>
              <a:t>Refuted</a:t>
            </a:r>
            <a:endParaRPr lang="en-US" sz="1050" dirty="0"/>
          </a:p>
        </p:txBody>
      </p:sp>
      <p:sp>
        <p:nvSpPr>
          <p:cNvPr id="50" name="Shape 48"/>
          <p:cNvSpPr/>
          <p:nvPr/>
        </p:nvSpPr>
        <p:spPr>
          <a:xfrm>
            <a:off x="5861304" y="5358384"/>
            <a:ext cx="1691640" cy="512064"/>
          </a:xfrm>
          <a:prstGeom prst="roundRect">
            <a:avLst>
              <a:gd name="adj" fmla="val 17857"/>
            </a:avLst>
          </a:prstGeom>
          <a:solidFill>
            <a:srgbClr val="E7EAEE"/>
          </a:solidFill>
          <a:ln/>
        </p:spPr>
      </p:sp>
      <p:sp>
        <p:nvSpPr>
          <p:cNvPr id="51" name="Text 49"/>
          <p:cNvSpPr txBox="1"/>
          <p:nvPr/>
        </p:nvSpPr>
        <p:spPr>
          <a:xfrm>
            <a:off x="5861304" y="5358384"/>
            <a:ext cx="1691640" cy="512064"/>
          </a:xfrm>
          <a:prstGeom prst="rect">
            <a:avLst/>
          </a:prstGeom>
          <a:noFill/>
          <a:ln/>
        </p:spPr>
        <p:txBody>
          <a:bodyPr wrap="square" lIns="0" tIns="0" rIns="0" bIns="0" rtlCol="0" anchor="ctr"/>
          <a:lstStyle/>
          <a:p>
            <a:pPr algn="ctr" indent="0" marL="0">
              <a:buNone/>
            </a:pPr>
            <a:r>
              <a:rPr lang="en-US" sz="1050" b="1" dirty="0">
                <a:solidFill>
                  <a:srgbClr val="53565A"/>
                </a:solidFill>
                <a:latin typeface="Calibri" pitchFamily="34" charset="0"/>
                <a:ea typeface="Calibri" pitchFamily="34" charset="-122"/>
                <a:cs typeface="Calibri" pitchFamily="34" charset="-120"/>
              </a:rPr>
              <a:t>Unresolved</a:t>
            </a:r>
            <a:endParaRPr lang="en-US" sz="1050" dirty="0"/>
          </a:p>
        </p:txBody>
      </p:sp>
      <p:sp>
        <p:nvSpPr>
          <p:cNvPr id="52" name="Text 50"/>
          <p:cNvSpPr txBox="1"/>
          <p:nvPr/>
        </p:nvSpPr>
        <p:spPr>
          <a:xfrm>
            <a:off x="457200" y="6035040"/>
            <a:ext cx="11247120" cy="365760"/>
          </a:xfrm>
          <a:prstGeom prst="rect">
            <a:avLst/>
          </a:prstGeom>
          <a:noFill/>
          <a:ln/>
        </p:spPr>
        <p:txBody>
          <a:bodyPr wrap="square" lIns="0" tIns="0" rIns="0" bIns="0" rtlCol="0" anchor="ctr"/>
          <a:lstStyle/>
          <a:p>
            <a:pPr indent="0" marL="0">
              <a:buNone/>
            </a:pPr>
            <a:r>
              <a:rPr lang="en-US" sz="1150" i="1" dirty="0">
                <a:solidFill>
                  <a:srgbClr val="53565A"/>
                </a:solidFill>
                <a:latin typeface="Calibri" pitchFamily="34" charset="0"/>
                <a:ea typeface="Calibri" pitchFamily="34" charset="-122"/>
                <a:cs typeface="Calibri" pitchFamily="34" charset="-120"/>
              </a:rPr>
              <a:t>No individual finding is delivered by the component that discovered it. Discovery, consolidation, challenge and proof are separate stages of one workflow.</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p:bgPr>
    </p:bg>
    <p:spTree>
      <p:nvGrpSpPr>
        <p:cNvPr id="1" name=""/>
        <p:cNvGrpSpPr/>
        <p:nvPr/>
      </p:nvGrpSpPr>
      <p:grpSpPr>
        <a:xfrm>
          <a:off x="0" y="0"/>
          <a:ext cx="0" cy="0"/>
          <a:chOff x="0" y="0"/>
          <a:chExt cx="0" cy="0"/>
        </a:xfrm>
      </p:grpSpPr>
      <p:sp>
        <p:nvSpPr>
          <p:cNvPr id="2" name="Shape 0"/>
          <p:cNvSpPr/>
          <p:nvPr/>
        </p:nvSpPr>
        <p:spPr>
          <a:xfrm rot="5400000">
            <a:off x="566928" y="475488"/>
            <a:ext cx="128016" cy="146304"/>
          </a:xfrm>
          <a:prstGeom prst="triangle">
            <a:avLst/>
          </a:prstGeom>
          <a:solidFill>
            <a:srgbClr val="006FCF"/>
          </a:solidFill>
          <a:ln/>
        </p:spPr>
      </p:sp>
      <p:sp>
        <p:nvSpPr>
          <p:cNvPr id="3" name="Text 1"/>
          <p:cNvSpPr txBox="1"/>
          <p:nvPr/>
        </p:nvSpPr>
        <p:spPr>
          <a:xfrm>
            <a:off x="777240" y="402336"/>
            <a:ext cx="7315200" cy="292608"/>
          </a:xfrm>
          <a:prstGeom prst="rect">
            <a:avLst/>
          </a:prstGeom>
          <a:noFill/>
          <a:ln/>
        </p:spPr>
        <p:txBody>
          <a:bodyPr wrap="square" lIns="0" tIns="0" rIns="0" bIns="0" rtlCol="0" anchor="ctr"/>
          <a:lstStyle/>
          <a:p>
            <a:pPr indent="0" marL="0">
              <a:buNone/>
            </a:pPr>
            <a:r>
              <a:rPr lang="en-US" sz="1150" b="1" spc="160" kern="0" dirty="0">
                <a:solidFill>
                  <a:srgbClr val="006FCF"/>
                </a:solidFill>
                <a:latin typeface="Calibri" pitchFamily="34" charset="0"/>
                <a:ea typeface="Calibri" pitchFamily="34" charset="-122"/>
                <a:cs typeface="Calibri" pitchFamily="34" charset="-120"/>
              </a:rPr>
              <a:t>03  WHY PRISM FINDS MORE</a:t>
            </a:r>
            <a:endParaRPr lang="en-US" sz="1150" dirty="0"/>
          </a:p>
        </p:txBody>
      </p:sp>
      <p:sp>
        <p:nvSpPr>
          <p:cNvPr id="4" name="Text 2"/>
          <p:cNvSpPr txBox="1"/>
          <p:nvPr/>
        </p:nvSpPr>
        <p:spPr>
          <a:xfrm>
            <a:off x="548640" y="731520"/>
            <a:ext cx="11155680" cy="566928"/>
          </a:xfrm>
          <a:prstGeom prst="rect">
            <a:avLst/>
          </a:prstGeom>
          <a:noFill/>
          <a:ln/>
        </p:spPr>
        <p:txBody>
          <a:bodyPr wrap="square" lIns="0" tIns="0" rIns="0" bIns="0" rtlCol="0" anchor="t"/>
          <a:lstStyle/>
          <a:p>
            <a:pPr indent="0" marL="0">
              <a:buNone/>
            </a:pPr>
            <a:r>
              <a:rPr lang="en-US" sz="3100" b="1" dirty="0">
                <a:solidFill>
                  <a:srgbClr val="1B2A44"/>
                </a:solidFill>
                <a:latin typeface="Cambria" pitchFamily="34" charset="0"/>
                <a:ea typeface="Cambria" pitchFamily="34" charset="-122"/>
                <a:cs typeface="Cambria" pitchFamily="34" charset="-120"/>
              </a:rPr>
              <a:t>Coverage comes from how investigation is organized</a:t>
            </a:r>
            <a:endParaRPr lang="en-US" sz="3100" dirty="0"/>
          </a:p>
        </p:txBody>
      </p:sp>
      <p:sp>
        <p:nvSpPr>
          <p:cNvPr id="5" name="Text 3"/>
          <p:cNvSpPr txBox="1"/>
          <p:nvPr/>
        </p:nvSpPr>
        <p:spPr>
          <a:xfrm>
            <a:off x="548640" y="1691640"/>
            <a:ext cx="5394960" cy="868680"/>
          </a:xfrm>
          <a:prstGeom prst="rect">
            <a:avLst/>
          </a:prstGeom>
          <a:noFill/>
          <a:ln/>
        </p:spPr>
        <p:txBody>
          <a:bodyPr wrap="square" lIns="0" tIns="0" rIns="0" bIns="0" rtlCol="0" anchor="ctr"/>
          <a:lstStyle/>
          <a:p>
            <a:pPr indent="0" marL="0">
              <a:lnSpc>
                <a:spcPct val="110000"/>
              </a:lnSpc>
              <a:buNone/>
            </a:pPr>
            <a:r>
              <a:rPr lang="en-US" sz="2000" b="1" dirty="0">
                <a:solidFill>
                  <a:srgbClr val="1B2A44"/>
                </a:solidFill>
                <a:latin typeface="Cambria" pitchFamily="34" charset="0"/>
                <a:ea typeface="Cambria" pitchFamily="34" charset="-122"/>
                <a:cs typeface="Cambria" pitchFamily="34" charset="-120"/>
              </a:rPr>
              <a:t>Different investigation strategies discover different vulnerabilities.</a:t>
            </a:r>
            <a:endParaRPr lang="en-US" sz="2000" dirty="0"/>
          </a:p>
        </p:txBody>
      </p:sp>
      <p:sp>
        <p:nvSpPr>
          <p:cNvPr id="6" name="Shape 4"/>
          <p:cNvSpPr/>
          <p:nvPr/>
        </p:nvSpPr>
        <p:spPr>
          <a:xfrm rot="5400000">
            <a:off x="566928" y="2752344"/>
            <a:ext cx="118872" cy="137160"/>
          </a:xfrm>
          <a:prstGeom prst="triangle">
            <a:avLst/>
          </a:prstGeom>
          <a:solidFill>
            <a:srgbClr val="006FCF"/>
          </a:solidFill>
          <a:ln/>
        </p:spPr>
      </p:sp>
      <p:sp>
        <p:nvSpPr>
          <p:cNvPr id="7" name="Text 5"/>
          <p:cNvSpPr txBox="1"/>
          <p:nvPr/>
        </p:nvSpPr>
        <p:spPr>
          <a:xfrm>
            <a:off x="822960" y="2670048"/>
            <a:ext cx="5029200" cy="658368"/>
          </a:xfrm>
          <a:prstGeom prst="rect">
            <a:avLst/>
          </a:prstGeom>
          <a:noFill/>
          <a:ln/>
        </p:spPr>
        <p:txBody>
          <a:bodyPr wrap="square" lIns="0" tIns="0" rIns="0" bIns="0" rtlCol="0" anchor="t"/>
          <a:lstStyle/>
          <a:p>
            <a:pPr indent="0" marL="0">
              <a:lnSpc>
                <a:spcPct val="112000"/>
              </a:lnSpc>
              <a:buNone/>
            </a:pPr>
            <a:r>
              <a:rPr lang="en-US" sz="1250" b="1" dirty="0">
                <a:solidFill>
                  <a:srgbClr val="1B2A44"/>
                </a:solidFill>
                <a:latin typeface="Calibri" pitchFamily="34" charset="0"/>
                <a:ea typeface="Calibri" pitchFamily="34" charset="-122"/>
                <a:cs typeface="Calibri" pitchFamily="34" charset="-120"/>
              </a:rPr>
              <a:t>Broad and systematic</a:t>
            </a:r>
            <a:endParaRPr lang="en-US" sz="1250" dirty="0"/>
          </a:p>
          <a:p>
            <a:pPr indent="0" marL="0">
              <a:lnSpc>
                <a:spcPct val="112000"/>
              </a:lnSpc>
              <a:buNone/>
            </a:pPr>
            <a:r>
              <a:rPr lang="en-US" sz="1250" dirty="0">
                <a:solidFill>
                  <a:srgbClr val="53565A"/>
                </a:solidFill>
                <a:latin typeface="Calibri" pitchFamily="34" charset="0"/>
                <a:ea typeface="Calibri" pitchFamily="34" charset="-122"/>
                <a:cs typeface="Calibri" pitchFamily="34" charset="-120"/>
              </a:rPr>
              <a:t>Wide coverage across many possible security concerns</a:t>
            </a:r>
            <a:endParaRPr lang="en-US" sz="1250" dirty="0"/>
          </a:p>
        </p:txBody>
      </p:sp>
      <p:sp>
        <p:nvSpPr>
          <p:cNvPr id="8" name="Shape 6"/>
          <p:cNvSpPr/>
          <p:nvPr/>
        </p:nvSpPr>
        <p:spPr>
          <a:xfrm rot="5400000">
            <a:off x="566928" y="3502152"/>
            <a:ext cx="118872" cy="137160"/>
          </a:xfrm>
          <a:prstGeom prst="triangle">
            <a:avLst/>
          </a:prstGeom>
          <a:solidFill>
            <a:srgbClr val="006FCF"/>
          </a:solidFill>
          <a:ln/>
        </p:spPr>
      </p:sp>
      <p:sp>
        <p:nvSpPr>
          <p:cNvPr id="9" name="Text 7"/>
          <p:cNvSpPr txBox="1"/>
          <p:nvPr/>
        </p:nvSpPr>
        <p:spPr>
          <a:xfrm>
            <a:off x="822960" y="3419856"/>
            <a:ext cx="5029200" cy="658368"/>
          </a:xfrm>
          <a:prstGeom prst="rect">
            <a:avLst/>
          </a:prstGeom>
          <a:noFill/>
          <a:ln/>
        </p:spPr>
        <p:txBody>
          <a:bodyPr wrap="square" lIns="0" tIns="0" rIns="0" bIns="0" rtlCol="0" anchor="t"/>
          <a:lstStyle/>
          <a:p>
            <a:pPr indent="0" marL="0">
              <a:lnSpc>
                <a:spcPct val="112000"/>
              </a:lnSpc>
              <a:buNone/>
            </a:pPr>
            <a:r>
              <a:rPr lang="en-US" sz="1250" b="1" dirty="0">
                <a:solidFill>
                  <a:srgbClr val="1B2A44"/>
                </a:solidFill>
                <a:latin typeface="Calibri" pitchFamily="34" charset="0"/>
                <a:ea typeface="Calibri" pitchFamily="34" charset="-122"/>
                <a:cs typeface="Calibri" pitchFamily="34" charset="-120"/>
              </a:rPr>
              <a:t>Deep and adversarial</a:t>
            </a:r>
            <a:endParaRPr lang="en-US" sz="1250" dirty="0"/>
          </a:p>
          <a:p>
            <a:pPr indent="0" marL="0">
              <a:lnSpc>
                <a:spcPct val="112000"/>
              </a:lnSpc>
              <a:buNone/>
            </a:pPr>
            <a:r>
              <a:rPr lang="en-US" sz="1250" dirty="0">
                <a:solidFill>
                  <a:srgbClr val="53565A"/>
                </a:solidFill>
                <a:latin typeface="Calibri" pitchFamily="34" charset="0"/>
                <a:ea typeface="Calibri" pitchFamily="34" charset="-122"/>
                <a:cs typeface="Calibri" pitchFamily="34" charset="-120"/>
              </a:rPr>
              <a:t>Sustained attention on the most consequential attack surfaces</a:t>
            </a:r>
            <a:endParaRPr lang="en-US" sz="1250" dirty="0"/>
          </a:p>
        </p:txBody>
      </p:sp>
      <p:sp>
        <p:nvSpPr>
          <p:cNvPr id="10" name="Shape 8"/>
          <p:cNvSpPr/>
          <p:nvPr/>
        </p:nvSpPr>
        <p:spPr>
          <a:xfrm rot="5400000">
            <a:off x="566928" y="4251960"/>
            <a:ext cx="118872" cy="137160"/>
          </a:xfrm>
          <a:prstGeom prst="triangle">
            <a:avLst/>
          </a:prstGeom>
          <a:solidFill>
            <a:srgbClr val="006FCF"/>
          </a:solidFill>
          <a:ln/>
        </p:spPr>
      </p:sp>
      <p:sp>
        <p:nvSpPr>
          <p:cNvPr id="11" name="Text 9"/>
          <p:cNvSpPr txBox="1"/>
          <p:nvPr/>
        </p:nvSpPr>
        <p:spPr>
          <a:xfrm>
            <a:off x="822960" y="4169664"/>
            <a:ext cx="5029200" cy="658368"/>
          </a:xfrm>
          <a:prstGeom prst="rect">
            <a:avLst/>
          </a:prstGeom>
          <a:noFill/>
          <a:ln/>
        </p:spPr>
        <p:txBody>
          <a:bodyPr wrap="square" lIns="0" tIns="0" rIns="0" bIns="0" rtlCol="0" anchor="t"/>
          <a:lstStyle/>
          <a:p>
            <a:pPr indent="0" marL="0">
              <a:lnSpc>
                <a:spcPct val="112000"/>
              </a:lnSpc>
              <a:buNone/>
            </a:pPr>
            <a:r>
              <a:rPr lang="en-US" sz="1250" b="1" dirty="0">
                <a:solidFill>
                  <a:srgbClr val="1B2A44"/>
                </a:solidFill>
                <a:latin typeface="Calibri" pitchFamily="34" charset="0"/>
                <a:ea typeface="Calibri" pitchFamily="34" charset="-122"/>
                <a:cs typeface="Calibri" pitchFamily="34" charset="-120"/>
              </a:rPr>
              <a:t>Guided, not constrained</a:t>
            </a:r>
            <a:endParaRPr lang="en-US" sz="1250" dirty="0"/>
          </a:p>
          <a:p>
            <a:pPr indent="0" marL="0">
              <a:lnSpc>
                <a:spcPct val="112000"/>
              </a:lnSpc>
              <a:buNone/>
            </a:pPr>
            <a:r>
              <a:rPr lang="en-US" sz="1250" dirty="0">
                <a:solidFill>
                  <a:srgbClr val="53565A"/>
                </a:solidFill>
                <a:latin typeface="Calibri" pitchFamily="34" charset="0"/>
                <a:ea typeface="Calibri" pitchFamily="34" charset="-122"/>
                <a:cs typeface="Calibri" pitchFamily="34" charset="-120"/>
              </a:rPr>
              <a:t>Deterministic security signals steer the work without limiting what the AI may explore</a:t>
            </a:r>
            <a:endParaRPr lang="en-US" sz="1250" dirty="0"/>
          </a:p>
        </p:txBody>
      </p:sp>
      <p:sp>
        <p:nvSpPr>
          <p:cNvPr id="12" name="Shape 10"/>
          <p:cNvSpPr/>
          <p:nvPr/>
        </p:nvSpPr>
        <p:spPr>
          <a:xfrm>
            <a:off x="548640" y="4956048"/>
            <a:ext cx="5394960" cy="868680"/>
          </a:xfrm>
          <a:prstGeom prst="roundRect">
            <a:avLst>
              <a:gd name="adj" fmla="val 8421"/>
            </a:avLst>
          </a:prstGeom>
          <a:solidFill>
            <a:srgbClr val="EDF3FA"/>
          </a:solidFill>
          <a:ln/>
        </p:spPr>
      </p:sp>
      <p:sp>
        <p:nvSpPr>
          <p:cNvPr id="13" name="Text 11"/>
          <p:cNvSpPr txBox="1"/>
          <p:nvPr/>
        </p:nvSpPr>
        <p:spPr>
          <a:xfrm>
            <a:off x="777240" y="4956048"/>
            <a:ext cx="4937760" cy="868680"/>
          </a:xfrm>
          <a:prstGeom prst="rect">
            <a:avLst/>
          </a:prstGeom>
          <a:noFill/>
          <a:ln/>
        </p:spPr>
        <p:txBody>
          <a:bodyPr wrap="square" lIns="0" tIns="0" rIns="0" bIns="0" rtlCol="0" anchor="ctr"/>
          <a:lstStyle/>
          <a:p>
            <a:pPr indent="0" marL="0">
              <a:lnSpc>
                <a:spcPct val="115000"/>
              </a:lnSpc>
              <a:buNone/>
            </a:pPr>
            <a:r>
              <a:rPr lang="en-US" sz="1150" i="1" dirty="0">
                <a:solidFill>
                  <a:srgbClr val="00175A"/>
                </a:solidFill>
                <a:latin typeface="Calibri" pitchFamily="34" charset="0"/>
                <a:ea typeface="Calibri" pitchFamily="34" charset="-122"/>
                <a:cs typeface="Calibri" pitchFamily="34" charset="-120"/>
              </a:rPr>
              <a:t>Instead of asking one expert to review an entire application one way, PRISM gives the application to several complementary research approaches and combines what each one sees.</a:t>
            </a:r>
            <a:endParaRPr lang="en-US" sz="1150" dirty="0"/>
          </a:p>
        </p:txBody>
      </p:sp>
      <p:sp>
        <p:nvSpPr>
          <p:cNvPr id="14" name="Shape 12"/>
          <p:cNvSpPr/>
          <p:nvPr/>
        </p:nvSpPr>
        <p:spPr>
          <a:xfrm>
            <a:off x="6309360" y="1691640"/>
            <a:ext cx="5330952" cy="4133088"/>
          </a:xfrm>
          <a:prstGeom prst="roundRect">
            <a:avLst>
              <a:gd name="adj" fmla="val 1770"/>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15" name="Text 13"/>
          <p:cNvSpPr txBox="1"/>
          <p:nvPr/>
        </p:nvSpPr>
        <p:spPr>
          <a:xfrm>
            <a:off x="6629400" y="1938528"/>
            <a:ext cx="4754880" cy="274320"/>
          </a:xfrm>
          <a:prstGeom prst="rect">
            <a:avLst/>
          </a:prstGeom>
          <a:noFill/>
          <a:ln/>
        </p:spPr>
        <p:txBody>
          <a:bodyPr wrap="square" lIns="0" tIns="0" rIns="0" bIns="0" rtlCol="0" anchor="ctr"/>
          <a:lstStyle/>
          <a:p>
            <a:pPr indent="0" marL="0">
              <a:buNone/>
            </a:pPr>
            <a:r>
              <a:rPr lang="en-US" sz="1050" b="1" spc="130" kern="0" dirty="0">
                <a:solidFill>
                  <a:srgbClr val="006FCF"/>
                </a:solidFill>
                <a:latin typeface="Calibri" pitchFamily="34" charset="0"/>
                <a:ea typeface="Calibri" pitchFamily="34" charset="-122"/>
                <a:cs typeface="Calibri" pitchFamily="34" charset="-120"/>
              </a:rPr>
              <a:t>ONE CONTROLLED INTERNAL COMPARISON</a:t>
            </a:r>
            <a:endParaRPr lang="en-US" sz="1050" dirty="0"/>
          </a:p>
        </p:txBody>
      </p:sp>
      <p:sp>
        <p:nvSpPr>
          <p:cNvPr id="16" name="Text 14"/>
          <p:cNvSpPr txBox="1"/>
          <p:nvPr/>
        </p:nvSpPr>
        <p:spPr>
          <a:xfrm>
            <a:off x="6629400" y="2212848"/>
            <a:ext cx="4663440" cy="310896"/>
          </a:xfrm>
          <a:prstGeom prst="rect">
            <a:avLst/>
          </a:prstGeom>
          <a:noFill/>
          <a:ln/>
        </p:spPr>
        <p:txBody>
          <a:bodyPr wrap="square" lIns="0" tIns="0" rIns="0" bIns="0" rtlCol="0" anchor="ctr"/>
          <a:lstStyle/>
          <a:p>
            <a:pPr indent="0" marL="0">
              <a:buNone/>
            </a:pPr>
            <a:r>
              <a:rPr lang="en-US" sz="1200" dirty="0">
                <a:solidFill>
                  <a:srgbClr val="53565A"/>
                </a:solidFill>
                <a:latin typeface="Calibri" pitchFamily="34" charset="0"/>
                <a:ea typeface="Calibri" pitchFamily="34" charset="-122"/>
                <a:cs typeface="Calibri" pitchFamily="34" charset="-120"/>
              </a:rPr>
              <a:t>Adjudicated root causes at approximately equal model token usage</a:t>
            </a:r>
            <a:endParaRPr lang="en-US" sz="1200" dirty="0"/>
          </a:p>
        </p:txBody>
      </p:sp>
      <p:sp>
        <p:nvSpPr>
          <p:cNvPr id="17" name="Text 15"/>
          <p:cNvSpPr txBox="1"/>
          <p:nvPr/>
        </p:nvSpPr>
        <p:spPr>
          <a:xfrm>
            <a:off x="6629400" y="2788920"/>
            <a:ext cx="4663440" cy="274320"/>
          </a:xfrm>
          <a:prstGeom prst="rect">
            <a:avLst/>
          </a:prstGeom>
          <a:noFill/>
          <a:ln/>
        </p:spPr>
        <p:txBody>
          <a:bodyPr wrap="square" lIns="0" tIns="0" rIns="0" bIns="0" rtlCol="0" anchor="ctr"/>
          <a:lstStyle/>
          <a:p>
            <a:pPr indent="0" marL="0">
              <a:buNone/>
            </a:pPr>
            <a:r>
              <a:rPr lang="en-US" sz="1150" b="1" dirty="0">
                <a:solidFill>
                  <a:srgbClr val="1B2A44"/>
                </a:solidFill>
                <a:latin typeface="Calibri" pitchFamily="34" charset="0"/>
                <a:ea typeface="Calibri" pitchFamily="34" charset="-122"/>
                <a:cs typeface="Calibri" pitchFamily="34" charset="-120"/>
              </a:rPr>
              <a:t>Single investigation approach</a:t>
            </a:r>
            <a:endParaRPr lang="en-US" sz="1150" dirty="0"/>
          </a:p>
        </p:txBody>
      </p:sp>
      <p:sp>
        <p:nvSpPr>
          <p:cNvPr id="18" name="Shape 16"/>
          <p:cNvSpPr/>
          <p:nvPr/>
        </p:nvSpPr>
        <p:spPr>
          <a:xfrm>
            <a:off x="6629400" y="3099816"/>
            <a:ext cx="960120" cy="457200"/>
          </a:xfrm>
          <a:prstGeom prst="roundRect">
            <a:avLst>
              <a:gd name="adj" fmla="val 10000"/>
            </a:avLst>
          </a:prstGeom>
          <a:solidFill>
            <a:srgbClr val="B9C4D2"/>
          </a:solidFill>
          <a:ln/>
        </p:spPr>
      </p:sp>
      <p:sp>
        <p:nvSpPr>
          <p:cNvPr id="19" name="Text 17"/>
          <p:cNvSpPr txBox="1"/>
          <p:nvPr/>
        </p:nvSpPr>
        <p:spPr>
          <a:xfrm>
            <a:off x="7735824" y="2990088"/>
            <a:ext cx="1188720" cy="658368"/>
          </a:xfrm>
          <a:prstGeom prst="rect">
            <a:avLst/>
          </a:prstGeom>
          <a:noFill/>
          <a:ln/>
        </p:spPr>
        <p:txBody>
          <a:bodyPr wrap="square" lIns="0" tIns="0" rIns="0" bIns="0" rtlCol="0" anchor="ctr"/>
          <a:lstStyle/>
          <a:p>
            <a:pPr indent="0" marL="0">
              <a:buNone/>
            </a:pPr>
            <a:r>
              <a:rPr lang="en-US" sz="3400" b="1" dirty="0">
                <a:solidFill>
                  <a:srgbClr val="00175A"/>
                </a:solidFill>
                <a:latin typeface="Cambria" pitchFamily="34" charset="0"/>
                <a:ea typeface="Cambria" pitchFamily="34" charset="-122"/>
                <a:cs typeface="Cambria" pitchFamily="34" charset="-120"/>
              </a:rPr>
              <a:t>11</a:t>
            </a:r>
            <a:endParaRPr lang="en-US" sz="3400" dirty="0"/>
          </a:p>
        </p:txBody>
      </p:sp>
      <p:sp>
        <p:nvSpPr>
          <p:cNvPr id="20" name="Text 18"/>
          <p:cNvSpPr txBox="1"/>
          <p:nvPr/>
        </p:nvSpPr>
        <p:spPr>
          <a:xfrm>
            <a:off x="6629400" y="3977640"/>
            <a:ext cx="4663440" cy="274320"/>
          </a:xfrm>
          <a:prstGeom prst="rect">
            <a:avLst/>
          </a:prstGeom>
          <a:noFill/>
          <a:ln/>
        </p:spPr>
        <p:txBody>
          <a:bodyPr wrap="square" lIns="0" tIns="0" rIns="0" bIns="0" rtlCol="0" anchor="ctr"/>
          <a:lstStyle/>
          <a:p>
            <a:pPr indent="0" marL="0">
              <a:buNone/>
            </a:pPr>
            <a:r>
              <a:rPr lang="en-US" sz="1150" b="1" dirty="0">
                <a:solidFill>
                  <a:srgbClr val="1B2A44"/>
                </a:solidFill>
                <a:latin typeface="Calibri" pitchFamily="34" charset="0"/>
                <a:ea typeface="Calibri" pitchFamily="34" charset="-122"/>
                <a:cs typeface="Calibri" pitchFamily="34" charset="-120"/>
              </a:rPr>
              <a:t>Complementary structured approach</a:t>
            </a:r>
            <a:endParaRPr lang="en-US" sz="1150" dirty="0"/>
          </a:p>
        </p:txBody>
      </p:sp>
      <p:sp>
        <p:nvSpPr>
          <p:cNvPr id="21" name="Shape 19"/>
          <p:cNvSpPr/>
          <p:nvPr/>
        </p:nvSpPr>
        <p:spPr>
          <a:xfrm>
            <a:off x="6629400" y="4288536"/>
            <a:ext cx="3566160" cy="457200"/>
          </a:xfrm>
          <a:prstGeom prst="roundRect">
            <a:avLst>
              <a:gd name="adj" fmla="val 10000"/>
            </a:avLst>
          </a:prstGeom>
          <a:solidFill>
            <a:srgbClr val="006FCF"/>
          </a:solidFill>
          <a:ln/>
        </p:spPr>
      </p:sp>
      <p:sp>
        <p:nvSpPr>
          <p:cNvPr id="22" name="Text 20"/>
          <p:cNvSpPr txBox="1"/>
          <p:nvPr/>
        </p:nvSpPr>
        <p:spPr>
          <a:xfrm>
            <a:off x="10341864" y="4178808"/>
            <a:ext cx="1188720" cy="658368"/>
          </a:xfrm>
          <a:prstGeom prst="rect">
            <a:avLst/>
          </a:prstGeom>
          <a:noFill/>
          <a:ln/>
        </p:spPr>
        <p:txBody>
          <a:bodyPr wrap="square" lIns="0" tIns="0" rIns="0" bIns="0" rtlCol="0" anchor="ctr"/>
          <a:lstStyle/>
          <a:p>
            <a:pPr indent="0" marL="0">
              <a:buNone/>
            </a:pPr>
            <a:r>
              <a:rPr lang="en-US" sz="3400" b="1" dirty="0">
                <a:solidFill>
                  <a:srgbClr val="006FCF"/>
                </a:solidFill>
                <a:latin typeface="Cambria" pitchFamily="34" charset="0"/>
                <a:ea typeface="Cambria" pitchFamily="34" charset="-122"/>
                <a:cs typeface="Cambria" pitchFamily="34" charset="-120"/>
              </a:rPr>
              <a:t>42</a:t>
            </a:r>
            <a:endParaRPr lang="en-US" sz="3400" dirty="0"/>
          </a:p>
        </p:txBody>
      </p:sp>
      <p:sp>
        <p:nvSpPr>
          <p:cNvPr id="23" name="Text 21"/>
          <p:cNvSpPr txBox="1"/>
          <p:nvPr/>
        </p:nvSpPr>
        <p:spPr>
          <a:xfrm>
            <a:off x="6629400" y="5074920"/>
            <a:ext cx="4709160" cy="594360"/>
          </a:xfrm>
          <a:prstGeom prst="rect">
            <a:avLst/>
          </a:prstGeom>
          <a:noFill/>
          <a:ln/>
        </p:spPr>
        <p:txBody>
          <a:bodyPr wrap="square" lIns="0" tIns="0" rIns="0" bIns="0" rtlCol="0" anchor="ctr"/>
          <a:lstStyle/>
          <a:p>
            <a:pPr indent="0" marL="0">
              <a:lnSpc>
                <a:spcPct val="115000"/>
              </a:lnSpc>
              <a:buNone/>
            </a:pPr>
            <a:r>
              <a:rPr lang="en-US" sz="1000" dirty="0">
                <a:solidFill>
                  <a:srgbClr val="8C959E"/>
                </a:solidFill>
                <a:latin typeface="Calibri" pitchFamily="34" charset="0"/>
                <a:ea typeface="Calibri" pitchFamily="34" charset="-122"/>
                <a:cs typeface="Calibri" pitchFamily="34" charset="-120"/>
              </a:rPr>
              <a:t>Internal controlled experiment. Not an external benchmark claim, and not yet a statement about any specific competing product.</a:t>
            </a:r>
            <a:endParaRPr lang="en-US" sz="1000" dirty="0"/>
          </a:p>
        </p:txBody>
      </p:sp>
      <p:sp>
        <p:nvSpPr>
          <p:cNvPr id="24" name="Shape 22"/>
          <p:cNvSpPr/>
          <p:nvPr/>
        </p:nvSpPr>
        <p:spPr>
          <a:xfrm>
            <a:off x="548640" y="5989320"/>
            <a:ext cx="11091672" cy="658368"/>
          </a:xfrm>
          <a:prstGeom prst="roundRect">
            <a:avLst>
              <a:gd name="adj" fmla="val 11111"/>
            </a:avLst>
          </a:prstGeom>
          <a:solidFill>
            <a:srgbClr val="00175A"/>
          </a:solidFill>
          <a:ln/>
          <a:effectLst>
            <a:outerShdw sx="100000" sy="100000" kx="0" ky="0" algn="bl" rotWithShape="0" blurRad="152400" dist="25400" dir="5400000">
              <a:srgbClr val="8FA0B8">
                <a:alpha val="20000"/>
              </a:srgbClr>
            </a:outerShdw>
          </a:effectLst>
        </p:spPr>
      </p:sp>
      <p:sp>
        <p:nvSpPr>
          <p:cNvPr id="25" name="Text 23"/>
          <p:cNvSpPr txBox="1"/>
          <p:nvPr/>
        </p:nvSpPr>
        <p:spPr>
          <a:xfrm>
            <a:off x="822960" y="5989320"/>
            <a:ext cx="10515600" cy="658368"/>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More findings means more distinct validated root causes, not more warning messages.</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Shape 0"/>
          <p:cNvSpPr/>
          <p:nvPr/>
        </p:nvSpPr>
        <p:spPr>
          <a:xfrm rot="5400000">
            <a:off x="566928" y="475488"/>
            <a:ext cx="128016" cy="146304"/>
          </a:xfrm>
          <a:prstGeom prst="triangle">
            <a:avLst/>
          </a:prstGeom>
          <a:solidFill>
            <a:srgbClr val="006FCF"/>
          </a:solidFill>
          <a:ln/>
        </p:spPr>
      </p:sp>
      <p:sp>
        <p:nvSpPr>
          <p:cNvPr id="3" name="Text 1"/>
          <p:cNvSpPr txBox="1"/>
          <p:nvPr/>
        </p:nvSpPr>
        <p:spPr>
          <a:xfrm>
            <a:off x="777240" y="402336"/>
            <a:ext cx="7315200" cy="292608"/>
          </a:xfrm>
          <a:prstGeom prst="rect">
            <a:avLst/>
          </a:prstGeom>
          <a:noFill/>
          <a:ln/>
        </p:spPr>
        <p:txBody>
          <a:bodyPr wrap="square" lIns="0" tIns="0" rIns="0" bIns="0" rtlCol="0" anchor="ctr"/>
          <a:lstStyle/>
          <a:p>
            <a:pPr indent="0" marL="0">
              <a:buNone/>
            </a:pPr>
            <a:r>
              <a:rPr lang="en-US" sz="1150" b="1" spc="160" kern="0" dirty="0">
                <a:solidFill>
                  <a:srgbClr val="006FCF"/>
                </a:solidFill>
                <a:latin typeface="Calibri" pitchFamily="34" charset="0"/>
                <a:ea typeface="Calibri" pitchFamily="34" charset="-122"/>
                <a:cs typeface="Calibri" pitchFamily="34" charset="-120"/>
              </a:rPr>
              <a:t>04  CLEANER RESULTS</a:t>
            </a:r>
            <a:endParaRPr lang="en-US" sz="1150" dirty="0"/>
          </a:p>
        </p:txBody>
      </p:sp>
      <p:sp>
        <p:nvSpPr>
          <p:cNvPr id="4" name="Text 2"/>
          <p:cNvSpPr txBox="1"/>
          <p:nvPr/>
        </p:nvSpPr>
        <p:spPr>
          <a:xfrm>
            <a:off x="548640" y="731520"/>
            <a:ext cx="11155680" cy="566928"/>
          </a:xfrm>
          <a:prstGeom prst="rect">
            <a:avLst/>
          </a:prstGeom>
          <a:noFill/>
          <a:ln/>
        </p:spPr>
        <p:txBody>
          <a:bodyPr wrap="square" lIns="0" tIns="0" rIns="0" bIns="0" rtlCol="0" anchor="t"/>
          <a:lstStyle/>
          <a:p>
            <a:pPr indent="0" marL="0">
              <a:buNone/>
            </a:pPr>
            <a:r>
              <a:rPr lang="en-US" sz="3100" b="1" dirty="0">
                <a:solidFill>
                  <a:srgbClr val="1B2A44"/>
                </a:solidFill>
                <a:latin typeface="Cambria" pitchFamily="34" charset="0"/>
                <a:ea typeface="Cambria" pitchFamily="34" charset="-122"/>
                <a:cs typeface="Cambria" pitchFamily="34" charset="-120"/>
              </a:rPr>
              <a:t>Discovery and validation are separate jobs</a:t>
            </a:r>
            <a:endParaRPr lang="en-US" sz="3100" dirty="0"/>
          </a:p>
        </p:txBody>
      </p:sp>
      <p:sp>
        <p:nvSpPr>
          <p:cNvPr id="5" name="Shape 3"/>
          <p:cNvSpPr/>
          <p:nvPr/>
        </p:nvSpPr>
        <p:spPr>
          <a:xfrm>
            <a:off x="640080" y="1783080"/>
            <a:ext cx="5212080" cy="713232"/>
          </a:xfrm>
          <a:prstGeom prst="roundRect">
            <a:avLst>
              <a:gd name="adj" fmla="val 8974"/>
            </a:avLst>
          </a:prstGeom>
          <a:solidFill>
            <a:srgbClr val="DCEAF8"/>
          </a:solidFill>
          <a:ln/>
          <a:effectLst>
            <a:outerShdw sx="100000" sy="100000" kx="0" ky="0" algn="bl" rotWithShape="0" blurRad="152400" dist="25400" dir="5400000">
              <a:srgbClr val="8FA0B8">
                <a:alpha val="20000"/>
              </a:srgbClr>
            </a:outerShdw>
          </a:effectLst>
        </p:spPr>
      </p:sp>
      <p:sp>
        <p:nvSpPr>
          <p:cNvPr id="6" name="Text 4"/>
          <p:cNvSpPr txBox="1"/>
          <p:nvPr/>
        </p:nvSpPr>
        <p:spPr>
          <a:xfrm>
            <a:off x="640080" y="1783080"/>
            <a:ext cx="5212080" cy="713232"/>
          </a:xfrm>
          <a:prstGeom prst="rect">
            <a:avLst/>
          </a:prstGeom>
          <a:noFill/>
          <a:ln/>
        </p:spPr>
        <p:txBody>
          <a:bodyPr wrap="square" lIns="0" tIns="0" rIns="0" bIns="0" rtlCol="0" anchor="ctr"/>
          <a:lstStyle/>
          <a:p>
            <a:pPr algn="ctr" indent="0" marL="0">
              <a:buNone/>
            </a:pPr>
            <a:r>
              <a:rPr lang="en-US" sz="1300" b="1" dirty="0">
                <a:solidFill>
                  <a:srgbClr val="1B2A44"/>
                </a:solidFill>
                <a:latin typeface="Calibri" pitchFamily="34" charset="0"/>
                <a:ea typeface="Calibri" pitchFamily="34" charset="-122"/>
                <a:cs typeface="Calibri" pitchFamily="34" charset="-120"/>
              </a:rPr>
              <a:t>Candidate hypotheses</a:t>
            </a:r>
            <a:endParaRPr lang="en-US" sz="1300" dirty="0"/>
          </a:p>
        </p:txBody>
      </p:sp>
      <p:sp>
        <p:nvSpPr>
          <p:cNvPr id="7" name="Shape 5"/>
          <p:cNvSpPr/>
          <p:nvPr/>
        </p:nvSpPr>
        <p:spPr>
          <a:xfrm rot="10800000">
            <a:off x="3154680" y="2542032"/>
            <a:ext cx="160934" cy="146304"/>
          </a:xfrm>
          <a:prstGeom prst="triangle">
            <a:avLst/>
          </a:prstGeom>
          <a:solidFill>
            <a:srgbClr val="8C959E"/>
          </a:solidFill>
          <a:ln/>
        </p:spPr>
      </p:sp>
      <p:sp>
        <p:nvSpPr>
          <p:cNvPr id="8" name="Shape 6"/>
          <p:cNvSpPr/>
          <p:nvPr/>
        </p:nvSpPr>
        <p:spPr>
          <a:xfrm>
            <a:off x="960120" y="2697480"/>
            <a:ext cx="4572000" cy="713232"/>
          </a:xfrm>
          <a:prstGeom prst="roundRect">
            <a:avLst>
              <a:gd name="adj" fmla="val 8974"/>
            </a:avLst>
          </a:prstGeom>
          <a:solidFill>
            <a:srgbClr val="A9CFEE"/>
          </a:solidFill>
          <a:ln/>
          <a:effectLst>
            <a:outerShdw sx="100000" sy="100000" kx="0" ky="0" algn="bl" rotWithShape="0" blurRad="152400" dist="25400" dir="5400000">
              <a:srgbClr val="8FA0B8">
                <a:alpha val="20000"/>
              </a:srgbClr>
            </a:outerShdw>
          </a:effectLst>
        </p:spPr>
      </p:sp>
      <p:sp>
        <p:nvSpPr>
          <p:cNvPr id="9" name="Text 7"/>
          <p:cNvSpPr txBox="1"/>
          <p:nvPr/>
        </p:nvSpPr>
        <p:spPr>
          <a:xfrm>
            <a:off x="960120" y="2697480"/>
            <a:ext cx="4572000" cy="713232"/>
          </a:xfrm>
          <a:prstGeom prst="rect">
            <a:avLst/>
          </a:prstGeom>
          <a:noFill/>
          <a:ln/>
        </p:spPr>
        <p:txBody>
          <a:bodyPr wrap="square" lIns="0" tIns="0" rIns="0" bIns="0" rtlCol="0" anchor="ctr"/>
          <a:lstStyle/>
          <a:p>
            <a:pPr algn="ctr" indent="0" marL="0">
              <a:buNone/>
            </a:pPr>
            <a:r>
              <a:rPr lang="en-US" sz="1300" b="1" dirty="0">
                <a:solidFill>
                  <a:srgbClr val="1B2A44"/>
                </a:solidFill>
                <a:latin typeface="Calibri" pitchFamily="34" charset="0"/>
                <a:ea typeface="Calibri" pitchFamily="34" charset="-122"/>
                <a:cs typeface="Calibri" pitchFamily="34" charset="-120"/>
              </a:rPr>
              <a:t>Root cause consolidation</a:t>
            </a:r>
            <a:endParaRPr lang="en-US" sz="1300" dirty="0"/>
          </a:p>
        </p:txBody>
      </p:sp>
      <p:sp>
        <p:nvSpPr>
          <p:cNvPr id="10" name="Shape 8"/>
          <p:cNvSpPr/>
          <p:nvPr/>
        </p:nvSpPr>
        <p:spPr>
          <a:xfrm rot="10800000">
            <a:off x="3154680" y="3456432"/>
            <a:ext cx="160934" cy="146304"/>
          </a:xfrm>
          <a:prstGeom prst="triangle">
            <a:avLst/>
          </a:prstGeom>
          <a:solidFill>
            <a:srgbClr val="8C959E"/>
          </a:solidFill>
          <a:ln/>
        </p:spPr>
      </p:sp>
      <p:sp>
        <p:nvSpPr>
          <p:cNvPr id="11" name="Shape 9"/>
          <p:cNvSpPr/>
          <p:nvPr/>
        </p:nvSpPr>
        <p:spPr>
          <a:xfrm>
            <a:off x="1280160" y="3611880"/>
            <a:ext cx="3931920" cy="713232"/>
          </a:xfrm>
          <a:prstGeom prst="roundRect">
            <a:avLst>
              <a:gd name="adj" fmla="val 8974"/>
            </a:avLst>
          </a:prstGeom>
          <a:solidFill>
            <a:srgbClr val="2E7CC8"/>
          </a:solidFill>
          <a:ln/>
          <a:effectLst>
            <a:outerShdw sx="100000" sy="100000" kx="0" ky="0" algn="bl" rotWithShape="0" blurRad="152400" dist="25400" dir="5400000">
              <a:srgbClr val="8FA0B8">
                <a:alpha val="20000"/>
              </a:srgbClr>
            </a:outerShdw>
          </a:effectLst>
        </p:spPr>
      </p:sp>
      <p:sp>
        <p:nvSpPr>
          <p:cNvPr id="12" name="Text 10"/>
          <p:cNvSpPr txBox="1"/>
          <p:nvPr/>
        </p:nvSpPr>
        <p:spPr>
          <a:xfrm>
            <a:off x="1280160" y="3611880"/>
            <a:ext cx="3931920" cy="7132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Evidence challenge</a:t>
            </a:r>
            <a:endParaRPr lang="en-US" sz="1300" dirty="0"/>
          </a:p>
        </p:txBody>
      </p:sp>
      <p:sp>
        <p:nvSpPr>
          <p:cNvPr id="13" name="Shape 11"/>
          <p:cNvSpPr/>
          <p:nvPr/>
        </p:nvSpPr>
        <p:spPr>
          <a:xfrm rot="10800000">
            <a:off x="3154680" y="4370832"/>
            <a:ext cx="160934" cy="146304"/>
          </a:xfrm>
          <a:prstGeom prst="triangle">
            <a:avLst/>
          </a:prstGeom>
          <a:solidFill>
            <a:srgbClr val="8C959E"/>
          </a:solidFill>
          <a:ln/>
        </p:spPr>
      </p:sp>
      <p:sp>
        <p:nvSpPr>
          <p:cNvPr id="14" name="Shape 12"/>
          <p:cNvSpPr/>
          <p:nvPr/>
        </p:nvSpPr>
        <p:spPr>
          <a:xfrm>
            <a:off x="1600200" y="4526280"/>
            <a:ext cx="3291840" cy="713232"/>
          </a:xfrm>
          <a:prstGeom prst="roundRect">
            <a:avLst>
              <a:gd name="adj" fmla="val 8974"/>
            </a:avLst>
          </a:prstGeom>
          <a:solidFill>
            <a:srgbClr val="006FCF"/>
          </a:solidFill>
          <a:ln/>
          <a:effectLst>
            <a:outerShdw sx="100000" sy="100000" kx="0" ky="0" algn="bl" rotWithShape="0" blurRad="152400" dist="25400" dir="5400000">
              <a:srgbClr val="8FA0B8">
                <a:alpha val="20000"/>
              </a:srgbClr>
            </a:outerShdw>
          </a:effectLst>
        </p:spPr>
      </p:sp>
      <p:sp>
        <p:nvSpPr>
          <p:cNvPr id="15" name="Text 13"/>
          <p:cNvSpPr txBox="1"/>
          <p:nvPr/>
        </p:nvSpPr>
        <p:spPr>
          <a:xfrm>
            <a:off x="1600200" y="4526280"/>
            <a:ext cx="3291840" cy="7132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Runtime proof where available</a:t>
            </a:r>
            <a:endParaRPr lang="en-US" sz="1300" dirty="0"/>
          </a:p>
        </p:txBody>
      </p:sp>
      <p:sp>
        <p:nvSpPr>
          <p:cNvPr id="16" name="Shape 14"/>
          <p:cNvSpPr/>
          <p:nvPr/>
        </p:nvSpPr>
        <p:spPr>
          <a:xfrm rot="10800000">
            <a:off x="3154680" y="5285232"/>
            <a:ext cx="160934" cy="146304"/>
          </a:xfrm>
          <a:prstGeom prst="triangle">
            <a:avLst/>
          </a:prstGeom>
          <a:solidFill>
            <a:srgbClr val="8C959E"/>
          </a:solidFill>
          <a:ln/>
        </p:spPr>
      </p:sp>
      <p:sp>
        <p:nvSpPr>
          <p:cNvPr id="17" name="Shape 15"/>
          <p:cNvSpPr/>
          <p:nvPr/>
        </p:nvSpPr>
        <p:spPr>
          <a:xfrm>
            <a:off x="1920240" y="5440680"/>
            <a:ext cx="2651760" cy="713232"/>
          </a:xfrm>
          <a:prstGeom prst="roundRect">
            <a:avLst>
              <a:gd name="adj" fmla="val 8974"/>
            </a:avLst>
          </a:prstGeom>
          <a:solidFill>
            <a:srgbClr val="00175A"/>
          </a:solidFill>
          <a:ln/>
          <a:effectLst>
            <a:outerShdw sx="100000" sy="100000" kx="0" ky="0" algn="bl" rotWithShape="0" blurRad="152400" dist="25400" dir="5400000">
              <a:srgbClr val="8FA0B8">
                <a:alpha val="20000"/>
              </a:srgbClr>
            </a:outerShdw>
          </a:effectLst>
        </p:spPr>
      </p:sp>
      <p:sp>
        <p:nvSpPr>
          <p:cNvPr id="18" name="Text 16"/>
          <p:cNvSpPr txBox="1"/>
          <p:nvPr/>
        </p:nvSpPr>
        <p:spPr>
          <a:xfrm>
            <a:off x="1920240" y="5440680"/>
            <a:ext cx="2651760" cy="7132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Actionable findings</a:t>
            </a:r>
            <a:endParaRPr lang="en-US" sz="1300" dirty="0"/>
          </a:p>
        </p:txBody>
      </p:sp>
      <p:sp>
        <p:nvSpPr>
          <p:cNvPr id="19" name="Shape 17"/>
          <p:cNvSpPr/>
          <p:nvPr/>
        </p:nvSpPr>
        <p:spPr>
          <a:xfrm>
            <a:off x="6400800" y="1783080"/>
            <a:ext cx="5239512" cy="1417320"/>
          </a:xfrm>
          <a:prstGeom prst="roundRect">
            <a:avLst>
              <a:gd name="adj" fmla="val 5161"/>
            </a:avLst>
          </a:prstGeom>
          <a:solidFill>
            <a:srgbClr val="00175A"/>
          </a:solidFill>
          <a:ln/>
          <a:effectLst>
            <a:outerShdw sx="100000" sy="100000" kx="0" ky="0" algn="bl" rotWithShape="0" blurRad="152400" dist="25400" dir="5400000">
              <a:srgbClr val="8FA0B8">
                <a:alpha val="20000"/>
              </a:srgbClr>
            </a:outerShdw>
          </a:effectLst>
        </p:spPr>
      </p:sp>
      <p:sp>
        <p:nvSpPr>
          <p:cNvPr id="20" name="Text 18"/>
          <p:cNvSpPr txBox="1"/>
          <p:nvPr/>
        </p:nvSpPr>
        <p:spPr>
          <a:xfrm>
            <a:off x="6693408" y="1783080"/>
            <a:ext cx="4663440" cy="1417320"/>
          </a:xfrm>
          <a:prstGeom prst="rect">
            <a:avLst/>
          </a:prstGeom>
          <a:noFill/>
          <a:ln/>
        </p:spPr>
        <p:txBody>
          <a:bodyPr wrap="square" lIns="0" tIns="0" rIns="0" bIns="0" rtlCol="0" anchor="ctr"/>
          <a:lstStyle/>
          <a:p>
            <a:pPr indent="0" marL="0">
              <a:lnSpc>
                <a:spcPct val="115000"/>
              </a:lnSpc>
              <a:buNone/>
            </a:pPr>
            <a:r>
              <a:rPr lang="en-US" sz="1700" b="1" dirty="0">
                <a:solidFill>
                  <a:srgbClr val="FFFFFF"/>
                </a:solidFill>
                <a:latin typeface="Cambria" pitchFamily="34" charset="0"/>
                <a:ea typeface="Cambria" pitchFamily="34" charset="-122"/>
                <a:cs typeface="Cambria" pitchFamily="34" charset="-120"/>
              </a:rPr>
              <a:t>The system that finds an issue is not the final authority on whether the issue should be delivered.</a:t>
            </a:r>
            <a:endParaRPr lang="en-US" sz="1700" dirty="0"/>
          </a:p>
        </p:txBody>
      </p:sp>
      <p:sp>
        <p:nvSpPr>
          <p:cNvPr id="21" name="Text 19"/>
          <p:cNvSpPr txBox="1"/>
          <p:nvPr/>
        </p:nvSpPr>
        <p:spPr>
          <a:xfrm>
            <a:off x="6400800" y="3401568"/>
            <a:ext cx="5120640" cy="548640"/>
          </a:xfrm>
          <a:prstGeom prst="rect">
            <a:avLst/>
          </a:prstGeom>
          <a:noFill/>
          <a:ln/>
        </p:spPr>
        <p:txBody>
          <a:bodyPr wrap="square" lIns="0" tIns="0" rIns="0" bIns="0" rtlCol="0" anchor="ctr"/>
          <a:lstStyle/>
          <a:p>
            <a:pPr indent="0" marL="0">
              <a:lnSpc>
                <a:spcPct val="115000"/>
              </a:lnSpc>
              <a:buNone/>
            </a:pPr>
            <a:r>
              <a:rPr lang="en-US" sz="1250" dirty="0">
                <a:solidFill>
                  <a:srgbClr val="53565A"/>
                </a:solidFill>
                <a:latin typeface="Calibri" pitchFamily="34" charset="0"/>
                <a:ea typeface="Calibri" pitchFamily="34" charset="-122"/>
                <a:cs typeface="Calibri" pitchFamily="34" charset="-120"/>
              </a:rPr>
              <a:t>Before a finding is delivered, a separate step tests whether it survives scrutiny. This is designed to reduce:</a:t>
            </a:r>
            <a:endParaRPr lang="en-US" sz="1250" dirty="0"/>
          </a:p>
        </p:txBody>
      </p:sp>
      <p:sp>
        <p:nvSpPr>
          <p:cNvPr id="22" name="Shape 20"/>
          <p:cNvSpPr/>
          <p:nvPr/>
        </p:nvSpPr>
        <p:spPr>
          <a:xfrm rot="5400000">
            <a:off x="6419088" y="4096512"/>
            <a:ext cx="118872" cy="137160"/>
          </a:xfrm>
          <a:prstGeom prst="triangle">
            <a:avLst/>
          </a:prstGeom>
          <a:solidFill>
            <a:srgbClr val="A5793A"/>
          </a:solidFill>
          <a:ln/>
        </p:spPr>
      </p:sp>
      <p:sp>
        <p:nvSpPr>
          <p:cNvPr id="23" name="Text 21"/>
          <p:cNvSpPr txBox="1"/>
          <p:nvPr/>
        </p:nvSpPr>
        <p:spPr>
          <a:xfrm>
            <a:off x="6675120" y="4014216"/>
            <a:ext cx="4937760" cy="365760"/>
          </a:xfrm>
          <a:prstGeom prst="rect">
            <a:avLst/>
          </a:prstGeom>
          <a:noFill/>
          <a:ln/>
        </p:spPr>
        <p:txBody>
          <a:bodyPr wrap="square" lIns="0" tIns="0" rIns="0" bIns="0" rtlCol="0" anchor="t"/>
          <a:lstStyle/>
          <a:p>
            <a:pPr indent="0" marL="0">
              <a:lnSpc>
                <a:spcPct val="112000"/>
              </a:lnSpc>
              <a:buNone/>
            </a:pPr>
            <a:r>
              <a:rPr lang="en-US" sz="1200" dirty="0">
                <a:solidFill>
                  <a:srgbClr val="1B2A44"/>
                </a:solidFill>
                <a:latin typeface="Calibri" pitchFamily="34" charset="0"/>
                <a:ea typeface="Calibri" pitchFamily="34" charset="-122"/>
                <a:cs typeface="Calibri" pitchFamily="34" charset="-120"/>
              </a:rPr>
              <a:t>Duplicate reports of a single defect</a:t>
            </a:r>
            <a:endParaRPr lang="en-US" sz="1200" dirty="0"/>
          </a:p>
        </p:txBody>
      </p:sp>
      <p:sp>
        <p:nvSpPr>
          <p:cNvPr id="24" name="Shape 22"/>
          <p:cNvSpPr/>
          <p:nvPr/>
        </p:nvSpPr>
        <p:spPr>
          <a:xfrm rot="5400000">
            <a:off x="6419088" y="4517136"/>
            <a:ext cx="118872" cy="137160"/>
          </a:xfrm>
          <a:prstGeom prst="triangle">
            <a:avLst/>
          </a:prstGeom>
          <a:solidFill>
            <a:srgbClr val="A5793A"/>
          </a:solidFill>
          <a:ln/>
        </p:spPr>
      </p:sp>
      <p:sp>
        <p:nvSpPr>
          <p:cNvPr id="25" name="Text 23"/>
          <p:cNvSpPr txBox="1"/>
          <p:nvPr/>
        </p:nvSpPr>
        <p:spPr>
          <a:xfrm>
            <a:off x="6675120" y="4434840"/>
            <a:ext cx="4937760" cy="365760"/>
          </a:xfrm>
          <a:prstGeom prst="rect">
            <a:avLst/>
          </a:prstGeom>
          <a:noFill/>
          <a:ln/>
        </p:spPr>
        <p:txBody>
          <a:bodyPr wrap="square" lIns="0" tIns="0" rIns="0" bIns="0" rtlCol="0" anchor="t"/>
          <a:lstStyle/>
          <a:p>
            <a:pPr indent="0" marL="0">
              <a:lnSpc>
                <a:spcPct val="112000"/>
              </a:lnSpc>
              <a:buNone/>
            </a:pPr>
            <a:r>
              <a:rPr lang="en-US" sz="1200" dirty="0">
                <a:solidFill>
                  <a:srgbClr val="1B2A44"/>
                </a:solidFill>
                <a:latin typeface="Calibri" pitchFamily="34" charset="0"/>
                <a:ea typeface="Calibri" pitchFamily="34" charset="-122"/>
                <a:cs typeface="Calibri" pitchFamily="34" charset="-120"/>
              </a:rPr>
              <a:t>Technically correct but irrelevant observations</a:t>
            </a:r>
            <a:endParaRPr lang="en-US" sz="1200" dirty="0"/>
          </a:p>
        </p:txBody>
      </p:sp>
      <p:sp>
        <p:nvSpPr>
          <p:cNvPr id="26" name="Shape 24"/>
          <p:cNvSpPr/>
          <p:nvPr/>
        </p:nvSpPr>
        <p:spPr>
          <a:xfrm rot="5400000">
            <a:off x="6419088" y="4937760"/>
            <a:ext cx="118872" cy="137160"/>
          </a:xfrm>
          <a:prstGeom prst="triangle">
            <a:avLst/>
          </a:prstGeom>
          <a:solidFill>
            <a:srgbClr val="A5793A"/>
          </a:solidFill>
          <a:ln/>
        </p:spPr>
      </p:sp>
      <p:sp>
        <p:nvSpPr>
          <p:cNvPr id="27" name="Text 25"/>
          <p:cNvSpPr txBox="1"/>
          <p:nvPr/>
        </p:nvSpPr>
        <p:spPr>
          <a:xfrm>
            <a:off x="6675120" y="4855464"/>
            <a:ext cx="4937760" cy="365760"/>
          </a:xfrm>
          <a:prstGeom prst="rect">
            <a:avLst/>
          </a:prstGeom>
          <a:noFill/>
          <a:ln/>
        </p:spPr>
        <p:txBody>
          <a:bodyPr wrap="square" lIns="0" tIns="0" rIns="0" bIns="0" rtlCol="0" anchor="t"/>
          <a:lstStyle/>
          <a:p>
            <a:pPr indent="0" marL="0">
              <a:lnSpc>
                <a:spcPct val="112000"/>
              </a:lnSpc>
              <a:buNone/>
            </a:pPr>
            <a:r>
              <a:rPr lang="en-US" sz="1200" dirty="0">
                <a:solidFill>
                  <a:srgbClr val="1B2A44"/>
                </a:solidFill>
                <a:latin typeface="Calibri" pitchFamily="34" charset="0"/>
                <a:ea typeface="Calibri" pitchFamily="34" charset="-122"/>
                <a:cs typeface="Calibri" pitchFamily="34" charset="-120"/>
              </a:rPr>
              <a:t>Overstated severity</a:t>
            </a:r>
            <a:endParaRPr lang="en-US" sz="1200" dirty="0"/>
          </a:p>
        </p:txBody>
      </p:sp>
      <p:sp>
        <p:nvSpPr>
          <p:cNvPr id="28" name="Shape 26"/>
          <p:cNvSpPr/>
          <p:nvPr/>
        </p:nvSpPr>
        <p:spPr>
          <a:xfrm rot="5400000">
            <a:off x="6419088" y="5358384"/>
            <a:ext cx="118872" cy="137160"/>
          </a:xfrm>
          <a:prstGeom prst="triangle">
            <a:avLst/>
          </a:prstGeom>
          <a:solidFill>
            <a:srgbClr val="A5793A"/>
          </a:solidFill>
          <a:ln/>
        </p:spPr>
      </p:sp>
      <p:sp>
        <p:nvSpPr>
          <p:cNvPr id="29" name="Text 27"/>
          <p:cNvSpPr txBox="1"/>
          <p:nvPr/>
        </p:nvSpPr>
        <p:spPr>
          <a:xfrm>
            <a:off x="6675120" y="5276088"/>
            <a:ext cx="4937760" cy="365760"/>
          </a:xfrm>
          <a:prstGeom prst="rect">
            <a:avLst/>
          </a:prstGeom>
          <a:noFill/>
          <a:ln/>
        </p:spPr>
        <p:txBody>
          <a:bodyPr wrap="square" lIns="0" tIns="0" rIns="0" bIns="0" rtlCol="0" anchor="t"/>
          <a:lstStyle/>
          <a:p>
            <a:pPr indent="0" marL="0">
              <a:lnSpc>
                <a:spcPct val="112000"/>
              </a:lnSpc>
              <a:buNone/>
            </a:pPr>
            <a:r>
              <a:rPr lang="en-US" sz="1200" dirty="0">
                <a:solidFill>
                  <a:srgbClr val="1B2A44"/>
                </a:solidFill>
                <a:latin typeface="Calibri" pitchFamily="34" charset="0"/>
                <a:ea typeface="Calibri" pitchFamily="34" charset="-122"/>
                <a:cs typeface="Calibri" pitchFamily="34" charset="-120"/>
              </a:rPr>
              <a:t>Findings an attacker cannot realistically reach</a:t>
            </a:r>
            <a:endParaRPr lang="en-US" sz="1200" dirty="0"/>
          </a:p>
        </p:txBody>
      </p:sp>
      <p:sp>
        <p:nvSpPr>
          <p:cNvPr id="30" name="Shape 28"/>
          <p:cNvSpPr/>
          <p:nvPr/>
        </p:nvSpPr>
        <p:spPr>
          <a:xfrm rot="5400000">
            <a:off x="6419088" y="5779008"/>
            <a:ext cx="118872" cy="137160"/>
          </a:xfrm>
          <a:prstGeom prst="triangle">
            <a:avLst/>
          </a:prstGeom>
          <a:solidFill>
            <a:srgbClr val="A5793A"/>
          </a:solidFill>
          <a:ln/>
        </p:spPr>
      </p:sp>
      <p:sp>
        <p:nvSpPr>
          <p:cNvPr id="31" name="Text 29"/>
          <p:cNvSpPr txBox="1"/>
          <p:nvPr/>
        </p:nvSpPr>
        <p:spPr>
          <a:xfrm>
            <a:off x="6675120" y="5696712"/>
            <a:ext cx="4937760" cy="365760"/>
          </a:xfrm>
          <a:prstGeom prst="rect">
            <a:avLst/>
          </a:prstGeom>
          <a:noFill/>
          <a:ln/>
        </p:spPr>
        <p:txBody>
          <a:bodyPr wrap="square" lIns="0" tIns="0" rIns="0" bIns="0" rtlCol="0" anchor="t"/>
          <a:lstStyle/>
          <a:p>
            <a:pPr indent="0" marL="0">
              <a:lnSpc>
                <a:spcPct val="112000"/>
              </a:lnSpc>
              <a:buNone/>
            </a:pPr>
            <a:r>
              <a:rPr lang="en-US" sz="1200" dirty="0">
                <a:solidFill>
                  <a:srgbClr val="1B2A44"/>
                </a:solidFill>
                <a:latin typeface="Calibri" pitchFamily="34" charset="0"/>
                <a:ea typeface="Calibri" pitchFamily="34" charset="-122"/>
                <a:cs typeface="Calibri" pitchFamily="34" charset="-120"/>
              </a:rPr>
              <a:t>Weak conclusions generated by an AI in isolation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Shape 0"/>
          <p:cNvSpPr/>
          <p:nvPr/>
        </p:nvSpPr>
        <p:spPr>
          <a:xfrm rot="5400000">
            <a:off x="566928" y="475488"/>
            <a:ext cx="128016" cy="146304"/>
          </a:xfrm>
          <a:prstGeom prst="triangle">
            <a:avLst/>
          </a:prstGeom>
          <a:solidFill>
            <a:srgbClr val="006FCF"/>
          </a:solidFill>
          <a:ln/>
        </p:spPr>
      </p:sp>
      <p:sp>
        <p:nvSpPr>
          <p:cNvPr id="3" name="Text 1"/>
          <p:cNvSpPr txBox="1"/>
          <p:nvPr/>
        </p:nvSpPr>
        <p:spPr>
          <a:xfrm>
            <a:off x="777240" y="402336"/>
            <a:ext cx="7315200" cy="292608"/>
          </a:xfrm>
          <a:prstGeom prst="rect">
            <a:avLst/>
          </a:prstGeom>
          <a:noFill/>
          <a:ln/>
        </p:spPr>
        <p:txBody>
          <a:bodyPr wrap="square" lIns="0" tIns="0" rIns="0" bIns="0" rtlCol="0" anchor="ctr"/>
          <a:lstStyle/>
          <a:p>
            <a:pPr indent="0" marL="0">
              <a:buNone/>
            </a:pPr>
            <a:r>
              <a:rPr lang="en-US" sz="1150" b="1" spc="160" kern="0" dirty="0">
                <a:solidFill>
                  <a:srgbClr val="006FCF"/>
                </a:solidFill>
                <a:latin typeface="Calibri" pitchFamily="34" charset="0"/>
                <a:ea typeface="Calibri" pitchFamily="34" charset="-122"/>
                <a:cs typeface="Calibri" pitchFamily="34" charset="-120"/>
              </a:rPr>
              <a:t>05  WHY PRISM CAN COST LESS</a:t>
            </a:r>
            <a:endParaRPr lang="en-US" sz="1150" dirty="0"/>
          </a:p>
        </p:txBody>
      </p:sp>
      <p:sp>
        <p:nvSpPr>
          <p:cNvPr id="4" name="Text 2"/>
          <p:cNvSpPr txBox="1"/>
          <p:nvPr/>
        </p:nvSpPr>
        <p:spPr>
          <a:xfrm>
            <a:off x="548640" y="731520"/>
            <a:ext cx="11155680" cy="566928"/>
          </a:xfrm>
          <a:prstGeom prst="rect">
            <a:avLst/>
          </a:prstGeom>
          <a:noFill/>
          <a:ln/>
        </p:spPr>
        <p:txBody>
          <a:bodyPr wrap="square" lIns="0" tIns="0" rIns="0" bIns="0" rtlCol="0" anchor="t"/>
          <a:lstStyle/>
          <a:p>
            <a:pPr indent="0" marL="0">
              <a:buNone/>
            </a:pPr>
            <a:r>
              <a:rPr lang="en-US" sz="3100" b="1" dirty="0">
                <a:solidFill>
                  <a:srgbClr val="1B2A44"/>
                </a:solidFill>
                <a:latin typeface="Cambria" pitchFamily="34" charset="0"/>
                <a:ea typeface="Cambria" pitchFamily="34" charset="-122"/>
                <a:cs typeface="Cambria" pitchFamily="34" charset="-120"/>
              </a:rPr>
              <a:t>Progressive investment, not uniform spend</a:t>
            </a:r>
            <a:endParaRPr lang="en-US" sz="3100" dirty="0"/>
          </a:p>
        </p:txBody>
      </p:sp>
      <p:sp>
        <p:nvSpPr>
          <p:cNvPr id="5" name="Text 3"/>
          <p:cNvSpPr txBox="1"/>
          <p:nvPr/>
        </p:nvSpPr>
        <p:spPr>
          <a:xfrm>
            <a:off x="548640" y="1298448"/>
            <a:ext cx="10607040" cy="310896"/>
          </a:xfrm>
          <a:prstGeom prst="rect">
            <a:avLst/>
          </a:prstGeom>
          <a:noFill/>
          <a:ln/>
        </p:spPr>
        <p:txBody>
          <a:bodyPr wrap="square" lIns="0" tIns="0" rIns="0" bIns="0" rtlCol="0" anchor="ctr"/>
          <a:lstStyle/>
          <a:p>
            <a:pPr indent="0" marL="0">
              <a:buNone/>
            </a:pPr>
            <a:r>
              <a:rPr lang="en-US" sz="1400" dirty="0">
                <a:solidFill>
                  <a:srgbClr val="53565A"/>
                </a:solidFill>
                <a:latin typeface="Calibri" pitchFamily="34" charset="0"/>
                <a:ea typeface="Calibri" pitchFamily="34" charset="-122"/>
                <a:cs typeface="Calibri" pitchFamily="34" charset="-120"/>
              </a:rPr>
              <a:t>Expensive intelligence is applied only where it changes the decision.</a:t>
            </a:r>
            <a:endParaRPr lang="en-US" sz="1400" dirty="0"/>
          </a:p>
        </p:txBody>
      </p:sp>
      <p:sp>
        <p:nvSpPr>
          <p:cNvPr id="6" name="Shape 4"/>
          <p:cNvSpPr/>
          <p:nvPr/>
        </p:nvSpPr>
        <p:spPr>
          <a:xfrm>
            <a:off x="594360" y="1783080"/>
            <a:ext cx="5669280" cy="749808"/>
          </a:xfrm>
          <a:prstGeom prst="roundRect">
            <a:avLst>
              <a:gd name="adj" fmla="val 8537"/>
            </a:avLst>
          </a:prstGeom>
          <a:solidFill>
            <a:srgbClr val="DCEAF8"/>
          </a:solidFill>
          <a:ln/>
          <a:effectLst>
            <a:outerShdw sx="100000" sy="100000" kx="0" ky="0" algn="bl" rotWithShape="0" blurRad="152400" dist="25400" dir="5400000">
              <a:srgbClr val="8FA0B8">
                <a:alpha val="20000"/>
              </a:srgbClr>
            </a:outerShdw>
          </a:effectLst>
        </p:spPr>
      </p:sp>
      <p:sp>
        <p:nvSpPr>
          <p:cNvPr id="7" name="Text 5"/>
          <p:cNvSpPr txBox="1"/>
          <p:nvPr/>
        </p:nvSpPr>
        <p:spPr>
          <a:xfrm>
            <a:off x="868680" y="1783080"/>
            <a:ext cx="5212080" cy="749808"/>
          </a:xfrm>
          <a:prstGeom prst="rect">
            <a:avLst/>
          </a:prstGeom>
          <a:noFill/>
          <a:ln/>
        </p:spPr>
        <p:txBody>
          <a:bodyPr wrap="square" lIns="0" tIns="0" rIns="0" bIns="0" rtlCol="0" anchor="ctr"/>
          <a:lstStyle/>
          <a:p>
            <a:pPr indent="0" marL="0">
              <a:lnSpc>
                <a:spcPct val="105000"/>
              </a:lnSpc>
              <a:buNone/>
            </a:pPr>
            <a:r>
              <a:rPr lang="en-US" sz="1250" b="1" dirty="0">
                <a:solidFill>
                  <a:srgbClr val="1B2A44"/>
                </a:solidFill>
                <a:latin typeface="Calibri" pitchFamily="34" charset="0"/>
                <a:ea typeface="Calibri" pitchFamily="34" charset="-122"/>
                <a:cs typeface="Calibri" pitchFamily="34" charset="-120"/>
              </a:rPr>
              <a:t>Cheap system understanding</a:t>
            </a:r>
            <a:endParaRPr lang="en-US" sz="1250" dirty="0"/>
          </a:p>
          <a:p>
            <a:pPr indent="0" marL="0">
              <a:lnSpc>
                <a:spcPct val="105000"/>
              </a:lnSpc>
              <a:buNone/>
            </a:pPr>
            <a:r>
              <a:rPr lang="en-US" sz="1000" dirty="0">
                <a:solidFill>
                  <a:srgbClr val="53565A"/>
                </a:solidFill>
                <a:latin typeface="Calibri" pitchFamily="34" charset="0"/>
                <a:ea typeface="Calibri" pitchFamily="34" charset="-122"/>
                <a:cs typeface="Calibri" pitchFamily="34" charset="-120"/>
              </a:rPr>
              <a:t>Every file</a:t>
            </a:r>
            <a:endParaRPr lang="en-US" sz="1250" dirty="0"/>
          </a:p>
        </p:txBody>
      </p:sp>
      <p:sp>
        <p:nvSpPr>
          <p:cNvPr id="8" name="Shape 6"/>
          <p:cNvSpPr/>
          <p:nvPr/>
        </p:nvSpPr>
        <p:spPr>
          <a:xfrm rot="10800000">
            <a:off x="960120" y="2560320"/>
            <a:ext cx="150876" cy="137160"/>
          </a:xfrm>
          <a:prstGeom prst="triangle">
            <a:avLst/>
          </a:prstGeom>
          <a:solidFill>
            <a:srgbClr val="8C959E"/>
          </a:solidFill>
          <a:ln/>
        </p:spPr>
      </p:sp>
      <p:sp>
        <p:nvSpPr>
          <p:cNvPr id="9" name="Shape 7"/>
          <p:cNvSpPr/>
          <p:nvPr/>
        </p:nvSpPr>
        <p:spPr>
          <a:xfrm>
            <a:off x="594360" y="2697480"/>
            <a:ext cx="4572000" cy="749808"/>
          </a:xfrm>
          <a:prstGeom prst="roundRect">
            <a:avLst>
              <a:gd name="adj" fmla="val 8537"/>
            </a:avLst>
          </a:prstGeom>
          <a:solidFill>
            <a:srgbClr val="A9CFEE"/>
          </a:solidFill>
          <a:ln/>
          <a:effectLst>
            <a:outerShdw sx="100000" sy="100000" kx="0" ky="0" algn="bl" rotWithShape="0" blurRad="152400" dist="25400" dir="5400000">
              <a:srgbClr val="8FA0B8">
                <a:alpha val="20000"/>
              </a:srgbClr>
            </a:outerShdw>
          </a:effectLst>
        </p:spPr>
      </p:sp>
      <p:sp>
        <p:nvSpPr>
          <p:cNvPr id="10" name="Text 8"/>
          <p:cNvSpPr txBox="1"/>
          <p:nvPr/>
        </p:nvSpPr>
        <p:spPr>
          <a:xfrm>
            <a:off x="868680" y="2697480"/>
            <a:ext cx="4114800" cy="749808"/>
          </a:xfrm>
          <a:prstGeom prst="rect">
            <a:avLst/>
          </a:prstGeom>
          <a:noFill/>
          <a:ln/>
        </p:spPr>
        <p:txBody>
          <a:bodyPr wrap="square" lIns="0" tIns="0" rIns="0" bIns="0" rtlCol="0" anchor="ctr"/>
          <a:lstStyle/>
          <a:p>
            <a:pPr indent="0" marL="0">
              <a:lnSpc>
                <a:spcPct val="105000"/>
              </a:lnSpc>
              <a:buNone/>
            </a:pPr>
            <a:r>
              <a:rPr lang="en-US" sz="1250" b="1" dirty="0">
                <a:solidFill>
                  <a:srgbClr val="1B2A44"/>
                </a:solidFill>
                <a:latin typeface="Calibri" pitchFamily="34" charset="0"/>
                <a:ea typeface="Calibri" pitchFamily="34" charset="-122"/>
                <a:cs typeface="Calibri" pitchFamily="34" charset="-120"/>
              </a:rPr>
              <a:t>Broad inexpensive investigation</a:t>
            </a:r>
            <a:endParaRPr lang="en-US" sz="1250" dirty="0"/>
          </a:p>
          <a:p>
            <a:pPr indent="0" marL="0">
              <a:lnSpc>
                <a:spcPct val="105000"/>
              </a:lnSpc>
              <a:buNone/>
            </a:pPr>
            <a:r>
              <a:rPr lang="en-US" sz="1000" dirty="0">
                <a:solidFill>
                  <a:srgbClr val="2C4A73"/>
                </a:solidFill>
                <a:latin typeface="Calibri" pitchFamily="34" charset="0"/>
                <a:ea typeface="Calibri" pitchFamily="34" charset="-122"/>
                <a:cs typeface="Calibri" pitchFamily="34" charset="-120"/>
              </a:rPr>
              <a:t>Many candidates</a:t>
            </a:r>
            <a:endParaRPr lang="en-US" sz="1250" dirty="0"/>
          </a:p>
        </p:txBody>
      </p:sp>
      <p:sp>
        <p:nvSpPr>
          <p:cNvPr id="11" name="Shape 9"/>
          <p:cNvSpPr/>
          <p:nvPr/>
        </p:nvSpPr>
        <p:spPr>
          <a:xfrm rot="10800000">
            <a:off x="960120" y="3474720"/>
            <a:ext cx="150876" cy="137160"/>
          </a:xfrm>
          <a:prstGeom prst="triangle">
            <a:avLst/>
          </a:prstGeom>
          <a:solidFill>
            <a:srgbClr val="8C959E"/>
          </a:solidFill>
          <a:ln/>
        </p:spPr>
      </p:sp>
      <p:sp>
        <p:nvSpPr>
          <p:cNvPr id="12" name="Shape 10"/>
          <p:cNvSpPr/>
          <p:nvPr/>
        </p:nvSpPr>
        <p:spPr>
          <a:xfrm>
            <a:off x="594360" y="3611880"/>
            <a:ext cx="3749040" cy="749808"/>
          </a:xfrm>
          <a:prstGeom prst="roundRect">
            <a:avLst>
              <a:gd name="adj" fmla="val 8537"/>
            </a:avLst>
          </a:prstGeom>
          <a:solidFill>
            <a:srgbClr val="006FCF"/>
          </a:solidFill>
          <a:ln/>
          <a:effectLst>
            <a:outerShdw sx="100000" sy="100000" kx="0" ky="0" algn="bl" rotWithShape="0" blurRad="152400" dist="25400" dir="5400000">
              <a:srgbClr val="8FA0B8">
                <a:alpha val="20000"/>
              </a:srgbClr>
            </a:outerShdw>
          </a:effectLst>
        </p:spPr>
      </p:sp>
      <p:sp>
        <p:nvSpPr>
          <p:cNvPr id="13" name="Text 11"/>
          <p:cNvSpPr txBox="1"/>
          <p:nvPr/>
        </p:nvSpPr>
        <p:spPr>
          <a:xfrm>
            <a:off x="868680" y="3611880"/>
            <a:ext cx="3291840" cy="749808"/>
          </a:xfrm>
          <a:prstGeom prst="rect">
            <a:avLst/>
          </a:prstGeom>
          <a:noFill/>
          <a:ln/>
        </p:spPr>
        <p:txBody>
          <a:bodyPr wrap="square" lIns="0" tIns="0" rIns="0" bIns="0" rtlCol="0" anchor="ctr"/>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Stronger model on promising findings</a:t>
            </a:r>
            <a:endParaRPr lang="en-US" sz="1250" dirty="0"/>
          </a:p>
          <a:p>
            <a:pPr indent="0" marL="0">
              <a:lnSpc>
                <a:spcPct val="105000"/>
              </a:lnSpc>
              <a:buNone/>
            </a:pPr>
            <a:r>
              <a:rPr lang="en-US" sz="1000" dirty="0">
                <a:solidFill>
                  <a:srgbClr val="CFE3F8"/>
                </a:solidFill>
                <a:latin typeface="Calibri" pitchFamily="34" charset="0"/>
                <a:ea typeface="Calibri" pitchFamily="34" charset="-122"/>
                <a:cs typeface="Calibri" pitchFamily="34" charset="-120"/>
              </a:rPr>
              <a:t>Fewer items</a:t>
            </a:r>
            <a:endParaRPr lang="en-US" sz="1250" dirty="0"/>
          </a:p>
        </p:txBody>
      </p:sp>
      <p:sp>
        <p:nvSpPr>
          <p:cNvPr id="14" name="Shape 12"/>
          <p:cNvSpPr/>
          <p:nvPr/>
        </p:nvSpPr>
        <p:spPr>
          <a:xfrm rot="10800000">
            <a:off x="960120" y="4389120"/>
            <a:ext cx="150876" cy="137160"/>
          </a:xfrm>
          <a:prstGeom prst="triangle">
            <a:avLst/>
          </a:prstGeom>
          <a:solidFill>
            <a:srgbClr val="8C959E"/>
          </a:solidFill>
          <a:ln/>
        </p:spPr>
      </p:sp>
      <p:sp>
        <p:nvSpPr>
          <p:cNvPr id="15" name="Shape 13"/>
          <p:cNvSpPr/>
          <p:nvPr/>
        </p:nvSpPr>
        <p:spPr>
          <a:xfrm>
            <a:off x="594360" y="4526280"/>
            <a:ext cx="2834640" cy="749808"/>
          </a:xfrm>
          <a:prstGeom prst="roundRect">
            <a:avLst>
              <a:gd name="adj" fmla="val 8537"/>
            </a:avLst>
          </a:prstGeom>
          <a:solidFill>
            <a:srgbClr val="00175A"/>
          </a:solidFill>
          <a:ln/>
          <a:effectLst>
            <a:outerShdw sx="100000" sy="100000" kx="0" ky="0" algn="bl" rotWithShape="0" blurRad="152400" dist="25400" dir="5400000">
              <a:srgbClr val="8FA0B8">
                <a:alpha val="20000"/>
              </a:srgbClr>
            </a:outerShdw>
          </a:effectLst>
        </p:spPr>
      </p:sp>
      <p:sp>
        <p:nvSpPr>
          <p:cNvPr id="16" name="Text 14"/>
          <p:cNvSpPr txBox="1"/>
          <p:nvPr/>
        </p:nvSpPr>
        <p:spPr>
          <a:xfrm>
            <a:off x="868680" y="4526280"/>
            <a:ext cx="2377440" cy="749808"/>
          </a:xfrm>
          <a:prstGeom prst="rect">
            <a:avLst/>
          </a:prstGeom>
          <a:noFill/>
          <a:ln/>
        </p:spPr>
        <p:txBody>
          <a:bodyPr wrap="square" lIns="0" tIns="0" rIns="0" bIns="0" rtlCol="0" anchor="ctr"/>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Runtime validation</a:t>
            </a:r>
            <a:endParaRPr lang="en-US" sz="1250" dirty="0"/>
          </a:p>
          <a:p>
            <a:pPr indent="0" marL="0">
              <a:lnSpc>
                <a:spcPct val="105000"/>
              </a:lnSpc>
              <a:buNone/>
            </a:pPr>
            <a:r>
              <a:rPr lang="en-US" sz="1000" dirty="0">
                <a:solidFill>
                  <a:srgbClr val="A9C4E2"/>
                </a:solidFill>
                <a:latin typeface="Calibri" pitchFamily="34" charset="0"/>
                <a:ea typeface="Calibri" pitchFamily="34" charset="-122"/>
                <a:cs typeface="Calibri" pitchFamily="34" charset="-120"/>
              </a:rPr>
              <a:t>Few priority findings</a:t>
            </a:r>
            <a:endParaRPr lang="en-US" sz="1250" dirty="0"/>
          </a:p>
        </p:txBody>
      </p:sp>
      <p:sp>
        <p:nvSpPr>
          <p:cNvPr id="17" name="Text 15"/>
          <p:cNvSpPr txBox="1"/>
          <p:nvPr/>
        </p:nvSpPr>
        <p:spPr>
          <a:xfrm>
            <a:off x="594360" y="5468112"/>
            <a:ext cx="5669280" cy="731520"/>
          </a:xfrm>
          <a:prstGeom prst="rect">
            <a:avLst/>
          </a:prstGeom>
          <a:noFill/>
          <a:ln/>
        </p:spPr>
        <p:txBody>
          <a:bodyPr wrap="square" lIns="0" tIns="0" rIns="0" bIns="0" rtlCol="0" anchor="ctr"/>
          <a:lstStyle/>
          <a:p>
            <a:pPr indent="0" marL="0">
              <a:lnSpc>
                <a:spcPct val="120000"/>
              </a:lnSpc>
              <a:buNone/>
            </a:pPr>
            <a:r>
              <a:rPr lang="en-US" sz="1150" i="1" dirty="0">
                <a:solidFill>
                  <a:srgbClr val="00175A"/>
                </a:solidFill>
                <a:latin typeface="Calibri" pitchFamily="34" charset="0"/>
                <a:ea typeface="Calibri" pitchFamily="34" charset="-122"/>
                <a:cs typeface="Calibri" pitchFamily="34" charset="-120"/>
              </a:rPr>
              <a:t>PRISM spends security research dollars the way a good engineering organization spends human expert time. Screen broadly first, then invest deeply where the evidence warrants it.</a:t>
            </a:r>
            <a:endParaRPr lang="en-US" sz="1150" dirty="0"/>
          </a:p>
        </p:txBody>
      </p:sp>
      <p:sp>
        <p:nvSpPr>
          <p:cNvPr id="18" name="Shape 16"/>
          <p:cNvSpPr/>
          <p:nvPr/>
        </p:nvSpPr>
        <p:spPr>
          <a:xfrm>
            <a:off x="6537960" y="1783080"/>
            <a:ext cx="5102352" cy="914400"/>
          </a:xfrm>
          <a:prstGeom prst="roundRect">
            <a:avLst>
              <a:gd name="adj" fmla="val 8000"/>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19" name="Text 17"/>
          <p:cNvSpPr txBox="1"/>
          <p:nvPr/>
        </p:nvSpPr>
        <p:spPr>
          <a:xfrm>
            <a:off x="6812280" y="1783080"/>
            <a:ext cx="4572000" cy="914400"/>
          </a:xfrm>
          <a:prstGeom prst="rect">
            <a:avLst/>
          </a:prstGeom>
          <a:noFill/>
          <a:ln/>
        </p:spPr>
        <p:txBody>
          <a:bodyPr wrap="square" lIns="0" tIns="0" rIns="0" bIns="0" rtlCol="0" anchor="ctr"/>
          <a:lstStyle/>
          <a:p>
            <a:pPr indent="0" marL="0">
              <a:lnSpc>
                <a:spcPct val="112000"/>
              </a:lnSpc>
              <a:buNone/>
            </a:pPr>
            <a:r>
              <a:rPr lang="en-US" sz="1300" b="1" dirty="0">
                <a:solidFill>
                  <a:srgbClr val="1B2A44"/>
                </a:solidFill>
                <a:latin typeface="Calibri" pitchFamily="34" charset="0"/>
                <a:ea typeface="Calibri" pitchFamily="34" charset="-122"/>
                <a:cs typeface="Calibri" pitchFamily="34" charset="-120"/>
              </a:rPr>
              <a:t>Model routing</a:t>
            </a:r>
            <a:endParaRPr lang="en-US" sz="1300" dirty="0"/>
          </a:p>
          <a:p>
            <a:pPr indent="0" marL="0">
              <a:lnSpc>
                <a:spcPct val="112000"/>
              </a:lnSpc>
              <a:buNone/>
            </a:pPr>
            <a:r>
              <a:rPr lang="en-US" sz="1100" dirty="0">
                <a:solidFill>
                  <a:srgbClr val="53565A"/>
                </a:solidFill>
                <a:latin typeface="Calibri" pitchFamily="34" charset="0"/>
                <a:ea typeface="Calibri" pitchFamily="34" charset="-122"/>
                <a:cs typeface="Calibri" pitchFamily="34" charset="-120"/>
              </a:rPr>
              <a:t>A fast model handles broad work. A stronger model investigates difficult findings.</a:t>
            </a:r>
            <a:endParaRPr lang="en-US" sz="1300" dirty="0"/>
          </a:p>
        </p:txBody>
      </p:sp>
      <p:sp>
        <p:nvSpPr>
          <p:cNvPr id="20" name="Shape 18"/>
          <p:cNvSpPr/>
          <p:nvPr/>
        </p:nvSpPr>
        <p:spPr>
          <a:xfrm>
            <a:off x="6537960" y="2807208"/>
            <a:ext cx="5102352" cy="914400"/>
          </a:xfrm>
          <a:prstGeom prst="roundRect">
            <a:avLst>
              <a:gd name="adj" fmla="val 8000"/>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21" name="Text 19"/>
          <p:cNvSpPr txBox="1"/>
          <p:nvPr/>
        </p:nvSpPr>
        <p:spPr>
          <a:xfrm>
            <a:off x="6812280" y="2807208"/>
            <a:ext cx="4572000" cy="914400"/>
          </a:xfrm>
          <a:prstGeom prst="rect">
            <a:avLst/>
          </a:prstGeom>
          <a:noFill/>
          <a:ln/>
        </p:spPr>
        <p:txBody>
          <a:bodyPr wrap="square" lIns="0" tIns="0" rIns="0" bIns="0" rtlCol="0" anchor="ctr"/>
          <a:lstStyle/>
          <a:p>
            <a:pPr indent="0" marL="0">
              <a:lnSpc>
                <a:spcPct val="112000"/>
              </a:lnSpc>
              <a:buNone/>
            </a:pPr>
            <a:r>
              <a:rPr lang="en-US" sz="1300" b="1" dirty="0">
                <a:solidFill>
                  <a:srgbClr val="1B2A44"/>
                </a:solidFill>
                <a:latin typeface="Calibri" pitchFamily="34" charset="0"/>
                <a:ea typeface="Calibri" pitchFamily="34" charset="-122"/>
                <a:cs typeface="Calibri" pitchFamily="34" charset="-120"/>
              </a:rPr>
              <a:t>Selective escalation</a:t>
            </a:r>
            <a:endParaRPr lang="en-US" sz="1300" dirty="0"/>
          </a:p>
          <a:p>
            <a:pPr indent="0" marL="0">
              <a:lnSpc>
                <a:spcPct val="112000"/>
              </a:lnSpc>
              <a:buNone/>
            </a:pPr>
            <a:r>
              <a:rPr lang="en-US" sz="1100" dirty="0">
                <a:solidFill>
                  <a:srgbClr val="53565A"/>
                </a:solidFill>
                <a:latin typeface="Calibri" pitchFamily="34" charset="0"/>
                <a:ea typeface="Calibri" pitchFamily="34" charset="-122"/>
                <a:cs typeface="Calibri" pitchFamily="34" charset="-120"/>
              </a:rPr>
              <a:t>Not every file and not every candidate receives the maximum inference budget.</a:t>
            </a:r>
            <a:endParaRPr lang="en-US" sz="1300" dirty="0"/>
          </a:p>
        </p:txBody>
      </p:sp>
      <p:sp>
        <p:nvSpPr>
          <p:cNvPr id="22" name="Shape 20"/>
          <p:cNvSpPr/>
          <p:nvPr/>
        </p:nvSpPr>
        <p:spPr>
          <a:xfrm>
            <a:off x="6537960" y="3831336"/>
            <a:ext cx="5102352" cy="914400"/>
          </a:xfrm>
          <a:prstGeom prst="roundRect">
            <a:avLst>
              <a:gd name="adj" fmla="val 8000"/>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23" name="Text 21"/>
          <p:cNvSpPr txBox="1"/>
          <p:nvPr/>
        </p:nvSpPr>
        <p:spPr>
          <a:xfrm>
            <a:off x="6812280" y="3831336"/>
            <a:ext cx="4572000" cy="914400"/>
          </a:xfrm>
          <a:prstGeom prst="rect">
            <a:avLst/>
          </a:prstGeom>
          <a:noFill/>
          <a:ln/>
        </p:spPr>
        <p:txBody>
          <a:bodyPr wrap="square" lIns="0" tIns="0" rIns="0" bIns="0" rtlCol="0" anchor="ctr"/>
          <a:lstStyle/>
          <a:p>
            <a:pPr indent="0" marL="0">
              <a:lnSpc>
                <a:spcPct val="112000"/>
              </a:lnSpc>
              <a:buNone/>
            </a:pPr>
            <a:r>
              <a:rPr lang="en-US" sz="1300" b="1" dirty="0">
                <a:solidFill>
                  <a:srgbClr val="1B2A44"/>
                </a:solidFill>
                <a:latin typeface="Calibri" pitchFamily="34" charset="0"/>
                <a:ea typeface="Calibri" pitchFamily="34" charset="-122"/>
                <a:cs typeface="Calibri" pitchFamily="34" charset="-120"/>
              </a:rPr>
              <a:t>Root cause consolidation</a:t>
            </a:r>
            <a:endParaRPr lang="en-US" sz="1300" dirty="0"/>
          </a:p>
          <a:p>
            <a:pPr indent="0" marL="0">
              <a:lnSpc>
                <a:spcPct val="112000"/>
              </a:lnSpc>
              <a:buNone/>
            </a:pPr>
            <a:r>
              <a:rPr lang="en-US" sz="1100" dirty="0">
                <a:solidFill>
                  <a:srgbClr val="53565A"/>
                </a:solidFill>
                <a:latin typeface="Calibri" pitchFamily="34" charset="0"/>
                <a:ea typeface="Calibri" pitchFamily="34" charset="-122"/>
                <a:cs typeface="Calibri" pitchFamily="34" charset="-120"/>
              </a:rPr>
              <a:t>Observations from one defect are investigated and reported once, not repeatedly.</a:t>
            </a:r>
            <a:endParaRPr lang="en-US" sz="1300" dirty="0"/>
          </a:p>
        </p:txBody>
      </p:sp>
      <p:sp>
        <p:nvSpPr>
          <p:cNvPr id="24" name="Shape 22"/>
          <p:cNvSpPr/>
          <p:nvPr/>
        </p:nvSpPr>
        <p:spPr>
          <a:xfrm>
            <a:off x="6537960" y="4892040"/>
            <a:ext cx="5102352" cy="1051560"/>
          </a:xfrm>
          <a:prstGeom prst="roundRect">
            <a:avLst>
              <a:gd name="adj" fmla="val 6957"/>
            </a:avLst>
          </a:prstGeom>
          <a:solidFill>
            <a:srgbClr val="00175A"/>
          </a:solidFill>
          <a:ln/>
          <a:effectLst>
            <a:outerShdw sx="100000" sy="100000" kx="0" ky="0" algn="bl" rotWithShape="0" blurRad="152400" dist="25400" dir="5400000">
              <a:srgbClr val="8FA0B8">
                <a:alpha val="20000"/>
              </a:srgbClr>
            </a:outerShdw>
          </a:effectLst>
        </p:spPr>
      </p:sp>
      <p:sp>
        <p:nvSpPr>
          <p:cNvPr id="25" name="Text 23"/>
          <p:cNvSpPr txBox="1"/>
          <p:nvPr/>
        </p:nvSpPr>
        <p:spPr>
          <a:xfrm>
            <a:off x="6812280" y="4892040"/>
            <a:ext cx="4572000" cy="1051560"/>
          </a:xfrm>
          <a:prstGeom prst="rect">
            <a:avLst/>
          </a:prstGeom>
          <a:noFill/>
          <a:ln/>
        </p:spPr>
        <p:txBody>
          <a:bodyPr wrap="square" lIns="0" tIns="0" rIns="0" bIns="0" rtlCol="0" anchor="ctr"/>
          <a:lstStyle/>
          <a:p>
            <a:pPr indent="0" marL="0">
              <a:lnSpc>
                <a:spcPct val="120000"/>
              </a:lnSpc>
              <a:buNone/>
            </a:pPr>
            <a:r>
              <a:rPr lang="en-US" sz="1400" b="1" dirty="0">
                <a:solidFill>
                  <a:srgbClr val="FFFFFF"/>
                </a:solidFill>
                <a:latin typeface="Calibri" pitchFamily="34" charset="0"/>
                <a:ea typeface="Calibri" pitchFamily="34" charset="-122"/>
                <a:cs typeface="Calibri" pitchFamily="34" charset="-120"/>
              </a:rPr>
              <a:t>The KPI is cost per validated distinct vulnerability.</a:t>
            </a:r>
            <a:endParaRPr lang="en-US" sz="1400" dirty="0"/>
          </a:p>
          <a:p>
            <a:pPr indent="0" marL="0">
              <a:lnSpc>
                <a:spcPct val="120000"/>
              </a:lnSpc>
              <a:buNone/>
            </a:pPr>
            <a:r>
              <a:rPr lang="en-US" sz="1150" dirty="0">
                <a:solidFill>
                  <a:srgbClr val="9BCAEB"/>
                </a:solidFill>
                <a:latin typeface="Calibri" pitchFamily="34" charset="0"/>
                <a:ea typeface="Calibri" pitchFamily="34" charset="-122"/>
                <a:cs typeface="Calibri" pitchFamily="34" charset="-120"/>
              </a:rPr>
              <a:t>Not total tokens, and not total model spend.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Shape 0"/>
          <p:cNvSpPr/>
          <p:nvPr/>
        </p:nvSpPr>
        <p:spPr>
          <a:xfrm rot="5400000">
            <a:off x="566928" y="475488"/>
            <a:ext cx="128016" cy="146304"/>
          </a:xfrm>
          <a:prstGeom prst="triangle">
            <a:avLst/>
          </a:prstGeom>
          <a:solidFill>
            <a:srgbClr val="006FCF"/>
          </a:solidFill>
          <a:ln/>
        </p:spPr>
      </p:sp>
      <p:sp>
        <p:nvSpPr>
          <p:cNvPr id="3" name="Text 1"/>
          <p:cNvSpPr txBox="1"/>
          <p:nvPr/>
        </p:nvSpPr>
        <p:spPr>
          <a:xfrm>
            <a:off x="777240" y="402336"/>
            <a:ext cx="7315200" cy="292608"/>
          </a:xfrm>
          <a:prstGeom prst="rect">
            <a:avLst/>
          </a:prstGeom>
          <a:noFill/>
          <a:ln/>
        </p:spPr>
        <p:txBody>
          <a:bodyPr wrap="square" lIns="0" tIns="0" rIns="0" bIns="0" rtlCol="0" anchor="ctr"/>
          <a:lstStyle/>
          <a:p>
            <a:pPr indent="0" marL="0">
              <a:buNone/>
            </a:pPr>
            <a:r>
              <a:rPr lang="en-US" sz="1150" b="1" spc="160" kern="0" dirty="0">
                <a:solidFill>
                  <a:srgbClr val="006FCF"/>
                </a:solidFill>
                <a:latin typeface="Calibri" pitchFamily="34" charset="0"/>
                <a:ea typeface="Calibri" pitchFamily="34" charset="-122"/>
                <a:cs typeface="Calibri" pitchFamily="34" charset="-120"/>
              </a:rPr>
              <a:t>06  MODEL AGNOSTIC BY DESIGN</a:t>
            </a:r>
            <a:endParaRPr lang="en-US" sz="1150" dirty="0"/>
          </a:p>
        </p:txBody>
      </p:sp>
      <p:sp>
        <p:nvSpPr>
          <p:cNvPr id="4" name="Text 2"/>
          <p:cNvSpPr txBox="1"/>
          <p:nvPr/>
        </p:nvSpPr>
        <p:spPr>
          <a:xfrm>
            <a:off x="548640" y="731520"/>
            <a:ext cx="11155680" cy="566928"/>
          </a:xfrm>
          <a:prstGeom prst="rect">
            <a:avLst/>
          </a:prstGeom>
          <a:noFill/>
          <a:ln/>
        </p:spPr>
        <p:txBody>
          <a:bodyPr wrap="square" lIns="0" tIns="0" rIns="0" bIns="0" rtlCol="0" anchor="t"/>
          <a:lstStyle/>
          <a:p>
            <a:pPr indent="0" marL="0">
              <a:buNone/>
            </a:pPr>
            <a:r>
              <a:rPr lang="en-US" sz="3100" b="1" dirty="0">
                <a:solidFill>
                  <a:srgbClr val="1B2A44"/>
                </a:solidFill>
                <a:latin typeface="Cambria" pitchFamily="34" charset="0"/>
                <a:ea typeface="Cambria" pitchFamily="34" charset="-122"/>
                <a:cs typeface="Cambria" pitchFamily="34" charset="-120"/>
              </a:rPr>
              <a:t>PRISM owns the security workflow</a:t>
            </a:r>
            <a:endParaRPr lang="en-US" sz="3100" dirty="0"/>
          </a:p>
        </p:txBody>
      </p:sp>
      <p:sp>
        <p:nvSpPr>
          <p:cNvPr id="5" name="Text 3"/>
          <p:cNvSpPr txBox="1"/>
          <p:nvPr/>
        </p:nvSpPr>
        <p:spPr>
          <a:xfrm>
            <a:off x="548640" y="1298448"/>
            <a:ext cx="10607040" cy="310896"/>
          </a:xfrm>
          <a:prstGeom prst="rect">
            <a:avLst/>
          </a:prstGeom>
          <a:noFill/>
          <a:ln/>
        </p:spPr>
        <p:txBody>
          <a:bodyPr wrap="square" lIns="0" tIns="0" rIns="0" bIns="0" rtlCol="0" anchor="ctr"/>
          <a:lstStyle/>
          <a:p>
            <a:pPr indent="0" marL="0">
              <a:buNone/>
            </a:pPr>
            <a:r>
              <a:rPr lang="en-US" sz="1400" dirty="0">
                <a:solidFill>
                  <a:srgbClr val="53565A"/>
                </a:solidFill>
                <a:latin typeface="Calibri" pitchFamily="34" charset="0"/>
                <a:ea typeface="Calibri" pitchFamily="34" charset="-122"/>
                <a:cs typeface="Calibri" pitchFamily="34" charset="-120"/>
              </a:rPr>
              <a:t>Frontier models are interchangeable intelligence engines inside it.</a:t>
            </a:r>
            <a:endParaRPr lang="en-US" sz="1400" dirty="0"/>
          </a:p>
        </p:txBody>
      </p:sp>
      <p:sp>
        <p:nvSpPr>
          <p:cNvPr id="6" name="Shape 4"/>
          <p:cNvSpPr/>
          <p:nvPr/>
        </p:nvSpPr>
        <p:spPr>
          <a:xfrm>
            <a:off x="868680" y="1965960"/>
            <a:ext cx="5029200" cy="960120"/>
          </a:xfrm>
          <a:prstGeom prst="roundRect">
            <a:avLst>
              <a:gd name="adj" fmla="val 7619"/>
            </a:avLst>
          </a:prstGeom>
          <a:solidFill>
            <a:srgbClr val="00175A"/>
          </a:solidFill>
          <a:ln/>
          <a:effectLst>
            <a:outerShdw sx="100000" sy="100000" kx="0" ky="0" algn="bl" rotWithShape="0" blurRad="152400" dist="25400" dir="5400000">
              <a:srgbClr val="8FA0B8">
                <a:alpha val="20000"/>
              </a:srgbClr>
            </a:outerShdw>
          </a:effectLst>
        </p:spPr>
      </p:sp>
      <p:sp>
        <p:nvSpPr>
          <p:cNvPr id="7" name="Text 5"/>
          <p:cNvSpPr txBox="1"/>
          <p:nvPr/>
        </p:nvSpPr>
        <p:spPr>
          <a:xfrm>
            <a:off x="868680" y="1965960"/>
            <a:ext cx="5029200" cy="960120"/>
          </a:xfrm>
          <a:prstGeom prst="rect">
            <a:avLst/>
          </a:prstGeom>
          <a:noFill/>
          <a:ln/>
        </p:spPr>
        <p:txBody>
          <a:bodyPr wrap="square" lIns="0" tIns="0" rIns="0" bIns="0" rtlCol="0" anchor="ctr"/>
          <a:lstStyle/>
          <a:p>
            <a:pPr algn="ctr" indent="0" marL="0">
              <a:lnSpc>
                <a:spcPct val="115000"/>
              </a:lnSpc>
              <a:buNone/>
            </a:pPr>
            <a:r>
              <a:rPr lang="en-US" sz="1500" b="1" spc="120" kern="0" dirty="0">
                <a:solidFill>
                  <a:srgbClr val="FFFFFF"/>
                </a:solidFill>
                <a:latin typeface="Calibri" pitchFamily="34" charset="0"/>
                <a:ea typeface="Calibri" pitchFamily="34" charset="-122"/>
                <a:cs typeface="Calibri" pitchFamily="34" charset="-120"/>
              </a:rPr>
              <a:t>PRISM SECURITY ENGINE</a:t>
            </a:r>
            <a:endParaRPr lang="en-US" sz="1500" dirty="0"/>
          </a:p>
          <a:p>
            <a:pPr algn="ctr" indent="0" marL="0">
              <a:lnSpc>
                <a:spcPct val="115000"/>
              </a:lnSpc>
              <a:buNone/>
            </a:pPr>
            <a:r>
              <a:rPr lang="en-US" sz="1050" dirty="0">
                <a:solidFill>
                  <a:srgbClr val="A9C4E2"/>
                </a:solidFill>
                <a:latin typeface="Calibri" pitchFamily="34" charset="0"/>
                <a:ea typeface="Calibri" pitchFamily="34" charset="-122"/>
                <a:cs typeface="Calibri" pitchFamily="34" charset="-120"/>
              </a:rPr>
              <a:t>Discovery, consolidation, evidence challenge, runtime proof</a:t>
            </a:r>
            <a:endParaRPr lang="en-US" sz="1500" dirty="0"/>
          </a:p>
        </p:txBody>
      </p:sp>
      <p:sp>
        <p:nvSpPr>
          <p:cNvPr id="8" name="Shape 6"/>
          <p:cNvSpPr/>
          <p:nvPr/>
        </p:nvSpPr>
        <p:spPr>
          <a:xfrm>
            <a:off x="3383280" y="2926080"/>
            <a:ext cx="0" cy="457200"/>
          </a:xfrm>
          <a:prstGeom prst="line">
            <a:avLst/>
          </a:prstGeom>
          <a:noFill/>
          <a:ln w="22225">
            <a:solidFill>
              <a:srgbClr val="2E7CC8"/>
            </a:solidFill>
            <a:prstDash val="solid"/>
            <a:tailEnd type="triangle"/>
          </a:ln>
        </p:spPr>
      </p:sp>
      <p:sp>
        <p:nvSpPr>
          <p:cNvPr id="9" name="Shape 7"/>
          <p:cNvSpPr/>
          <p:nvPr/>
        </p:nvSpPr>
        <p:spPr>
          <a:xfrm>
            <a:off x="2103120" y="3429000"/>
            <a:ext cx="2560320" cy="640080"/>
          </a:xfrm>
          <a:prstGeom prst="roundRect">
            <a:avLst>
              <a:gd name="adj" fmla="val 11429"/>
            </a:avLst>
          </a:prstGeom>
          <a:solidFill>
            <a:srgbClr val="006FCF"/>
          </a:solidFill>
          <a:ln/>
          <a:effectLst>
            <a:outerShdw sx="100000" sy="100000" kx="0" ky="0" algn="bl" rotWithShape="0" blurRad="152400" dist="25400" dir="5400000">
              <a:srgbClr val="8FA0B8">
                <a:alpha val="20000"/>
              </a:srgbClr>
            </a:outerShdw>
          </a:effectLst>
        </p:spPr>
      </p:sp>
      <p:sp>
        <p:nvSpPr>
          <p:cNvPr id="10" name="Text 8"/>
          <p:cNvSpPr txBox="1"/>
          <p:nvPr/>
        </p:nvSpPr>
        <p:spPr>
          <a:xfrm>
            <a:off x="2103120" y="3429000"/>
            <a:ext cx="2560320" cy="640080"/>
          </a:xfrm>
          <a:prstGeom prst="rect">
            <a:avLst/>
          </a:prstGeom>
          <a:noFill/>
          <a:ln/>
        </p:spPr>
        <p:txBody>
          <a:bodyPr wrap="square" lIns="0" tIns="0" rIns="0" bIns="0" rtlCol="0" anchor="ctr"/>
          <a:lstStyle/>
          <a:p>
            <a:pPr algn="ctr" indent="0" marL="0">
              <a:buNone/>
            </a:pPr>
            <a:r>
              <a:rPr lang="en-US" sz="1300" b="1" spc="120" kern="0" dirty="0">
                <a:solidFill>
                  <a:srgbClr val="FFFFFF"/>
                </a:solidFill>
                <a:latin typeface="Calibri" pitchFamily="34" charset="0"/>
                <a:ea typeface="Calibri" pitchFamily="34" charset="-122"/>
                <a:cs typeface="Calibri" pitchFamily="34" charset="-120"/>
              </a:rPr>
              <a:t>MODEL ROUTER</a:t>
            </a:r>
            <a:endParaRPr lang="en-US" sz="1300" dirty="0"/>
          </a:p>
        </p:txBody>
      </p:sp>
      <p:sp>
        <p:nvSpPr>
          <p:cNvPr id="11" name="Shape 9"/>
          <p:cNvSpPr/>
          <p:nvPr/>
        </p:nvSpPr>
        <p:spPr>
          <a:xfrm flipH="1">
            <a:off x="1760220" y="4069080"/>
            <a:ext cx="1623060" cy="822960"/>
          </a:xfrm>
          <a:prstGeom prst="line">
            <a:avLst/>
          </a:prstGeom>
          <a:noFill/>
          <a:ln w="19050">
            <a:solidFill>
              <a:srgbClr val="8C959E"/>
            </a:solidFill>
            <a:prstDash val="solid"/>
          </a:ln>
        </p:spPr>
      </p:sp>
      <p:sp>
        <p:nvSpPr>
          <p:cNvPr id="12" name="Shape 10"/>
          <p:cNvSpPr/>
          <p:nvPr/>
        </p:nvSpPr>
        <p:spPr>
          <a:xfrm>
            <a:off x="1051560" y="4892040"/>
            <a:ext cx="1417320" cy="960120"/>
          </a:xfrm>
          <a:prstGeom prst="roundRect">
            <a:avLst>
              <a:gd name="adj" fmla="val 7619"/>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13" name="Text 11"/>
          <p:cNvSpPr txBox="1"/>
          <p:nvPr/>
        </p:nvSpPr>
        <p:spPr>
          <a:xfrm>
            <a:off x="1051560" y="4892040"/>
            <a:ext cx="1417320" cy="960120"/>
          </a:xfrm>
          <a:prstGeom prst="rect">
            <a:avLst/>
          </a:prstGeom>
          <a:noFill/>
          <a:ln/>
        </p:spPr>
        <p:txBody>
          <a:bodyPr wrap="square" lIns="0" tIns="0" rIns="0" bIns="0" rtlCol="0" anchor="ctr"/>
          <a:lstStyle/>
          <a:p>
            <a:pPr algn="ctr" indent="0" marL="0">
              <a:lnSpc>
                <a:spcPct val="115000"/>
              </a:lnSpc>
              <a:buNone/>
            </a:pPr>
            <a:r>
              <a:rPr lang="en-US" sz="1250" b="1" dirty="0">
                <a:solidFill>
                  <a:srgbClr val="1B2A44"/>
                </a:solidFill>
                <a:latin typeface="Calibri" pitchFamily="34" charset="0"/>
                <a:ea typeface="Calibri" pitchFamily="34" charset="-122"/>
                <a:cs typeface="Calibri" pitchFamily="34" charset="-120"/>
              </a:rPr>
              <a:t>Model A</a:t>
            </a:r>
            <a:endParaRPr lang="en-US" sz="1250" dirty="0"/>
          </a:p>
          <a:p>
            <a:pPr algn="ctr" indent="0" marL="0">
              <a:lnSpc>
                <a:spcPct val="115000"/>
              </a:lnSpc>
              <a:buNone/>
            </a:pPr>
            <a:r>
              <a:rPr lang="en-US" sz="950" dirty="0">
                <a:solidFill>
                  <a:srgbClr val="53565A"/>
                </a:solidFill>
                <a:latin typeface="Calibri" pitchFamily="34" charset="0"/>
                <a:ea typeface="Calibri" pitchFamily="34" charset="-122"/>
                <a:cs typeface="Calibri" pitchFamily="34" charset="-120"/>
              </a:rPr>
              <a:t>fast and broad</a:t>
            </a:r>
            <a:endParaRPr lang="en-US" sz="1250" dirty="0"/>
          </a:p>
        </p:txBody>
      </p:sp>
      <p:sp>
        <p:nvSpPr>
          <p:cNvPr id="14" name="Shape 12"/>
          <p:cNvSpPr/>
          <p:nvPr/>
        </p:nvSpPr>
        <p:spPr>
          <a:xfrm>
            <a:off x="3383280" y="4069080"/>
            <a:ext cx="114300" cy="822960"/>
          </a:xfrm>
          <a:prstGeom prst="line">
            <a:avLst/>
          </a:prstGeom>
          <a:noFill/>
          <a:ln w="19050">
            <a:solidFill>
              <a:srgbClr val="8C959E"/>
            </a:solidFill>
            <a:prstDash val="solid"/>
          </a:ln>
        </p:spPr>
      </p:sp>
      <p:sp>
        <p:nvSpPr>
          <p:cNvPr id="15" name="Shape 13"/>
          <p:cNvSpPr/>
          <p:nvPr/>
        </p:nvSpPr>
        <p:spPr>
          <a:xfrm>
            <a:off x="2788920" y="4892040"/>
            <a:ext cx="1417320" cy="960120"/>
          </a:xfrm>
          <a:prstGeom prst="roundRect">
            <a:avLst>
              <a:gd name="adj" fmla="val 7619"/>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16" name="Text 14"/>
          <p:cNvSpPr txBox="1"/>
          <p:nvPr/>
        </p:nvSpPr>
        <p:spPr>
          <a:xfrm>
            <a:off x="2788920" y="4892040"/>
            <a:ext cx="1417320" cy="960120"/>
          </a:xfrm>
          <a:prstGeom prst="rect">
            <a:avLst/>
          </a:prstGeom>
          <a:noFill/>
          <a:ln/>
        </p:spPr>
        <p:txBody>
          <a:bodyPr wrap="square" lIns="0" tIns="0" rIns="0" bIns="0" rtlCol="0" anchor="ctr"/>
          <a:lstStyle/>
          <a:p>
            <a:pPr algn="ctr" indent="0" marL="0">
              <a:lnSpc>
                <a:spcPct val="115000"/>
              </a:lnSpc>
              <a:buNone/>
            </a:pPr>
            <a:r>
              <a:rPr lang="en-US" sz="1250" b="1" dirty="0">
                <a:solidFill>
                  <a:srgbClr val="1B2A44"/>
                </a:solidFill>
                <a:latin typeface="Calibri" pitchFamily="34" charset="0"/>
                <a:ea typeface="Calibri" pitchFamily="34" charset="-122"/>
                <a:cs typeface="Calibri" pitchFamily="34" charset="-120"/>
              </a:rPr>
              <a:t>Model B</a:t>
            </a:r>
            <a:endParaRPr lang="en-US" sz="1250" dirty="0"/>
          </a:p>
          <a:p>
            <a:pPr algn="ctr" indent="0" marL="0">
              <a:lnSpc>
                <a:spcPct val="115000"/>
              </a:lnSpc>
              <a:buNone/>
            </a:pPr>
            <a:r>
              <a:rPr lang="en-US" sz="950" dirty="0">
                <a:solidFill>
                  <a:srgbClr val="53565A"/>
                </a:solidFill>
                <a:latin typeface="Calibri" pitchFamily="34" charset="0"/>
                <a:ea typeface="Calibri" pitchFamily="34" charset="-122"/>
                <a:cs typeface="Calibri" pitchFamily="34" charset="-120"/>
              </a:rPr>
              <a:t>deep reasoning</a:t>
            </a:r>
            <a:endParaRPr lang="en-US" sz="1250" dirty="0"/>
          </a:p>
        </p:txBody>
      </p:sp>
      <p:sp>
        <p:nvSpPr>
          <p:cNvPr id="17" name="Shape 15"/>
          <p:cNvSpPr/>
          <p:nvPr/>
        </p:nvSpPr>
        <p:spPr>
          <a:xfrm>
            <a:off x="3383280" y="4069080"/>
            <a:ext cx="1851660" cy="822960"/>
          </a:xfrm>
          <a:prstGeom prst="line">
            <a:avLst/>
          </a:prstGeom>
          <a:noFill/>
          <a:ln w="19050">
            <a:solidFill>
              <a:srgbClr val="8C959E"/>
            </a:solidFill>
            <a:prstDash val="solid"/>
          </a:ln>
        </p:spPr>
      </p:sp>
      <p:sp>
        <p:nvSpPr>
          <p:cNvPr id="18" name="Shape 16"/>
          <p:cNvSpPr/>
          <p:nvPr/>
        </p:nvSpPr>
        <p:spPr>
          <a:xfrm>
            <a:off x="4526280" y="4892040"/>
            <a:ext cx="1417320" cy="960120"/>
          </a:xfrm>
          <a:prstGeom prst="roundRect">
            <a:avLst>
              <a:gd name="adj" fmla="val 7619"/>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19" name="Text 17"/>
          <p:cNvSpPr txBox="1"/>
          <p:nvPr/>
        </p:nvSpPr>
        <p:spPr>
          <a:xfrm>
            <a:off x="4526280" y="4892040"/>
            <a:ext cx="1417320" cy="960120"/>
          </a:xfrm>
          <a:prstGeom prst="rect">
            <a:avLst/>
          </a:prstGeom>
          <a:noFill/>
          <a:ln/>
        </p:spPr>
        <p:txBody>
          <a:bodyPr wrap="square" lIns="0" tIns="0" rIns="0" bIns="0" rtlCol="0" anchor="ctr"/>
          <a:lstStyle/>
          <a:p>
            <a:pPr algn="ctr" indent="0" marL="0">
              <a:lnSpc>
                <a:spcPct val="115000"/>
              </a:lnSpc>
              <a:buNone/>
            </a:pPr>
            <a:r>
              <a:rPr lang="en-US" sz="1250" b="1" dirty="0">
                <a:solidFill>
                  <a:srgbClr val="1B2A44"/>
                </a:solidFill>
                <a:latin typeface="Calibri" pitchFamily="34" charset="0"/>
                <a:ea typeface="Calibri" pitchFamily="34" charset="-122"/>
                <a:cs typeface="Calibri" pitchFamily="34" charset="-120"/>
              </a:rPr>
              <a:t>Model C</a:t>
            </a:r>
            <a:endParaRPr lang="en-US" sz="1250" dirty="0"/>
          </a:p>
          <a:p>
            <a:pPr algn="ctr" indent="0" marL="0">
              <a:lnSpc>
                <a:spcPct val="115000"/>
              </a:lnSpc>
              <a:buNone/>
            </a:pPr>
            <a:r>
              <a:rPr lang="en-US" sz="950" dirty="0">
                <a:solidFill>
                  <a:srgbClr val="53565A"/>
                </a:solidFill>
                <a:latin typeface="Calibri" pitchFamily="34" charset="0"/>
                <a:ea typeface="Calibri" pitchFamily="34" charset="-122"/>
                <a:cs typeface="Calibri" pitchFamily="34" charset="-120"/>
              </a:rPr>
              <a:t>policy approved</a:t>
            </a:r>
            <a:endParaRPr lang="en-US" sz="1250" dirty="0"/>
          </a:p>
        </p:txBody>
      </p:sp>
      <p:sp>
        <p:nvSpPr>
          <p:cNvPr id="20" name="Text 18"/>
          <p:cNvSpPr txBox="1"/>
          <p:nvPr/>
        </p:nvSpPr>
        <p:spPr>
          <a:xfrm>
            <a:off x="868680" y="5989320"/>
            <a:ext cx="5120640" cy="320040"/>
          </a:xfrm>
          <a:prstGeom prst="rect">
            <a:avLst/>
          </a:prstGeom>
          <a:noFill/>
          <a:ln/>
        </p:spPr>
        <p:txBody>
          <a:bodyPr wrap="square" lIns="0" tIns="0" rIns="0" bIns="0" rtlCol="0" anchor="ctr"/>
          <a:lstStyle/>
          <a:p>
            <a:pPr indent="0" marL="0">
              <a:buNone/>
            </a:pPr>
            <a:r>
              <a:rPr lang="en-US" sz="1100" i="1" dirty="0">
                <a:solidFill>
                  <a:srgbClr val="53565A"/>
                </a:solidFill>
                <a:latin typeface="Calibri" pitchFamily="34" charset="0"/>
                <a:ea typeface="Calibri" pitchFamily="34" charset="-122"/>
                <a:cs typeface="Calibri" pitchFamily="34" charset="-120"/>
              </a:rPr>
              <a:t>Models are selected by quality, cost, task type or enterprise policy.</a:t>
            </a:r>
            <a:endParaRPr lang="en-US" sz="1100" dirty="0"/>
          </a:p>
        </p:txBody>
      </p:sp>
      <p:sp>
        <p:nvSpPr>
          <p:cNvPr id="21" name="Shape 19"/>
          <p:cNvSpPr/>
          <p:nvPr/>
        </p:nvSpPr>
        <p:spPr>
          <a:xfrm rot="5400000">
            <a:off x="6766560" y="2066544"/>
            <a:ext cx="118872" cy="137160"/>
          </a:xfrm>
          <a:prstGeom prst="triangle">
            <a:avLst/>
          </a:prstGeom>
          <a:solidFill>
            <a:srgbClr val="006FCF"/>
          </a:solidFill>
          <a:ln/>
        </p:spPr>
      </p:sp>
      <p:sp>
        <p:nvSpPr>
          <p:cNvPr id="22" name="Text 20"/>
          <p:cNvSpPr txBox="1"/>
          <p:nvPr/>
        </p:nvSpPr>
        <p:spPr>
          <a:xfrm>
            <a:off x="7022592" y="1984248"/>
            <a:ext cx="4663440" cy="713232"/>
          </a:xfrm>
          <a:prstGeom prst="rect">
            <a:avLst/>
          </a:prstGeom>
          <a:noFill/>
          <a:ln/>
        </p:spPr>
        <p:txBody>
          <a:bodyPr wrap="square" lIns="0" tIns="0" rIns="0" bIns="0" rtlCol="0" anchor="t"/>
          <a:lstStyle/>
          <a:p>
            <a:pPr indent="0" marL="0">
              <a:lnSpc>
                <a:spcPct val="112000"/>
              </a:lnSpc>
              <a:buNone/>
            </a:pPr>
            <a:r>
              <a:rPr lang="en-US" sz="1250" b="1" dirty="0">
                <a:solidFill>
                  <a:srgbClr val="1B2A44"/>
                </a:solidFill>
                <a:latin typeface="Calibri" pitchFamily="34" charset="0"/>
                <a:ea typeface="Calibri" pitchFamily="34" charset="-122"/>
                <a:cs typeface="Calibri" pitchFamily="34" charset="-120"/>
              </a:rPr>
              <a:t>Vendor flexibility</a:t>
            </a:r>
            <a:endParaRPr lang="en-US" sz="1250" dirty="0"/>
          </a:p>
          <a:p>
            <a:pPr indent="0" marL="0">
              <a:lnSpc>
                <a:spcPct val="112000"/>
              </a:lnSpc>
              <a:buNone/>
            </a:pPr>
            <a:r>
              <a:rPr lang="en-US" sz="1250" dirty="0">
                <a:solidFill>
                  <a:srgbClr val="53565A"/>
                </a:solidFill>
                <a:latin typeface="Calibri" pitchFamily="34" charset="0"/>
                <a:ea typeface="Calibri" pitchFamily="34" charset="-122"/>
                <a:cs typeface="Calibri" pitchFamily="34" charset="-120"/>
              </a:rPr>
              <a:t>No single provider becomes a dependency of the security program</a:t>
            </a:r>
            <a:endParaRPr lang="en-US" sz="1250" dirty="0"/>
          </a:p>
        </p:txBody>
      </p:sp>
      <p:sp>
        <p:nvSpPr>
          <p:cNvPr id="23" name="Shape 21"/>
          <p:cNvSpPr/>
          <p:nvPr/>
        </p:nvSpPr>
        <p:spPr>
          <a:xfrm rot="5400000">
            <a:off x="6766560" y="2871216"/>
            <a:ext cx="118872" cy="137160"/>
          </a:xfrm>
          <a:prstGeom prst="triangle">
            <a:avLst/>
          </a:prstGeom>
          <a:solidFill>
            <a:srgbClr val="006FCF"/>
          </a:solidFill>
          <a:ln/>
        </p:spPr>
      </p:sp>
      <p:sp>
        <p:nvSpPr>
          <p:cNvPr id="24" name="Text 22"/>
          <p:cNvSpPr txBox="1"/>
          <p:nvPr/>
        </p:nvSpPr>
        <p:spPr>
          <a:xfrm>
            <a:off x="7022592" y="2788920"/>
            <a:ext cx="4663440" cy="713232"/>
          </a:xfrm>
          <a:prstGeom prst="rect">
            <a:avLst/>
          </a:prstGeom>
          <a:noFill/>
          <a:ln/>
        </p:spPr>
        <p:txBody>
          <a:bodyPr wrap="square" lIns="0" tIns="0" rIns="0" bIns="0" rtlCol="0" anchor="t"/>
          <a:lstStyle/>
          <a:p>
            <a:pPr indent="0" marL="0">
              <a:lnSpc>
                <a:spcPct val="112000"/>
              </a:lnSpc>
              <a:buNone/>
            </a:pPr>
            <a:r>
              <a:rPr lang="en-US" sz="1250" b="1" dirty="0">
                <a:solidFill>
                  <a:srgbClr val="1B2A44"/>
                </a:solidFill>
                <a:latin typeface="Calibri" pitchFamily="34" charset="0"/>
                <a:ea typeface="Calibri" pitchFamily="34" charset="-122"/>
                <a:cs typeface="Calibri" pitchFamily="34" charset="-120"/>
              </a:rPr>
              <a:t>Cost optimization</a:t>
            </a:r>
            <a:endParaRPr lang="en-US" sz="1250" dirty="0"/>
          </a:p>
          <a:p>
            <a:pPr indent="0" marL="0">
              <a:lnSpc>
                <a:spcPct val="112000"/>
              </a:lnSpc>
              <a:buNone/>
            </a:pPr>
            <a:r>
              <a:rPr lang="en-US" sz="1250" dirty="0">
                <a:solidFill>
                  <a:srgbClr val="53565A"/>
                </a:solidFill>
                <a:latin typeface="Calibri" pitchFamily="34" charset="0"/>
                <a:ea typeface="Calibri" pitchFamily="34" charset="-122"/>
                <a:cs typeface="Calibri" pitchFamily="34" charset="-120"/>
              </a:rPr>
              <a:t>Each task can run on the model that clears it most economically</a:t>
            </a:r>
            <a:endParaRPr lang="en-US" sz="1250" dirty="0"/>
          </a:p>
        </p:txBody>
      </p:sp>
      <p:sp>
        <p:nvSpPr>
          <p:cNvPr id="25" name="Shape 23"/>
          <p:cNvSpPr/>
          <p:nvPr/>
        </p:nvSpPr>
        <p:spPr>
          <a:xfrm rot="5400000">
            <a:off x="6766560" y="3675888"/>
            <a:ext cx="118872" cy="137160"/>
          </a:xfrm>
          <a:prstGeom prst="triangle">
            <a:avLst/>
          </a:prstGeom>
          <a:solidFill>
            <a:srgbClr val="006FCF"/>
          </a:solidFill>
          <a:ln/>
        </p:spPr>
      </p:sp>
      <p:sp>
        <p:nvSpPr>
          <p:cNvPr id="26" name="Text 24"/>
          <p:cNvSpPr txBox="1"/>
          <p:nvPr/>
        </p:nvSpPr>
        <p:spPr>
          <a:xfrm>
            <a:off x="7022592" y="3593592"/>
            <a:ext cx="4663440" cy="713232"/>
          </a:xfrm>
          <a:prstGeom prst="rect">
            <a:avLst/>
          </a:prstGeom>
          <a:noFill/>
          <a:ln/>
        </p:spPr>
        <p:txBody>
          <a:bodyPr wrap="square" lIns="0" tIns="0" rIns="0" bIns="0" rtlCol="0" anchor="t"/>
          <a:lstStyle/>
          <a:p>
            <a:pPr indent="0" marL="0">
              <a:lnSpc>
                <a:spcPct val="112000"/>
              </a:lnSpc>
              <a:buNone/>
            </a:pPr>
            <a:r>
              <a:rPr lang="en-US" sz="1250" b="1" dirty="0">
                <a:solidFill>
                  <a:srgbClr val="1B2A44"/>
                </a:solidFill>
                <a:latin typeface="Calibri" pitchFamily="34" charset="0"/>
                <a:ea typeface="Calibri" pitchFamily="34" charset="-122"/>
                <a:cs typeface="Calibri" pitchFamily="34" charset="-120"/>
              </a:rPr>
              <a:t>Model benchmarking</a:t>
            </a:r>
            <a:endParaRPr lang="en-US" sz="1250" dirty="0"/>
          </a:p>
          <a:p>
            <a:pPr indent="0" marL="0">
              <a:lnSpc>
                <a:spcPct val="112000"/>
              </a:lnSpc>
              <a:buNone/>
            </a:pPr>
            <a:r>
              <a:rPr lang="en-US" sz="1250" dirty="0">
                <a:solidFill>
                  <a:srgbClr val="53565A"/>
                </a:solidFill>
                <a:latin typeface="Calibri" pitchFamily="34" charset="0"/>
                <a:ea typeface="Calibri" pitchFamily="34" charset="-122"/>
                <a:cs typeface="Calibri" pitchFamily="34" charset="-120"/>
              </a:rPr>
              <a:t>The same workflow becomes a fair test bed across providers</a:t>
            </a:r>
            <a:endParaRPr lang="en-US" sz="1250" dirty="0"/>
          </a:p>
        </p:txBody>
      </p:sp>
      <p:sp>
        <p:nvSpPr>
          <p:cNvPr id="27" name="Shape 25"/>
          <p:cNvSpPr/>
          <p:nvPr/>
        </p:nvSpPr>
        <p:spPr>
          <a:xfrm rot="5400000">
            <a:off x="6766560" y="4480560"/>
            <a:ext cx="118872" cy="137160"/>
          </a:xfrm>
          <a:prstGeom prst="triangle">
            <a:avLst/>
          </a:prstGeom>
          <a:solidFill>
            <a:srgbClr val="006FCF"/>
          </a:solidFill>
          <a:ln/>
        </p:spPr>
      </p:sp>
      <p:sp>
        <p:nvSpPr>
          <p:cNvPr id="28" name="Text 26"/>
          <p:cNvSpPr txBox="1"/>
          <p:nvPr/>
        </p:nvSpPr>
        <p:spPr>
          <a:xfrm>
            <a:off x="7022592" y="4398264"/>
            <a:ext cx="4663440" cy="713232"/>
          </a:xfrm>
          <a:prstGeom prst="rect">
            <a:avLst/>
          </a:prstGeom>
          <a:noFill/>
          <a:ln/>
        </p:spPr>
        <p:txBody>
          <a:bodyPr wrap="square" lIns="0" tIns="0" rIns="0" bIns="0" rtlCol="0" anchor="t"/>
          <a:lstStyle/>
          <a:p>
            <a:pPr indent="0" marL="0">
              <a:lnSpc>
                <a:spcPct val="112000"/>
              </a:lnSpc>
              <a:buNone/>
            </a:pPr>
            <a:r>
              <a:rPr lang="en-US" sz="1250" b="1" dirty="0">
                <a:solidFill>
                  <a:srgbClr val="1B2A44"/>
                </a:solidFill>
                <a:latin typeface="Calibri" pitchFamily="34" charset="0"/>
                <a:ea typeface="Calibri" pitchFamily="34" charset="-122"/>
                <a:cs typeface="Calibri" pitchFamily="34" charset="-120"/>
              </a:rPr>
              <a:t>Enterprise policy fit</a:t>
            </a:r>
            <a:endParaRPr lang="en-US" sz="1250" dirty="0"/>
          </a:p>
          <a:p>
            <a:pPr indent="0" marL="0">
              <a:lnSpc>
                <a:spcPct val="112000"/>
              </a:lnSpc>
              <a:buNone/>
            </a:pPr>
            <a:r>
              <a:rPr lang="en-US" sz="1250" dirty="0">
                <a:solidFill>
                  <a:srgbClr val="53565A"/>
                </a:solidFill>
                <a:latin typeface="Calibri" pitchFamily="34" charset="0"/>
                <a:ea typeface="Calibri" pitchFamily="34" charset="-122"/>
                <a:cs typeface="Calibri" pitchFamily="34" charset="-120"/>
              </a:rPr>
              <a:t>Approved models can be enforced per environment or data class</a:t>
            </a:r>
            <a:endParaRPr lang="en-US" sz="1250" dirty="0"/>
          </a:p>
        </p:txBody>
      </p:sp>
      <p:sp>
        <p:nvSpPr>
          <p:cNvPr id="29" name="Shape 27"/>
          <p:cNvSpPr/>
          <p:nvPr/>
        </p:nvSpPr>
        <p:spPr>
          <a:xfrm rot="5400000">
            <a:off x="6766560" y="5285232"/>
            <a:ext cx="118872" cy="137160"/>
          </a:xfrm>
          <a:prstGeom prst="triangle">
            <a:avLst/>
          </a:prstGeom>
          <a:solidFill>
            <a:srgbClr val="006FCF"/>
          </a:solidFill>
          <a:ln/>
        </p:spPr>
      </p:sp>
      <p:sp>
        <p:nvSpPr>
          <p:cNvPr id="30" name="Text 28"/>
          <p:cNvSpPr txBox="1"/>
          <p:nvPr/>
        </p:nvSpPr>
        <p:spPr>
          <a:xfrm>
            <a:off x="7022592" y="5202936"/>
            <a:ext cx="4663440" cy="713232"/>
          </a:xfrm>
          <a:prstGeom prst="rect">
            <a:avLst/>
          </a:prstGeom>
          <a:noFill/>
          <a:ln/>
        </p:spPr>
        <p:txBody>
          <a:bodyPr wrap="square" lIns="0" tIns="0" rIns="0" bIns="0" rtlCol="0" anchor="t"/>
          <a:lstStyle/>
          <a:p>
            <a:pPr indent="0" marL="0">
              <a:lnSpc>
                <a:spcPct val="112000"/>
              </a:lnSpc>
              <a:buNone/>
            </a:pPr>
            <a:r>
              <a:rPr lang="en-US" sz="1250" b="1" dirty="0">
                <a:solidFill>
                  <a:srgbClr val="1B2A44"/>
                </a:solidFill>
                <a:latin typeface="Calibri" pitchFamily="34" charset="0"/>
                <a:ea typeface="Calibri" pitchFamily="34" charset="-122"/>
                <a:cs typeface="Calibri" pitchFamily="34" charset="-120"/>
              </a:rPr>
              <a:t>Future proofing</a:t>
            </a:r>
            <a:endParaRPr lang="en-US" sz="1250" dirty="0"/>
          </a:p>
          <a:p>
            <a:pPr indent="0" marL="0">
              <a:lnSpc>
                <a:spcPct val="112000"/>
              </a:lnSpc>
              <a:buNone/>
            </a:pPr>
            <a:r>
              <a:rPr lang="en-US" sz="1250" dirty="0">
                <a:solidFill>
                  <a:srgbClr val="53565A"/>
                </a:solidFill>
                <a:latin typeface="Calibri" pitchFamily="34" charset="0"/>
                <a:ea typeface="Calibri" pitchFamily="34" charset="-122"/>
                <a:cs typeface="Calibri" pitchFamily="34" charset="-120"/>
              </a:rPr>
              <a:t>Stronger models can be adopted without redesigning the platform</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p:bgPr>
    </p:bg>
    <p:spTree>
      <p:nvGrpSpPr>
        <p:cNvPr id="1" name=""/>
        <p:cNvGrpSpPr/>
        <p:nvPr/>
      </p:nvGrpSpPr>
      <p:grpSpPr>
        <a:xfrm>
          <a:off x="0" y="0"/>
          <a:ext cx="0" cy="0"/>
          <a:chOff x="0" y="0"/>
          <a:chExt cx="0" cy="0"/>
        </a:xfrm>
      </p:grpSpPr>
      <p:sp>
        <p:nvSpPr>
          <p:cNvPr id="2" name="Shape 0"/>
          <p:cNvSpPr/>
          <p:nvPr/>
        </p:nvSpPr>
        <p:spPr>
          <a:xfrm rot="5400000">
            <a:off x="566928" y="475488"/>
            <a:ext cx="128016" cy="146304"/>
          </a:xfrm>
          <a:prstGeom prst="triangle">
            <a:avLst/>
          </a:prstGeom>
          <a:solidFill>
            <a:srgbClr val="006FCF"/>
          </a:solidFill>
          <a:ln/>
        </p:spPr>
      </p:sp>
      <p:sp>
        <p:nvSpPr>
          <p:cNvPr id="3" name="Text 1"/>
          <p:cNvSpPr txBox="1"/>
          <p:nvPr/>
        </p:nvSpPr>
        <p:spPr>
          <a:xfrm>
            <a:off x="777240" y="402336"/>
            <a:ext cx="7315200" cy="292608"/>
          </a:xfrm>
          <a:prstGeom prst="rect">
            <a:avLst/>
          </a:prstGeom>
          <a:noFill/>
          <a:ln/>
        </p:spPr>
        <p:txBody>
          <a:bodyPr wrap="square" lIns="0" tIns="0" rIns="0" bIns="0" rtlCol="0" anchor="ctr"/>
          <a:lstStyle/>
          <a:p>
            <a:pPr indent="0" marL="0">
              <a:buNone/>
            </a:pPr>
            <a:r>
              <a:rPr lang="en-US" sz="1150" b="1" spc="160" kern="0" dirty="0">
                <a:solidFill>
                  <a:srgbClr val="006FCF"/>
                </a:solidFill>
                <a:latin typeface="Calibri" pitchFamily="34" charset="0"/>
                <a:ea typeface="Calibri" pitchFamily="34" charset="-122"/>
                <a:cs typeface="Calibri" pitchFamily="34" charset="-120"/>
              </a:rPr>
              <a:t>07  HOW PRISM DIFFERS</a:t>
            </a:r>
            <a:endParaRPr lang="en-US" sz="1150" dirty="0"/>
          </a:p>
        </p:txBody>
      </p:sp>
      <p:sp>
        <p:nvSpPr>
          <p:cNvPr id="4" name="Text 2"/>
          <p:cNvSpPr txBox="1"/>
          <p:nvPr/>
        </p:nvSpPr>
        <p:spPr>
          <a:xfrm>
            <a:off x="548640" y="731520"/>
            <a:ext cx="11155680" cy="566928"/>
          </a:xfrm>
          <a:prstGeom prst="rect">
            <a:avLst/>
          </a:prstGeom>
          <a:noFill/>
          <a:ln/>
        </p:spPr>
        <p:txBody>
          <a:bodyPr wrap="square" lIns="0" tIns="0" rIns="0" bIns="0" rtlCol="0" anchor="t"/>
          <a:lstStyle/>
          <a:p>
            <a:pPr indent="0" marL="0">
              <a:buNone/>
            </a:pPr>
            <a:r>
              <a:rPr lang="en-US" sz="3100" b="1" dirty="0">
                <a:solidFill>
                  <a:srgbClr val="1B2A44"/>
                </a:solidFill>
                <a:latin typeface="Cambria" pitchFamily="34" charset="0"/>
                <a:ea typeface="Cambria" pitchFamily="34" charset="-122"/>
                <a:cs typeface="Cambria" pitchFamily="34" charset="-120"/>
              </a:rPr>
              <a:t>A different architecture, not a better model</a:t>
            </a:r>
            <a:endParaRPr lang="en-US" sz="3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3776472"/>
                <a:gridCol w="2286000"/>
                <a:gridCol w="2743200"/>
                <a:gridCol w="2286000"/>
              </a:tblGrid>
              <a:tr h="41148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Capability</a:t>
                      </a:r>
                      <a:endParaRPr lang="en-US" sz="11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00175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Traditional SAST</a:t>
                      </a:r>
                      <a:endParaRPr lang="en-US" sz="11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00175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Single AI security agent</a:t>
                      </a:r>
                      <a:endParaRPr lang="en-US" sz="11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00175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PRISM</a:t>
                      </a:r>
                      <a:endParaRPr lang="en-US" sz="11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006FCF"/>
                    </a:solidFill>
                  </a:tcPr>
                </a:tc>
              </a:tr>
              <a:tr h="411480">
                <a:tc>
                  <a:txBody>
                    <a:bodyPr/>
                    <a:lstStyle/>
                    <a:p>
                      <a:pPr algn="l" indent="0" marL="0">
                        <a:buNone/>
                      </a:pPr>
                      <a:r>
                        <a:rPr lang="en-US" sz="1050" b="1" dirty="0">
                          <a:solidFill>
                            <a:srgbClr val="1B2A44"/>
                          </a:solidFill>
                          <a:latin typeface="Calibri" pitchFamily="34" charset="0"/>
                          <a:ea typeface="Calibri" pitchFamily="34" charset="-122"/>
                          <a:cs typeface="Calibri" pitchFamily="34" charset="-120"/>
                        </a:rPr>
                        <a:t>Fixed rule and pattern detection</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Strong</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Limited</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b="1" dirty="0">
                          <a:solidFill>
                            <a:srgbClr val="00175A"/>
                          </a:solidFill>
                          <a:latin typeface="Calibri" pitchFamily="34" charset="0"/>
                          <a:ea typeface="Calibri" pitchFamily="34" charset="-122"/>
                          <a:cs typeface="Calibri" pitchFamily="34" charset="-120"/>
                        </a:rPr>
                        <a:t>Integrated</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E9F2FB"/>
                    </a:solidFill>
                  </a:tcPr>
                </a:tc>
              </a:tr>
              <a:tr h="411480">
                <a:tc>
                  <a:txBody>
                    <a:bodyPr/>
                    <a:lstStyle/>
                    <a:p>
                      <a:pPr algn="l" indent="0" marL="0">
                        <a:buNone/>
                      </a:pPr>
                      <a:r>
                        <a:rPr lang="en-US" sz="1050" b="1" dirty="0">
                          <a:solidFill>
                            <a:srgbClr val="1B2A44"/>
                          </a:solidFill>
                          <a:latin typeface="Calibri" pitchFamily="34" charset="0"/>
                          <a:ea typeface="Calibri" pitchFamily="34" charset="-122"/>
                          <a:cs typeface="Calibri" pitchFamily="34" charset="-120"/>
                        </a:rPr>
                        <a:t>Deep repository reasoning</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Limited</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Strong</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175A"/>
                          </a:solidFill>
                          <a:latin typeface="Calibri" pitchFamily="34" charset="0"/>
                          <a:ea typeface="Calibri" pitchFamily="34" charset="-122"/>
                          <a:cs typeface="Calibri" pitchFamily="34" charset="-120"/>
                        </a:rPr>
                        <a:t>Strong</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E9F2FB"/>
                    </a:solidFill>
                  </a:tcPr>
                </a:tc>
              </a:tr>
              <a:tr h="411480">
                <a:tc>
                  <a:txBody>
                    <a:bodyPr/>
                    <a:lstStyle/>
                    <a:p>
                      <a:pPr algn="l" indent="0" marL="0">
                        <a:buNone/>
                      </a:pPr>
                      <a:r>
                        <a:rPr lang="en-US" sz="1050" b="1" dirty="0">
                          <a:solidFill>
                            <a:srgbClr val="1B2A44"/>
                          </a:solidFill>
                          <a:latin typeface="Calibri" pitchFamily="34" charset="0"/>
                          <a:ea typeface="Calibri" pitchFamily="34" charset="-122"/>
                          <a:cs typeface="Calibri" pitchFamily="34" charset="-120"/>
                        </a:rPr>
                        <a:t>Multiple complementary discovery strategies</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Limited</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Usually one primary trajectory</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b="1" dirty="0">
                          <a:solidFill>
                            <a:srgbClr val="00175A"/>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E9F2FB"/>
                    </a:solidFill>
                  </a:tcPr>
                </a:tc>
              </a:tr>
              <a:tr h="411480">
                <a:tc>
                  <a:txBody>
                    <a:bodyPr/>
                    <a:lstStyle/>
                    <a:p>
                      <a:pPr algn="l" indent="0" marL="0">
                        <a:buNone/>
                      </a:pPr>
                      <a:r>
                        <a:rPr lang="en-US" sz="1050" b="1" dirty="0">
                          <a:solidFill>
                            <a:srgbClr val="1B2A44"/>
                          </a:solidFill>
                          <a:latin typeface="Calibri" pitchFamily="34" charset="0"/>
                          <a:ea typeface="Calibri" pitchFamily="34" charset="-122"/>
                          <a:cs typeface="Calibri" pitchFamily="34" charset="-120"/>
                        </a:rPr>
                        <a:t>Root cause consolidation</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Basic</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Variable</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175A"/>
                          </a:solidFill>
                          <a:latin typeface="Calibri" pitchFamily="34" charset="0"/>
                          <a:ea typeface="Calibri" pitchFamily="34" charset="-122"/>
                          <a:cs typeface="Calibri" pitchFamily="34" charset="-120"/>
                        </a:rPr>
                        <a:t>Core architecture</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E9F2FB"/>
                    </a:solidFill>
                  </a:tcPr>
                </a:tc>
              </a:tr>
              <a:tr h="411480">
                <a:tc>
                  <a:txBody>
                    <a:bodyPr/>
                    <a:lstStyle/>
                    <a:p>
                      <a:pPr algn="l" indent="0" marL="0">
                        <a:buNone/>
                      </a:pPr>
                      <a:r>
                        <a:rPr lang="en-US" sz="1050" b="1" dirty="0">
                          <a:solidFill>
                            <a:srgbClr val="1B2A44"/>
                          </a:solidFill>
                          <a:latin typeface="Calibri" pitchFamily="34" charset="0"/>
                          <a:ea typeface="Calibri" pitchFamily="34" charset="-122"/>
                          <a:cs typeface="Calibri" pitchFamily="34" charset="-120"/>
                        </a:rPr>
                        <a:t>Independent evidence challenge</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Limited</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Often self judged</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b="1" dirty="0">
                          <a:solidFill>
                            <a:srgbClr val="00175A"/>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E9F2FB"/>
                    </a:solidFill>
                  </a:tcPr>
                </a:tc>
              </a:tr>
              <a:tr h="411480">
                <a:tc>
                  <a:txBody>
                    <a:bodyPr/>
                    <a:lstStyle/>
                    <a:p>
                      <a:pPr algn="l" indent="0" marL="0">
                        <a:buNone/>
                      </a:pPr>
                      <a:r>
                        <a:rPr lang="en-US" sz="1050" b="1" dirty="0">
                          <a:solidFill>
                            <a:srgbClr val="1B2A44"/>
                          </a:solidFill>
                          <a:latin typeface="Calibri" pitchFamily="34" charset="0"/>
                          <a:ea typeface="Calibri" pitchFamily="34" charset="-122"/>
                          <a:cs typeface="Calibri" pitchFamily="34" charset="-120"/>
                        </a:rPr>
                        <a:t>Selective runtime validation</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Limited</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Possible</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175A"/>
                          </a:solidFill>
                          <a:latin typeface="Calibri" pitchFamily="34" charset="0"/>
                          <a:ea typeface="Calibri" pitchFamily="34" charset="-122"/>
                          <a:cs typeface="Calibri" pitchFamily="34" charset="-120"/>
                        </a:rPr>
                        <a:t>Integrated</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E9F2FB"/>
                    </a:solidFill>
                  </a:tcPr>
                </a:tc>
              </a:tr>
              <a:tr h="411480">
                <a:tc>
                  <a:txBody>
                    <a:bodyPr/>
                    <a:lstStyle/>
                    <a:p>
                      <a:pPr algn="l" indent="0" marL="0">
                        <a:buNone/>
                      </a:pPr>
                      <a:r>
                        <a:rPr lang="en-US" sz="1050" b="1" dirty="0">
                          <a:solidFill>
                            <a:srgbClr val="1B2A44"/>
                          </a:solidFill>
                          <a:latin typeface="Calibri" pitchFamily="34" charset="0"/>
                          <a:ea typeface="Calibri" pitchFamily="34" charset="-122"/>
                          <a:cs typeface="Calibri" pitchFamily="34" charset="-120"/>
                        </a:rPr>
                        <a:t>Multiple model providers</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Not applicable</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Usually model specific</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b="1" dirty="0">
                          <a:solidFill>
                            <a:srgbClr val="00175A"/>
                          </a:solidFill>
                          <a:latin typeface="Calibri" pitchFamily="34" charset="0"/>
                          <a:ea typeface="Calibri" pitchFamily="34" charset="-122"/>
                          <a:cs typeface="Calibri" pitchFamily="34" charset="-120"/>
                        </a:rPr>
                        <a:t>Designed for it</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E9F2FB"/>
                    </a:solidFill>
                  </a:tcPr>
                </a:tc>
              </a:tr>
              <a:tr h="411480">
                <a:tc>
                  <a:txBody>
                    <a:bodyPr/>
                    <a:lstStyle/>
                    <a:p>
                      <a:pPr algn="l" indent="0" marL="0">
                        <a:buNone/>
                      </a:pPr>
                      <a:r>
                        <a:rPr lang="en-US" sz="1050" b="1" dirty="0">
                          <a:solidFill>
                            <a:srgbClr val="1B2A44"/>
                          </a:solidFill>
                          <a:latin typeface="Calibri" pitchFamily="34" charset="0"/>
                          <a:ea typeface="Calibri" pitchFamily="34" charset="-122"/>
                          <a:cs typeface="Calibri" pitchFamily="34" charset="-120"/>
                        </a:rPr>
                        <a:t>Cost aware routing</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Limited</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Limited</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175A"/>
                          </a:solidFill>
                          <a:latin typeface="Calibri" pitchFamily="34" charset="0"/>
                          <a:ea typeface="Calibri" pitchFamily="34" charset="-122"/>
                          <a:cs typeface="Calibri" pitchFamily="34" charset="-120"/>
                        </a:rPr>
                        <a:t>Core architecture</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E9F2FB"/>
                    </a:solidFill>
                  </a:tcPr>
                </a:tc>
              </a:tr>
              <a:tr h="411480">
                <a:tc>
                  <a:txBody>
                    <a:bodyPr/>
                    <a:lstStyle/>
                    <a:p>
                      <a:pPr algn="l" indent="0" marL="0">
                        <a:buNone/>
                      </a:pPr>
                      <a:r>
                        <a:rPr lang="en-US" sz="1050" b="1" dirty="0">
                          <a:solidFill>
                            <a:srgbClr val="1B2A44"/>
                          </a:solidFill>
                          <a:latin typeface="Calibri" pitchFamily="34" charset="0"/>
                          <a:ea typeface="Calibri" pitchFamily="34" charset="-122"/>
                          <a:cs typeface="Calibri" pitchFamily="34" charset="-120"/>
                        </a:rPr>
                        <a:t>Evidence strength reporting</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Alert confidence</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dirty="0">
                          <a:solidFill>
                            <a:srgbClr val="53565A"/>
                          </a:solidFill>
                          <a:latin typeface="Calibri" pitchFamily="34" charset="0"/>
                          <a:ea typeface="Calibri" pitchFamily="34" charset="-122"/>
                          <a:cs typeface="Calibri" pitchFamily="34" charset="-120"/>
                        </a:rPr>
                        <a:t>Model confidence</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F7FAFD"/>
                    </a:solidFill>
                  </a:tcPr>
                </a:tc>
                <a:tc>
                  <a:txBody>
                    <a:bodyPr/>
                    <a:lstStyle/>
                    <a:p>
                      <a:pPr algn="ctr" indent="0" marL="0">
                        <a:buNone/>
                      </a:pPr>
                      <a:r>
                        <a:rPr lang="en-US" sz="1050" b="1" dirty="0">
                          <a:solidFill>
                            <a:srgbClr val="00175A"/>
                          </a:solidFill>
                          <a:latin typeface="Calibri" pitchFamily="34" charset="0"/>
                          <a:ea typeface="Calibri" pitchFamily="34" charset="-122"/>
                          <a:cs typeface="Calibri" pitchFamily="34" charset="-120"/>
                        </a:rPr>
                        <a:t>Evidence based status</a:t>
                      </a:r>
                      <a:endParaRPr lang="en-US" sz="1050" dirty="0">
                        <a:latin typeface="Calibri" charset="0"/>
                        <a:ea typeface="Calibri" charset="0"/>
                        <a:cs typeface="Calibri" charset="0"/>
                      </a:endParaRPr>
                    </a:p>
                  </a:txBody>
                  <a:tcPr marL="101600" marR="101600" marT="50800" marB="50800" anchor="ctr">
                    <a:lnL w="12700" cap="flat" cmpd="sng" algn="ctr">
                      <a:solidFill>
                        <a:srgbClr val="DFE7F0"/>
                      </a:solidFill>
                      <a:prstDash val="solid"/>
                      <a:round/>
                      <a:headEnd type="none" w="med" len="med"/>
                      <a:tailEnd type="none" w="med" len="med"/>
                    </a:lnL>
                    <a:lnR w="12700" cap="flat" cmpd="sng" algn="ctr">
                      <a:solidFill>
                        <a:srgbClr val="DFE7F0"/>
                      </a:solidFill>
                      <a:prstDash val="solid"/>
                      <a:round/>
                      <a:headEnd type="none" w="med" len="med"/>
                      <a:tailEnd type="none" w="med" len="med"/>
                    </a:lnR>
                    <a:lnT w="12700" cap="flat" cmpd="sng" algn="ctr">
                      <a:solidFill>
                        <a:srgbClr val="DFE7F0"/>
                      </a:solidFill>
                      <a:prstDash val="solid"/>
                      <a:round/>
                      <a:headEnd type="none" w="med" len="med"/>
                      <a:tailEnd type="none" w="med" len="med"/>
                    </a:lnT>
                    <a:lnB w="12700" cap="flat" cmpd="sng" algn="ctr">
                      <a:solidFill>
                        <a:srgbClr val="DFE7F0"/>
                      </a:solidFill>
                      <a:prstDash val="solid"/>
                      <a:round/>
                      <a:headEnd type="none" w="med" len="med"/>
                      <a:tailEnd type="none" w="med" len="med"/>
                    </a:lnB>
                    <a:solidFill>
                      <a:srgbClr val="E9F2FB"/>
                    </a:solidFill>
                  </a:tcPr>
                </a:tc>
              </a:tr>
            </a:tbl>
          </a:graphicData>
        </a:graphic>
      </p:graphicFrame>
      <p:sp>
        <p:nvSpPr>
          <p:cNvPr id="6" name="Text 3"/>
          <p:cNvSpPr txBox="1"/>
          <p:nvPr/>
        </p:nvSpPr>
        <p:spPr>
          <a:xfrm>
            <a:off x="548640" y="6035040"/>
            <a:ext cx="11064240" cy="365760"/>
          </a:xfrm>
          <a:prstGeom prst="rect">
            <a:avLst/>
          </a:prstGeom>
          <a:noFill/>
          <a:ln/>
        </p:spPr>
        <p:txBody>
          <a:bodyPr wrap="square" lIns="0" tIns="0" rIns="0" bIns="0" rtlCol="0" anchor="ctr"/>
          <a:lstStyle/>
          <a:p>
            <a:pPr indent="0" marL="0">
              <a:buNone/>
            </a:pPr>
            <a:r>
              <a:rPr lang="en-US" sz="1050" i="1" dirty="0">
                <a:solidFill>
                  <a:srgbClr val="8C959E"/>
                </a:solidFill>
                <a:latin typeface="Calibri" pitchFamily="34" charset="0"/>
                <a:ea typeface="Calibri" pitchFamily="34" charset="-122"/>
                <a:cs typeface="Calibri" pitchFamily="34" charset="-120"/>
              </a:rPr>
              <a:t>Categories describe common approaches rather than any specific vendor. PRISM is architected around these capabilities, and the MVP evaluation will measure them.</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p:bgPr>
    </p:bg>
    <p:spTree>
      <p:nvGrpSpPr>
        <p:cNvPr id="1" name=""/>
        <p:cNvGrpSpPr/>
        <p:nvPr/>
      </p:nvGrpSpPr>
      <p:grpSpPr>
        <a:xfrm>
          <a:off x="0" y="0"/>
          <a:ext cx="0" cy="0"/>
          <a:chOff x="0" y="0"/>
          <a:chExt cx="0" cy="0"/>
        </a:xfrm>
      </p:grpSpPr>
      <p:sp>
        <p:nvSpPr>
          <p:cNvPr id="2" name="Shape 0"/>
          <p:cNvSpPr/>
          <p:nvPr/>
        </p:nvSpPr>
        <p:spPr>
          <a:xfrm rot="5400000">
            <a:off x="566928" y="475488"/>
            <a:ext cx="128016" cy="146304"/>
          </a:xfrm>
          <a:prstGeom prst="triangle">
            <a:avLst/>
          </a:prstGeom>
          <a:solidFill>
            <a:srgbClr val="006FCF"/>
          </a:solidFill>
          <a:ln/>
        </p:spPr>
      </p:sp>
      <p:sp>
        <p:nvSpPr>
          <p:cNvPr id="3" name="Text 1"/>
          <p:cNvSpPr txBox="1"/>
          <p:nvPr/>
        </p:nvSpPr>
        <p:spPr>
          <a:xfrm>
            <a:off x="777240" y="402336"/>
            <a:ext cx="7315200" cy="292608"/>
          </a:xfrm>
          <a:prstGeom prst="rect">
            <a:avLst/>
          </a:prstGeom>
          <a:noFill/>
          <a:ln/>
        </p:spPr>
        <p:txBody>
          <a:bodyPr wrap="square" lIns="0" tIns="0" rIns="0" bIns="0" rtlCol="0" anchor="ctr"/>
          <a:lstStyle/>
          <a:p>
            <a:pPr indent="0" marL="0">
              <a:buNone/>
            </a:pPr>
            <a:r>
              <a:rPr lang="en-US" sz="1150" b="1" spc="160" kern="0" dirty="0">
                <a:solidFill>
                  <a:srgbClr val="006FCF"/>
                </a:solidFill>
                <a:latin typeface="Calibri" pitchFamily="34" charset="0"/>
                <a:ea typeface="Calibri" pitchFamily="34" charset="-122"/>
                <a:cs typeface="Calibri" pitchFamily="34" charset="-120"/>
              </a:rPr>
              <a:t>08  MVP SUCCESS CRITERIA</a:t>
            </a:r>
            <a:endParaRPr lang="en-US" sz="1150" dirty="0"/>
          </a:p>
        </p:txBody>
      </p:sp>
      <p:sp>
        <p:nvSpPr>
          <p:cNvPr id="4" name="Text 2"/>
          <p:cNvSpPr txBox="1"/>
          <p:nvPr/>
        </p:nvSpPr>
        <p:spPr>
          <a:xfrm>
            <a:off x="548640" y="731520"/>
            <a:ext cx="11155680" cy="566928"/>
          </a:xfrm>
          <a:prstGeom prst="rect">
            <a:avLst/>
          </a:prstGeom>
          <a:noFill/>
          <a:ln/>
        </p:spPr>
        <p:txBody>
          <a:bodyPr wrap="square" lIns="0" tIns="0" rIns="0" bIns="0" rtlCol="0" anchor="t"/>
          <a:lstStyle/>
          <a:p>
            <a:pPr indent="0" marL="0">
              <a:buNone/>
            </a:pPr>
            <a:r>
              <a:rPr lang="en-US" sz="3100" b="1" dirty="0">
                <a:solidFill>
                  <a:srgbClr val="1B2A44"/>
                </a:solidFill>
                <a:latin typeface="Cambria" pitchFamily="34" charset="0"/>
                <a:ea typeface="Cambria" pitchFamily="34" charset="-122"/>
                <a:cs typeface="Cambria" pitchFamily="34" charset="-120"/>
              </a:rPr>
              <a:t>Five measures decide whether PRISM works</a:t>
            </a:r>
            <a:endParaRPr lang="en-US" sz="3100" dirty="0"/>
          </a:p>
        </p:txBody>
      </p:sp>
      <p:sp>
        <p:nvSpPr>
          <p:cNvPr id="5" name="Shape 3"/>
          <p:cNvSpPr/>
          <p:nvPr/>
        </p:nvSpPr>
        <p:spPr>
          <a:xfrm>
            <a:off x="566928" y="1828800"/>
            <a:ext cx="2103120" cy="3246120"/>
          </a:xfrm>
          <a:prstGeom prst="roundRect">
            <a:avLst>
              <a:gd name="adj" fmla="val 3478"/>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6" name="Shape 4"/>
          <p:cNvSpPr/>
          <p:nvPr/>
        </p:nvSpPr>
        <p:spPr>
          <a:xfrm>
            <a:off x="822960" y="2084832"/>
            <a:ext cx="475488" cy="475488"/>
          </a:xfrm>
          <a:prstGeom prst="roundRect">
            <a:avLst>
              <a:gd name="adj" fmla="val 50000"/>
            </a:avLst>
          </a:prstGeom>
          <a:solidFill>
            <a:srgbClr val="E4EFFB"/>
          </a:solidFill>
          <a:ln/>
        </p:spPr>
      </p:sp>
      <p:sp>
        <p:nvSpPr>
          <p:cNvPr id="7" name="Text 5"/>
          <p:cNvSpPr txBox="1"/>
          <p:nvPr/>
        </p:nvSpPr>
        <p:spPr>
          <a:xfrm>
            <a:off x="822960" y="2084832"/>
            <a:ext cx="475488" cy="475488"/>
          </a:xfrm>
          <a:prstGeom prst="rect">
            <a:avLst/>
          </a:prstGeom>
          <a:noFill/>
          <a:ln/>
        </p:spPr>
        <p:txBody>
          <a:bodyPr wrap="square" lIns="0" tIns="0" rIns="0" bIns="0" rtlCol="0" anchor="ctr"/>
          <a:lstStyle/>
          <a:p>
            <a:pPr algn="ctr" indent="0" marL="0">
              <a:buNone/>
            </a:pPr>
            <a:r>
              <a:rPr lang="en-US" sz="1200" b="1" dirty="0">
                <a:solidFill>
                  <a:srgbClr val="006FCF"/>
                </a:solidFill>
                <a:latin typeface="Calibri" pitchFamily="34" charset="0"/>
                <a:ea typeface="Calibri" pitchFamily="34" charset="-122"/>
                <a:cs typeface="Calibri" pitchFamily="34" charset="-120"/>
              </a:rPr>
              <a:t>01</a:t>
            </a:r>
            <a:endParaRPr lang="en-US" sz="1200" dirty="0"/>
          </a:p>
        </p:txBody>
      </p:sp>
      <p:sp>
        <p:nvSpPr>
          <p:cNvPr id="8" name="Text 6"/>
          <p:cNvSpPr txBox="1"/>
          <p:nvPr/>
        </p:nvSpPr>
        <p:spPr>
          <a:xfrm>
            <a:off x="822960" y="2743200"/>
            <a:ext cx="1591056" cy="457200"/>
          </a:xfrm>
          <a:prstGeom prst="rect">
            <a:avLst/>
          </a:prstGeom>
          <a:noFill/>
          <a:ln/>
        </p:spPr>
        <p:txBody>
          <a:bodyPr wrap="square" lIns="0" tIns="0" rIns="0" bIns="0" rtlCol="0" anchor="ctr"/>
          <a:lstStyle/>
          <a:p>
            <a:pPr indent="0" marL="0">
              <a:lnSpc>
                <a:spcPct val="105000"/>
              </a:lnSpc>
              <a:buNone/>
            </a:pPr>
            <a:r>
              <a:rPr lang="en-US" sz="1050" b="1" spc="110" kern="0" dirty="0">
                <a:solidFill>
                  <a:srgbClr val="006FCF"/>
                </a:solidFill>
                <a:latin typeface="Calibri" pitchFamily="34" charset="0"/>
                <a:ea typeface="Calibri" pitchFamily="34" charset="-122"/>
                <a:cs typeface="Calibri" pitchFamily="34" charset="-120"/>
              </a:rPr>
              <a:t>FIND MORE</a:t>
            </a:r>
            <a:endParaRPr lang="en-US" sz="1050" dirty="0"/>
          </a:p>
        </p:txBody>
      </p:sp>
      <p:sp>
        <p:nvSpPr>
          <p:cNvPr id="9" name="Text 7"/>
          <p:cNvSpPr txBox="1"/>
          <p:nvPr/>
        </p:nvSpPr>
        <p:spPr>
          <a:xfrm>
            <a:off x="822960" y="3246120"/>
            <a:ext cx="1591056" cy="777240"/>
          </a:xfrm>
          <a:prstGeom prst="rect">
            <a:avLst/>
          </a:prstGeom>
          <a:noFill/>
          <a:ln/>
        </p:spPr>
        <p:txBody>
          <a:bodyPr wrap="square" lIns="0" tIns="0" rIns="0" bIns="0" rtlCol="0" anchor="ctr"/>
          <a:lstStyle/>
          <a:p>
            <a:pPr indent="0" marL="0">
              <a:lnSpc>
                <a:spcPct val="108000"/>
              </a:lnSpc>
              <a:buNone/>
            </a:pPr>
            <a:r>
              <a:rPr lang="en-US" sz="1450" b="1" dirty="0">
                <a:solidFill>
                  <a:srgbClr val="1B2A44"/>
                </a:solidFill>
                <a:latin typeface="Cambria" pitchFamily="34" charset="0"/>
                <a:ea typeface="Cambria" pitchFamily="34" charset="-122"/>
                <a:cs typeface="Cambria" pitchFamily="34" charset="-120"/>
              </a:rPr>
              <a:t>Distinct validated root causes</a:t>
            </a:r>
            <a:endParaRPr lang="en-US" sz="1450" dirty="0"/>
          </a:p>
        </p:txBody>
      </p:sp>
      <p:sp>
        <p:nvSpPr>
          <p:cNvPr id="10" name="Text 8"/>
          <p:cNvSpPr txBox="1"/>
          <p:nvPr/>
        </p:nvSpPr>
        <p:spPr>
          <a:xfrm>
            <a:off x="822960" y="4069080"/>
            <a:ext cx="1591056" cy="868680"/>
          </a:xfrm>
          <a:prstGeom prst="rect">
            <a:avLst/>
          </a:prstGeom>
          <a:noFill/>
          <a:ln/>
        </p:spPr>
        <p:txBody>
          <a:bodyPr wrap="square" lIns="0" tIns="0" rIns="0" bIns="0" rtlCol="0" anchor="ctr"/>
          <a:lstStyle/>
          <a:p>
            <a:pPr indent="0" marL="0">
              <a:lnSpc>
                <a:spcPct val="115000"/>
              </a:lnSpc>
              <a:buNone/>
            </a:pPr>
            <a:r>
              <a:rPr lang="en-US" sz="1050" dirty="0">
                <a:solidFill>
                  <a:srgbClr val="53565A"/>
                </a:solidFill>
                <a:latin typeface="Calibri" pitchFamily="34" charset="0"/>
                <a:ea typeface="Calibri" pitchFamily="34" charset="-122"/>
                <a:cs typeface="Calibri" pitchFamily="34" charset="-120"/>
              </a:rPr>
              <a:t>Compared against a strong external AI security baseline</a:t>
            </a:r>
            <a:endParaRPr lang="en-US" sz="1050" dirty="0"/>
          </a:p>
        </p:txBody>
      </p:sp>
      <p:sp>
        <p:nvSpPr>
          <p:cNvPr id="11" name="Shape 9"/>
          <p:cNvSpPr/>
          <p:nvPr/>
        </p:nvSpPr>
        <p:spPr>
          <a:xfrm>
            <a:off x="2907792" y="1828800"/>
            <a:ext cx="2103120" cy="3246120"/>
          </a:xfrm>
          <a:prstGeom prst="roundRect">
            <a:avLst>
              <a:gd name="adj" fmla="val 3478"/>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12" name="Shape 10"/>
          <p:cNvSpPr/>
          <p:nvPr/>
        </p:nvSpPr>
        <p:spPr>
          <a:xfrm>
            <a:off x="3163824" y="2084832"/>
            <a:ext cx="475488" cy="475488"/>
          </a:xfrm>
          <a:prstGeom prst="roundRect">
            <a:avLst>
              <a:gd name="adj" fmla="val 50000"/>
            </a:avLst>
          </a:prstGeom>
          <a:solidFill>
            <a:srgbClr val="E4EFFB"/>
          </a:solidFill>
          <a:ln/>
        </p:spPr>
      </p:sp>
      <p:sp>
        <p:nvSpPr>
          <p:cNvPr id="13" name="Text 11"/>
          <p:cNvSpPr txBox="1"/>
          <p:nvPr/>
        </p:nvSpPr>
        <p:spPr>
          <a:xfrm>
            <a:off x="3163824" y="2084832"/>
            <a:ext cx="475488" cy="475488"/>
          </a:xfrm>
          <a:prstGeom prst="rect">
            <a:avLst/>
          </a:prstGeom>
          <a:noFill/>
          <a:ln/>
        </p:spPr>
        <p:txBody>
          <a:bodyPr wrap="square" lIns="0" tIns="0" rIns="0" bIns="0" rtlCol="0" anchor="ctr"/>
          <a:lstStyle/>
          <a:p>
            <a:pPr algn="ctr" indent="0" marL="0">
              <a:buNone/>
            </a:pPr>
            <a:r>
              <a:rPr lang="en-US" sz="1200" b="1" dirty="0">
                <a:solidFill>
                  <a:srgbClr val="006FCF"/>
                </a:solidFill>
                <a:latin typeface="Calibri" pitchFamily="34" charset="0"/>
                <a:ea typeface="Calibri" pitchFamily="34" charset="-122"/>
                <a:cs typeface="Calibri" pitchFamily="34" charset="-120"/>
              </a:rPr>
              <a:t>02</a:t>
            </a:r>
            <a:endParaRPr lang="en-US" sz="1200" dirty="0"/>
          </a:p>
        </p:txBody>
      </p:sp>
      <p:sp>
        <p:nvSpPr>
          <p:cNvPr id="14" name="Text 12"/>
          <p:cNvSpPr txBox="1"/>
          <p:nvPr/>
        </p:nvSpPr>
        <p:spPr>
          <a:xfrm>
            <a:off x="3163824" y="2743200"/>
            <a:ext cx="1591056" cy="457200"/>
          </a:xfrm>
          <a:prstGeom prst="rect">
            <a:avLst/>
          </a:prstGeom>
          <a:noFill/>
          <a:ln/>
        </p:spPr>
        <p:txBody>
          <a:bodyPr wrap="square" lIns="0" tIns="0" rIns="0" bIns="0" rtlCol="0" anchor="ctr"/>
          <a:lstStyle/>
          <a:p>
            <a:pPr indent="0" marL="0">
              <a:lnSpc>
                <a:spcPct val="105000"/>
              </a:lnSpc>
              <a:buNone/>
            </a:pPr>
            <a:r>
              <a:rPr lang="en-US" sz="1050" b="1" spc="110" kern="0" dirty="0">
                <a:solidFill>
                  <a:srgbClr val="006FCF"/>
                </a:solidFill>
                <a:latin typeface="Calibri" pitchFamily="34" charset="0"/>
                <a:ea typeface="Calibri" pitchFamily="34" charset="-122"/>
                <a:cs typeface="Calibri" pitchFamily="34" charset="-120"/>
              </a:rPr>
              <a:t>FEWER FALSE POSITIVES</a:t>
            </a:r>
            <a:endParaRPr lang="en-US" sz="1050" dirty="0"/>
          </a:p>
        </p:txBody>
      </p:sp>
      <p:sp>
        <p:nvSpPr>
          <p:cNvPr id="15" name="Text 13"/>
          <p:cNvSpPr txBox="1"/>
          <p:nvPr/>
        </p:nvSpPr>
        <p:spPr>
          <a:xfrm>
            <a:off x="3163824" y="3246120"/>
            <a:ext cx="1591056" cy="777240"/>
          </a:xfrm>
          <a:prstGeom prst="rect">
            <a:avLst/>
          </a:prstGeom>
          <a:noFill/>
          <a:ln/>
        </p:spPr>
        <p:txBody>
          <a:bodyPr wrap="square" lIns="0" tIns="0" rIns="0" bIns="0" rtlCol="0" anchor="ctr"/>
          <a:lstStyle/>
          <a:p>
            <a:pPr indent="0" marL="0">
              <a:lnSpc>
                <a:spcPct val="108000"/>
              </a:lnSpc>
              <a:buNone/>
            </a:pPr>
            <a:r>
              <a:rPr lang="en-US" sz="1450" b="1" dirty="0">
                <a:solidFill>
                  <a:srgbClr val="1B2A44"/>
                </a:solidFill>
                <a:latin typeface="Cambria" pitchFamily="34" charset="0"/>
                <a:ea typeface="Cambria" pitchFamily="34" charset="-122"/>
                <a:cs typeface="Cambria" pitchFamily="34" charset="-120"/>
              </a:rPr>
              <a:t>Delivered precision</a:t>
            </a:r>
            <a:endParaRPr lang="en-US" sz="1450" dirty="0"/>
          </a:p>
        </p:txBody>
      </p:sp>
      <p:sp>
        <p:nvSpPr>
          <p:cNvPr id="16" name="Text 14"/>
          <p:cNvSpPr txBox="1"/>
          <p:nvPr/>
        </p:nvSpPr>
        <p:spPr>
          <a:xfrm>
            <a:off x="3163824" y="4069080"/>
            <a:ext cx="1591056" cy="868680"/>
          </a:xfrm>
          <a:prstGeom prst="rect">
            <a:avLst/>
          </a:prstGeom>
          <a:noFill/>
          <a:ln/>
        </p:spPr>
        <p:txBody>
          <a:bodyPr wrap="square" lIns="0" tIns="0" rIns="0" bIns="0" rtlCol="0" anchor="ctr"/>
          <a:lstStyle/>
          <a:p>
            <a:pPr indent="0" marL="0">
              <a:lnSpc>
                <a:spcPct val="115000"/>
              </a:lnSpc>
              <a:buNone/>
            </a:pPr>
            <a:r>
              <a:rPr lang="en-US" sz="1050" dirty="0">
                <a:solidFill>
                  <a:srgbClr val="53565A"/>
                </a:solidFill>
                <a:latin typeface="Calibri" pitchFamily="34" charset="0"/>
                <a:ea typeface="Calibri" pitchFamily="34" charset="-122"/>
                <a:cs typeface="Calibri" pitchFamily="34" charset="-120"/>
              </a:rPr>
              <a:t>Measured after the challenge layer, not at raw candidate generation</a:t>
            </a:r>
            <a:endParaRPr lang="en-US" sz="1050" dirty="0"/>
          </a:p>
        </p:txBody>
      </p:sp>
      <p:sp>
        <p:nvSpPr>
          <p:cNvPr id="17" name="Shape 15"/>
          <p:cNvSpPr/>
          <p:nvPr/>
        </p:nvSpPr>
        <p:spPr>
          <a:xfrm>
            <a:off x="5248656" y="1828800"/>
            <a:ext cx="2103120" cy="3246120"/>
          </a:xfrm>
          <a:prstGeom prst="roundRect">
            <a:avLst>
              <a:gd name="adj" fmla="val 3478"/>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18" name="Shape 16"/>
          <p:cNvSpPr/>
          <p:nvPr/>
        </p:nvSpPr>
        <p:spPr>
          <a:xfrm>
            <a:off x="5504688" y="2084832"/>
            <a:ext cx="475488" cy="475488"/>
          </a:xfrm>
          <a:prstGeom prst="roundRect">
            <a:avLst>
              <a:gd name="adj" fmla="val 50000"/>
            </a:avLst>
          </a:prstGeom>
          <a:solidFill>
            <a:srgbClr val="E4EFFB"/>
          </a:solidFill>
          <a:ln/>
        </p:spPr>
      </p:sp>
      <p:sp>
        <p:nvSpPr>
          <p:cNvPr id="19" name="Text 17"/>
          <p:cNvSpPr txBox="1"/>
          <p:nvPr/>
        </p:nvSpPr>
        <p:spPr>
          <a:xfrm>
            <a:off x="5504688" y="2084832"/>
            <a:ext cx="475488" cy="475488"/>
          </a:xfrm>
          <a:prstGeom prst="rect">
            <a:avLst/>
          </a:prstGeom>
          <a:noFill/>
          <a:ln/>
        </p:spPr>
        <p:txBody>
          <a:bodyPr wrap="square" lIns="0" tIns="0" rIns="0" bIns="0" rtlCol="0" anchor="ctr"/>
          <a:lstStyle/>
          <a:p>
            <a:pPr algn="ctr" indent="0" marL="0">
              <a:buNone/>
            </a:pPr>
            <a:r>
              <a:rPr lang="en-US" sz="1200" b="1" dirty="0">
                <a:solidFill>
                  <a:srgbClr val="006FCF"/>
                </a:solidFill>
                <a:latin typeface="Calibri" pitchFamily="34" charset="0"/>
                <a:ea typeface="Calibri" pitchFamily="34" charset="-122"/>
                <a:cs typeface="Calibri" pitchFamily="34" charset="-120"/>
              </a:rPr>
              <a:t>03</a:t>
            </a:r>
            <a:endParaRPr lang="en-US" sz="1200" dirty="0"/>
          </a:p>
        </p:txBody>
      </p:sp>
      <p:sp>
        <p:nvSpPr>
          <p:cNvPr id="20" name="Text 18"/>
          <p:cNvSpPr txBox="1"/>
          <p:nvPr/>
        </p:nvSpPr>
        <p:spPr>
          <a:xfrm>
            <a:off x="5504688" y="2743200"/>
            <a:ext cx="1591056" cy="457200"/>
          </a:xfrm>
          <a:prstGeom prst="rect">
            <a:avLst/>
          </a:prstGeom>
          <a:noFill/>
          <a:ln/>
        </p:spPr>
        <p:txBody>
          <a:bodyPr wrap="square" lIns="0" tIns="0" rIns="0" bIns="0" rtlCol="0" anchor="ctr"/>
          <a:lstStyle/>
          <a:p>
            <a:pPr indent="0" marL="0">
              <a:lnSpc>
                <a:spcPct val="105000"/>
              </a:lnSpc>
              <a:buNone/>
            </a:pPr>
            <a:r>
              <a:rPr lang="en-US" sz="1050" b="1" spc="110" kern="0" dirty="0">
                <a:solidFill>
                  <a:srgbClr val="006FCF"/>
                </a:solidFill>
                <a:latin typeface="Calibri" pitchFamily="34" charset="0"/>
                <a:ea typeface="Calibri" pitchFamily="34" charset="-122"/>
                <a:cs typeface="Calibri" pitchFamily="34" charset="-120"/>
              </a:rPr>
              <a:t>LOWER COST</a:t>
            </a:r>
            <a:endParaRPr lang="en-US" sz="1050" dirty="0"/>
          </a:p>
        </p:txBody>
      </p:sp>
      <p:sp>
        <p:nvSpPr>
          <p:cNvPr id="21" name="Text 19"/>
          <p:cNvSpPr txBox="1"/>
          <p:nvPr/>
        </p:nvSpPr>
        <p:spPr>
          <a:xfrm>
            <a:off x="5504688" y="3246120"/>
            <a:ext cx="1591056" cy="777240"/>
          </a:xfrm>
          <a:prstGeom prst="rect">
            <a:avLst/>
          </a:prstGeom>
          <a:noFill/>
          <a:ln/>
        </p:spPr>
        <p:txBody>
          <a:bodyPr wrap="square" lIns="0" tIns="0" rIns="0" bIns="0" rtlCol="0" anchor="ctr"/>
          <a:lstStyle/>
          <a:p>
            <a:pPr indent="0" marL="0">
              <a:lnSpc>
                <a:spcPct val="108000"/>
              </a:lnSpc>
              <a:buNone/>
            </a:pPr>
            <a:r>
              <a:rPr lang="en-US" sz="1450" b="1" dirty="0">
                <a:solidFill>
                  <a:srgbClr val="1B2A44"/>
                </a:solidFill>
                <a:latin typeface="Cambria" pitchFamily="34" charset="0"/>
                <a:ea typeface="Cambria" pitchFamily="34" charset="-122"/>
                <a:cs typeface="Cambria" pitchFamily="34" charset="-120"/>
              </a:rPr>
              <a:t>Cost per validated root cause</a:t>
            </a:r>
            <a:endParaRPr lang="en-US" sz="1450" dirty="0"/>
          </a:p>
        </p:txBody>
      </p:sp>
      <p:sp>
        <p:nvSpPr>
          <p:cNvPr id="22" name="Text 20"/>
          <p:cNvSpPr txBox="1"/>
          <p:nvPr/>
        </p:nvSpPr>
        <p:spPr>
          <a:xfrm>
            <a:off x="5504688" y="4069080"/>
            <a:ext cx="1591056" cy="868680"/>
          </a:xfrm>
          <a:prstGeom prst="rect">
            <a:avLst/>
          </a:prstGeom>
          <a:noFill/>
          <a:ln/>
        </p:spPr>
        <p:txBody>
          <a:bodyPr wrap="square" lIns="0" tIns="0" rIns="0" bIns="0" rtlCol="0" anchor="ctr"/>
          <a:lstStyle/>
          <a:p>
            <a:pPr indent="0" marL="0">
              <a:lnSpc>
                <a:spcPct val="115000"/>
              </a:lnSpc>
              <a:buNone/>
            </a:pPr>
            <a:r>
              <a:rPr lang="en-US" sz="1050" dirty="0">
                <a:solidFill>
                  <a:srgbClr val="53565A"/>
                </a:solidFill>
                <a:latin typeface="Calibri" pitchFamily="34" charset="0"/>
                <a:ea typeface="Calibri" pitchFamily="34" charset="-122"/>
                <a:cs typeface="Calibri" pitchFamily="34" charset="-120"/>
              </a:rPr>
              <a:t>Not total model spend and not token volume</a:t>
            </a:r>
            <a:endParaRPr lang="en-US" sz="1050" dirty="0"/>
          </a:p>
        </p:txBody>
      </p:sp>
      <p:sp>
        <p:nvSpPr>
          <p:cNvPr id="23" name="Shape 21"/>
          <p:cNvSpPr/>
          <p:nvPr/>
        </p:nvSpPr>
        <p:spPr>
          <a:xfrm>
            <a:off x="7589520" y="1828800"/>
            <a:ext cx="2103120" cy="3246120"/>
          </a:xfrm>
          <a:prstGeom prst="roundRect">
            <a:avLst>
              <a:gd name="adj" fmla="val 3478"/>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24" name="Shape 22"/>
          <p:cNvSpPr/>
          <p:nvPr/>
        </p:nvSpPr>
        <p:spPr>
          <a:xfrm>
            <a:off x="7845552" y="2084832"/>
            <a:ext cx="475488" cy="475488"/>
          </a:xfrm>
          <a:prstGeom prst="roundRect">
            <a:avLst>
              <a:gd name="adj" fmla="val 50000"/>
            </a:avLst>
          </a:prstGeom>
          <a:solidFill>
            <a:srgbClr val="E4EFFB"/>
          </a:solidFill>
          <a:ln/>
        </p:spPr>
      </p:sp>
      <p:sp>
        <p:nvSpPr>
          <p:cNvPr id="25" name="Text 23"/>
          <p:cNvSpPr txBox="1"/>
          <p:nvPr/>
        </p:nvSpPr>
        <p:spPr>
          <a:xfrm>
            <a:off x="7845552" y="2084832"/>
            <a:ext cx="475488" cy="475488"/>
          </a:xfrm>
          <a:prstGeom prst="rect">
            <a:avLst/>
          </a:prstGeom>
          <a:noFill/>
          <a:ln/>
        </p:spPr>
        <p:txBody>
          <a:bodyPr wrap="square" lIns="0" tIns="0" rIns="0" bIns="0" rtlCol="0" anchor="ctr"/>
          <a:lstStyle/>
          <a:p>
            <a:pPr algn="ctr" indent="0" marL="0">
              <a:buNone/>
            </a:pPr>
            <a:r>
              <a:rPr lang="en-US" sz="1200" b="1" dirty="0">
                <a:solidFill>
                  <a:srgbClr val="006FCF"/>
                </a:solidFill>
                <a:latin typeface="Calibri" pitchFamily="34" charset="0"/>
                <a:ea typeface="Calibri" pitchFamily="34" charset="-122"/>
                <a:cs typeface="Calibri" pitchFamily="34" charset="-120"/>
              </a:rPr>
              <a:t>04</a:t>
            </a:r>
            <a:endParaRPr lang="en-US" sz="1200" dirty="0"/>
          </a:p>
        </p:txBody>
      </p:sp>
      <p:sp>
        <p:nvSpPr>
          <p:cNvPr id="26" name="Text 24"/>
          <p:cNvSpPr txBox="1"/>
          <p:nvPr/>
        </p:nvSpPr>
        <p:spPr>
          <a:xfrm>
            <a:off x="7845552" y="2743200"/>
            <a:ext cx="1591056" cy="457200"/>
          </a:xfrm>
          <a:prstGeom prst="rect">
            <a:avLst/>
          </a:prstGeom>
          <a:noFill/>
          <a:ln/>
        </p:spPr>
        <p:txBody>
          <a:bodyPr wrap="square" lIns="0" tIns="0" rIns="0" bIns="0" rtlCol="0" anchor="ctr"/>
          <a:lstStyle/>
          <a:p>
            <a:pPr indent="0" marL="0">
              <a:lnSpc>
                <a:spcPct val="105000"/>
              </a:lnSpc>
              <a:buNone/>
            </a:pPr>
            <a:r>
              <a:rPr lang="en-US" sz="1050" b="1" spc="110" kern="0" dirty="0">
                <a:solidFill>
                  <a:srgbClr val="006FCF"/>
                </a:solidFill>
                <a:latin typeface="Calibri" pitchFamily="34" charset="0"/>
                <a:ea typeface="Calibri" pitchFamily="34" charset="-122"/>
                <a:cs typeface="Calibri" pitchFamily="34" charset="-120"/>
              </a:rPr>
              <a:t>BETTER EVIDENCE</a:t>
            </a:r>
            <a:endParaRPr lang="en-US" sz="1050" dirty="0"/>
          </a:p>
        </p:txBody>
      </p:sp>
      <p:sp>
        <p:nvSpPr>
          <p:cNvPr id="27" name="Text 25"/>
          <p:cNvSpPr txBox="1"/>
          <p:nvPr/>
        </p:nvSpPr>
        <p:spPr>
          <a:xfrm>
            <a:off x="7845552" y="3246120"/>
            <a:ext cx="1591056" cy="777240"/>
          </a:xfrm>
          <a:prstGeom prst="rect">
            <a:avLst/>
          </a:prstGeom>
          <a:noFill/>
          <a:ln/>
        </p:spPr>
        <p:txBody>
          <a:bodyPr wrap="square" lIns="0" tIns="0" rIns="0" bIns="0" rtlCol="0" anchor="ctr"/>
          <a:lstStyle/>
          <a:p>
            <a:pPr indent="0" marL="0">
              <a:lnSpc>
                <a:spcPct val="108000"/>
              </a:lnSpc>
              <a:buNone/>
            </a:pPr>
            <a:r>
              <a:rPr lang="en-US" sz="1450" b="1" dirty="0">
                <a:solidFill>
                  <a:srgbClr val="1B2A44"/>
                </a:solidFill>
                <a:latin typeface="Cambria" pitchFamily="34" charset="0"/>
                <a:ea typeface="Cambria" pitchFamily="34" charset="-122"/>
                <a:cs typeface="Cambria" pitchFamily="34" charset="-120"/>
              </a:rPr>
              <a:t>Priority findings with runtime evidence</a:t>
            </a:r>
            <a:endParaRPr lang="en-US" sz="1450" dirty="0"/>
          </a:p>
        </p:txBody>
      </p:sp>
      <p:sp>
        <p:nvSpPr>
          <p:cNvPr id="28" name="Text 26"/>
          <p:cNvSpPr txBox="1"/>
          <p:nvPr/>
        </p:nvSpPr>
        <p:spPr>
          <a:xfrm>
            <a:off x="7845552" y="4069080"/>
            <a:ext cx="1591056" cy="868680"/>
          </a:xfrm>
          <a:prstGeom prst="rect">
            <a:avLst/>
          </a:prstGeom>
          <a:noFill/>
          <a:ln/>
        </p:spPr>
        <p:txBody>
          <a:bodyPr wrap="square" lIns="0" tIns="0" rIns="0" bIns="0" rtlCol="0" anchor="ctr"/>
          <a:lstStyle/>
          <a:p>
            <a:pPr indent="0" marL="0">
              <a:lnSpc>
                <a:spcPct val="115000"/>
              </a:lnSpc>
              <a:buNone/>
            </a:pPr>
            <a:r>
              <a:rPr lang="en-US" sz="1050" dirty="0">
                <a:solidFill>
                  <a:srgbClr val="53565A"/>
                </a:solidFill>
                <a:latin typeface="Calibri" pitchFamily="34" charset="0"/>
                <a:ea typeface="Calibri" pitchFamily="34" charset="-122"/>
                <a:cs typeface="Calibri" pitchFamily="34" charset="-120"/>
              </a:rPr>
              <a:t>Findings refuted at runtime are tracked as well</a:t>
            </a:r>
            <a:endParaRPr lang="en-US" sz="1050" dirty="0"/>
          </a:p>
        </p:txBody>
      </p:sp>
      <p:sp>
        <p:nvSpPr>
          <p:cNvPr id="29" name="Shape 27"/>
          <p:cNvSpPr/>
          <p:nvPr/>
        </p:nvSpPr>
        <p:spPr>
          <a:xfrm>
            <a:off x="9930384" y="1828800"/>
            <a:ext cx="2103120" cy="3246120"/>
          </a:xfrm>
          <a:prstGeom prst="roundRect">
            <a:avLst>
              <a:gd name="adj" fmla="val 3478"/>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30" name="Shape 28"/>
          <p:cNvSpPr/>
          <p:nvPr/>
        </p:nvSpPr>
        <p:spPr>
          <a:xfrm>
            <a:off x="10186416" y="2084832"/>
            <a:ext cx="475488" cy="475488"/>
          </a:xfrm>
          <a:prstGeom prst="roundRect">
            <a:avLst>
              <a:gd name="adj" fmla="val 50000"/>
            </a:avLst>
          </a:prstGeom>
          <a:solidFill>
            <a:srgbClr val="F4EBDA"/>
          </a:solidFill>
          <a:ln/>
        </p:spPr>
      </p:sp>
      <p:sp>
        <p:nvSpPr>
          <p:cNvPr id="31" name="Text 29"/>
          <p:cNvSpPr txBox="1"/>
          <p:nvPr/>
        </p:nvSpPr>
        <p:spPr>
          <a:xfrm>
            <a:off x="10186416" y="2084832"/>
            <a:ext cx="475488" cy="475488"/>
          </a:xfrm>
          <a:prstGeom prst="rect">
            <a:avLst/>
          </a:prstGeom>
          <a:noFill/>
          <a:ln/>
        </p:spPr>
        <p:txBody>
          <a:bodyPr wrap="square" lIns="0" tIns="0" rIns="0" bIns="0" rtlCol="0" anchor="ctr"/>
          <a:lstStyle/>
          <a:p>
            <a:pPr algn="ctr" indent="0" marL="0">
              <a:buNone/>
            </a:pPr>
            <a:r>
              <a:rPr lang="en-US" sz="1200" b="1" dirty="0">
                <a:solidFill>
                  <a:srgbClr val="A5793A"/>
                </a:solidFill>
                <a:latin typeface="Calibri" pitchFamily="34" charset="0"/>
                <a:ea typeface="Calibri" pitchFamily="34" charset="-122"/>
                <a:cs typeface="Calibri" pitchFamily="34" charset="-120"/>
              </a:rPr>
              <a:t>05</a:t>
            </a:r>
            <a:endParaRPr lang="en-US" sz="1200" dirty="0"/>
          </a:p>
        </p:txBody>
      </p:sp>
      <p:sp>
        <p:nvSpPr>
          <p:cNvPr id="32" name="Text 30"/>
          <p:cNvSpPr txBox="1"/>
          <p:nvPr/>
        </p:nvSpPr>
        <p:spPr>
          <a:xfrm>
            <a:off x="10186416" y="2743200"/>
            <a:ext cx="1591056" cy="457200"/>
          </a:xfrm>
          <a:prstGeom prst="rect">
            <a:avLst/>
          </a:prstGeom>
          <a:noFill/>
          <a:ln/>
        </p:spPr>
        <p:txBody>
          <a:bodyPr wrap="square" lIns="0" tIns="0" rIns="0" bIns="0" rtlCol="0" anchor="ctr"/>
          <a:lstStyle/>
          <a:p>
            <a:pPr indent="0" marL="0">
              <a:lnSpc>
                <a:spcPct val="105000"/>
              </a:lnSpc>
              <a:buNone/>
            </a:pPr>
            <a:r>
              <a:rPr lang="en-US" sz="1050" b="1" spc="110" kern="0" dirty="0">
                <a:solidFill>
                  <a:srgbClr val="006FCF"/>
                </a:solidFill>
                <a:latin typeface="Calibri" pitchFamily="34" charset="0"/>
                <a:ea typeface="Calibri" pitchFamily="34" charset="-122"/>
                <a:cs typeface="Calibri" pitchFamily="34" charset="-120"/>
              </a:rPr>
              <a:t>MODEL FLEXIBILITY</a:t>
            </a:r>
            <a:endParaRPr lang="en-US" sz="1050" dirty="0"/>
          </a:p>
        </p:txBody>
      </p:sp>
      <p:sp>
        <p:nvSpPr>
          <p:cNvPr id="33" name="Text 31"/>
          <p:cNvSpPr txBox="1"/>
          <p:nvPr/>
        </p:nvSpPr>
        <p:spPr>
          <a:xfrm>
            <a:off x="10186416" y="3246120"/>
            <a:ext cx="1591056" cy="777240"/>
          </a:xfrm>
          <a:prstGeom prst="rect">
            <a:avLst/>
          </a:prstGeom>
          <a:noFill/>
          <a:ln/>
        </p:spPr>
        <p:txBody>
          <a:bodyPr wrap="square" lIns="0" tIns="0" rIns="0" bIns="0" rtlCol="0" anchor="ctr"/>
          <a:lstStyle/>
          <a:p>
            <a:pPr indent="0" marL="0">
              <a:lnSpc>
                <a:spcPct val="108000"/>
              </a:lnSpc>
              <a:buNone/>
            </a:pPr>
            <a:r>
              <a:rPr lang="en-US" sz="1450" b="1" dirty="0">
                <a:solidFill>
                  <a:srgbClr val="1B2A44"/>
                </a:solidFill>
                <a:latin typeface="Cambria" pitchFamily="34" charset="0"/>
                <a:ea typeface="Cambria" pitchFamily="34" charset="-122"/>
                <a:cs typeface="Cambria" pitchFamily="34" charset="-120"/>
              </a:rPr>
              <a:t>One pipeline across providers</a:t>
            </a:r>
            <a:endParaRPr lang="en-US" sz="1450" dirty="0"/>
          </a:p>
        </p:txBody>
      </p:sp>
      <p:sp>
        <p:nvSpPr>
          <p:cNvPr id="34" name="Text 32"/>
          <p:cNvSpPr txBox="1"/>
          <p:nvPr/>
        </p:nvSpPr>
        <p:spPr>
          <a:xfrm>
            <a:off x="10186416" y="4069080"/>
            <a:ext cx="1591056" cy="868680"/>
          </a:xfrm>
          <a:prstGeom prst="rect">
            <a:avLst/>
          </a:prstGeom>
          <a:noFill/>
          <a:ln/>
        </p:spPr>
        <p:txBody>
          <a:bodyPr wrap="square" lIns="0" tIns="0" rIns="0" bIns="0" rtlCol="0" anchor="ctr"/>
          <a:lstStyle/>
          <a:p>
            <a:pPr indent="0" marL="0">
              <a:lnSpc>
                <a:spcPct val="115000"/>
              </a:lnSpc>
              <a:buNone/>
            </a:pPr>
            <a:r>
              <a:rPr lang="en-US" sz="1050" dirty="0">
                <a:solidFill>
                  <a:srgbClr val="53565A"/>
                </a:solidFill>
                <a:latin typeface="Calibri" pitchFamily="34" charset="0"/>
                <a:ea typeface="Calibri" pitchFamily="34" charset="-122"/>
                <a:cs typeface="Calibri" pitchFamily="34" charset="-120"/>
              </a:rPr>
              <a:t>The same workflow operating on multiple frontier models</a:t>
            </a:r>
            <a:endParaRPr lang="en-US" sz="1050" dirty="0"/>
          </a:p>
        </p:txBody>
      </p:sp>
      <p:sp>
        <p:nvSpPr>
          <p:cNvPr id="35" name="Shape 33"/>
          <p:cNvSpPr/>
          <p:nvPr/>
        </p:nvSpPr>
        <p:spPr>
          <a:xfrm>
            <a:off x="566928" y="5349240"/>
            <a:ext cx="11064240" cy="914400"/>
          </a:xfrm>
          <a:prstGeom prst="roundRect">
            <a:avLst>
              <a:gd name="adj" fmla="val 8000"/>
            </a:avLst>
          </a:prstGeom>
          <a:solidFill>
            <a:srgbClr val="00175A"/>
          </a:solidFill>
          <a:ln/>
          <a:effectLst>
            <a:outerShdw sx="100000" sy="100000" kx="0" ky="0" algn="bl" rotWithShape="0" blurRad="152400" dist="25400" dir="5400000">
              <a:srgbClr val="8FA0B8">
                <a:alpha val="20000"/>
              </a:srgbClr>
            </a:outerShdw>
          </a:effectLst>
        </p:spPr>
      </p:sp>
      <p:sp>
        <p:nvSpPr>
          <p:cNvPr id="36" name="Text 34"/>
          <p:cNvSpPr txBox="1"/>
          <p:nvPr/>
        </p:nvSpPr>
        <p:spPr>
          <a:xfrm>
            <a:off x="868680" y="5349240"/>
            <a:ext cx="10515600" cy="9144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None of these are claimed today. Each is a target the MVP evaluation will measure, including a controlled head to head against an external baseline.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1233"/>
        </a:solidFill>
      </p:bgPr>
    </p:bg>
    <p:spTree>
      <p:nvGrpSpPr>
        <p:cNvPr id="1" name=""/>
        <p:cNvGrpSpPr/>
        <p:nvPr/>
      </p:nvGrpSpPr>
      <p:grpSpPr>
        <a:xfrm>
          <a:off x="0" y="0"/>
          <a:ext cx="0" cy="0"/>
          <a:chOff x="0" y="0"/>
          <a:chExt cx="0" cy="0"/>
        </a:xfrm>
      </p:grpSpPr>
      <p:sp>
        <p:nvSpPr>
          <p:cNvPr id="2" name="Shape 0"/>
          <p:cNvSpPr/>
          <p:nvPr/>
        </p:nvSpPr>
        <p:spPr>
          <a:xfrm rot="5400000">
            <a:off x="566928" y="475488"/>
            <a:ext cx="128016" cy="146304"/>
          </a:xfrm>
          <a:prstGeom prst="triangle">
            <a:avLst/>
          </a:prstGeom>
          <a:solidFill>
            <a:srgbClr val="9BCAEB"/>
          </a:solidFill>
          <a:ln/>
        </p:spPr>
      </p:sp>
      <p:sp>
        <p:nvSpPr>
          <p:cNvPr id="3" name="Text 1"/>
          <p:cNvSpPr txBox="1"/>
          <p:nvPr/>
        </p:nvSpPr>
        <p:spPr>
          <a:xfrm>
            <a:off x="777240" y="402336"/>
            <a:ext cx="7315200" cy="292608"/>
          </a:xfrm>
          <a:prstGeom prst="rect">
            <a:avLst/>
          </a:prstGeom>
          <a:noFill/>
          <a:ln/>
        </p:spPr>
        <p:txBody>
          <a:bodyPr wrap="square" lIns="0" tIns="0" rIns="0" bIns="0" rtlCol="0" anchor="ctr"/>
          <a:lstStyle/>
          <a:p>
            <a:pPr indent="0" marL="0">
              <a:buNone/>
            </a:pPr>
            <a:r>
              <a:rPr lang="en-US" sz="1150" b="1" spc="160" kern="0" dirty="0">
                <a:solidFill>
                  <a:srgbClr val="9BCAEB"/>
                </a:solidFill>
                <a:latin typeface="Calibri" pitchFamily="34" charset="0"/>
                <a:ea typeface="Calibri" pitchFamily="34" charset="-122"/>
                <a:cs typeface="Calibri" pitchFamily="34" charset="-120"/>
              </a:rPr>
              <a:t>09  WHERE THIS GOES</a:t>
            </a:r>
            <a:endParaRPr lang="en-US" sz="1150" dirty="0"/>
          </a:p>
        </p:txBody>
      </p:sp>
      <p:sp>
        <p:nvSpPr>
          <p:cNvPr id="4" name="Text 2"/>
          <p:cNvSpPr txBox="1"/>
          <p:nvPr/>
        </p:nvSpPr>
        <p:spPr>
          <a:xfrm>
            <a:off x="548640" y="749808"/>
            <a:ext cx="11155680" cy="566928"/>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From evidence first research to continuous experimentation</a:t>
            </a:r>
            <a:endParaRPr lang="en-US" sz="3100" dirty="0"/>
          </a:p>
        </p:txBody>
      </p:sp>
      <p:sp>
        <p:nvSpPr>
          <p:cNvPr id="5" name="Shape 3"/>
          <p:cNvSpPr/>
          <p:nvPr/>
        </p:nvSpPr>
        <p:spPr>
          <a:xfrm>
            <a:off x="658368" y="2148840"/>
            <a:ext cx="3429000" cy="2606040"/>
          </a:xfrm>
          <a:prstGeom prst="roundRect">
            <a:avLst>
              <a:gd name="adj" fmla="val 2807"/>
            </a:avLst>
          </a:prstGeom>
          <a:solidFill>
            <a:srgbClr val="002050"/>
          </a:solidFill>
          <a:ln w="12700">
            <a:solidFill>
              <a:srgbClr val="13407F"/>
            </a:solidFill>
            <a:prstDash val="solid"/>
          </a:ln>
        </p:spPr>
      </p:sp>
      <p:sp>
        <p:nvSpPr>
          <p:cNvPr id="6" name="Text 4"/>
          <p:cNvSpPr txBox="1"/>
          <p:nvPr/>
        </p:nvSpPr>
        <p:spPr>
          <a:xfrm>
            <a:off x="978408" y="2450592"/>
            <a:ext cx="2788920" cy="292608"/>
          </a:xfrm>
          <a:prstGeom prst="rect">
            <a:avLst/>
          </a:prstGeom>
          <a:noFill/>
          <a:ln/>
        </p:spPr>
        <p:txBody>
          <a:bodyPr wrap="square" lIns="0" tIns="0" rIns="0" bIns="0" rtlCol="0" anchor="ctr"/>
          <a:lstStyle/>
          <a:p>
            <a:pPr indent="0" marL="0">
              <a:buNone/>
            </a:pPr>
            <a:r>
              <a:rPr lang="en-US" sz="1100" b="1" spc="150" kern="0" dirty="0">
                <a:solidFill>
                  <a:srgbClr val="9BCAEB"/>
                </a:solidFill>
                <a:latin typeface="Calibri" pitchFamily="34" charset="0"/>
                <a:ea typeface="Calibri" pitchFamily="34" charset="-122"/>
                <a:cs typeface="Calibri" pitchFamily="34" charset="-120"/>
              </a:rPr>
              <a:t>TODAY</a:t>
            </a:r>
            <a:endParaRPr lang="en-US" sz="1100" dirty="0"/>
          </a:p>
        </p:txBody>
      </p:sp>
      <p:sp>
        <p:nvSpPr>
          <p:cNvPr id="7" name="Text 5"/>
          <p:cNvSpPr txBox="1"/>
          <p:nvPr/>
        </p:nvSpPr>
        <p:spPr>
          <a:xfrm>
            <a:off x="978408" y="2816352"/>
            <a:ext cx="2788920" cy="868680"/>
          </a:xfrm>
          <a:prstGeom prst="rect">
            <a:avLst/>
          </a:prstGeom>
          <a:noFill/>
          <a:ln/>
        </p:spPr>
        <p:txBody>
          <a:bodyPr wrap="square" lIns="0" tIns="0" rIns="0" bIns="0" rtlCol="0" anchor="ctr"/>
          <a:lstStyle/>
          <a:p>
            <a:pPr indent="0" marL="0">
              <a:lnSpc>
                <a:spcPct val="110000"/>
              </a:lnSpc>
              <a:buNone/>
            </a:pPr>
            <a:r>
              <a:rPr lang="en-US" sz="1800" b="1" dirty="0">
                <a:solidFill>
                  <a:srgbClr val="FFFFFF"/>
                </a:solidFill>
                <a:latin typeface="Cambria" pitchFamily="34" charset="0"/>
                <a:ea typeface="Cambria" pitchFamily="34" charset="-122"/>
                <a:cs typeface="Cambria" pitchFamily="34" charset="-120"/>
              </a:rPr>
              <a:t>Evidence first AI security research</a:t>
            </a:r>
            <a:endParaRPr lang="en-US" sz="1800" dirty="0"/>
          </a:p>
        </p:txBody>
      </p:sp>
      <p:sp>
        <p:nvSpPr>
          <p:cNvPr id="8" name="Text 6"/>
          <p:cNvSpPr txBox="1"/>
          <p:nvPr/>
        </p:nvSpPr>
        <p:spPr>
          <a:xfrm>
            <a:off x="978408" y="3730752"/>
            <a:ext cx="2788920" cy="868680"/>
          </a:xfrm>
          <a:prstGeom prst="rect">
            <a:avLst/>
          </a:prstGeom>
          <a:noFill/>
          <a:ln/>
        </p:spPr>
        <p:txBody>
          <a:bodyPr wrap="square" lIns="0" tIns="0" rIns="0" bIns="0" rtlCol="0" anchor="ctr"/>
          <a:lstStyle/>
          <a:p>
            <a:pPr indent="0" marL="0">
              <a:lnSpc>
                <a:spcPct val="120000"/>
              </a:lnSpc>
              <a:buNone/>
            </a:pPr>
            <a:r>
              <a:rPr lang="en-US" sz="1150" dirty="0">
                <a:solidFill>
                  <a:srgbClr val="A9C4E2"/>
                </a:solidFill>
                <a:latin typeface="Calibri" pitchFamily="34" charset="0"/>
                <a:ea typeface="Calibri" pitchFamily="34" charset="-122"/>
                <a:cs typeface="Calibri" pitchFamily="34" charset="-120"/>
              </a:rPr>
              <a:t>Complementary discovery, root cause consolidation and an evidence challenge before delivery</a:t>
            </a:r>
            <a:endParaRPr lang="en-US" sz="1150" dirty="0"/>
          </a:p>
        </p:txBody>
      </p:sp>
      <p:sp>
        <p:nvSpPr>
          <p:cNvPr id="9" name="Shape 7"/>
          <p:cNvSpPr/>
          <p:nvPr/>
        </p:nvSpPr>
        <p:spPr>
          <a:xfrm rot="5400000">
            <a:off x="4233672" y="3364992"/>
            <a:ext cx="201168" cy="221285"/>
          </a:xfrm>
          <a:prstGeom prst="triangle">
            <a:avLst/>
          </a:prstGeom>
          <a:solidFill>
            <a:srgbClr val="2C5896"/>
          </a:solidFill>
          <a:ln/>
        </p:spPr>
      </p:sp>
      <p:sp>
        <p:nvSpPr>
          <p:cNvPr id="10" name="Shape 8"/>
          <p:cNvSpPr/>
          <p:nvPr/>
        </p:nvSpPr>
        <p:spPr>
          <a:xfrm>
            <a:off x="4590288" y="2148840"/>
            <a:ext cx="3429000" cy="2606040"/>
          </a:xfrm>
          <a:prstGeom prst="roundRect">
            <a:avLst>
              <a:gd name="adj" fmla="val 2807"/>
            </a:avLst>
          </a:prstGeom>
          <a:solidFill>
            <a:srgbClr val="002050"/>
          </a:solidFill>
          <a:ln w="12700">
            <a:solidFill>
              <a:srgbClr val="13407F"/>
            </a:solidFill>
            <a:prstDash val="solid"/>
          </a:ln>
        </p:spPr>
      </p:sp>
      <p:sp>
        <p:nvSpPr>
          <p:cNvPr id="11" name="Text 9"/>
          <p:cNvSpPr txBox="1"/>
          <p:nvPr/>
        </p:nvSpPr>
        <p:spPr>
          <a:xfrm>
            <a:off x="4910328" y="2450592"/>
            <a:ext cx="2788920" cy="292608"/>
          </a:xfrm>
          <a:prstGeom prst="rect">
            <a:avLst/>
          </a:prstGeom>
          <a:noFill/>
          <a:ln/>
        </p:spPr>
        <p:txBody>
          <a:bodyPr wrap="square" lIns="0" tIns="0" rIns="0" bIns="0" rtlCol="0" anchor="ctr"/>
          <a:lstStyle/>
          <a:p>
            <a:pPr indent="0" marL="0">
              <a:buNone/>
            </a:pPr>
            <a:r>
              <a:rPr lang="en-US" sz="1100" b="1" spc="150" kern="0" dirty="0">
                <a:solidFill>
                  <a:srgbClr val="7FC3F5"/>
                </a:solidFill>
                <a:latin typeface="Calibri" pitchFamily="34" charset="0"/>
                <a:ea typeface="Calibri" pitchFamily="34" charset="-122"/>
                <a:cs typeface="Calibri" pitchFamily="34" charset="-120"/>
              </a:rPr>
              <a:t>NEXT</a:t>
            </a:r>
            <a:endParaRPr lang="en-US" sz="1100" dirty="0"/>
          </a:p>
        </p:txBody>
      </p:sp>
      <p:sp>
        <p:nvSpPr>
          <p:cNvPr id="12" name="Text 10"/>
          <p:cNvSpPr txBox="1"/>
          <p:nvPr/>
        </p:nvSpPr>
        <p:spPr>
          <a:xfrm>
            <a:off x="4910328" y="2816352"/>
            <a:ext cx="2788920" cy="868680"/>
          </a:xfrm>
          <a:prstGeom prst="rect">
            <a:avLst/>
          </a:prstGeom>
          <a:noFill/>
          <a:ln/>
        </p:spPr>
        <p:txBody>
          <a:bodyPr wrap="square" lIns="0" tIns="0" rIns="0" bIns="0" rtlCol="0" anchor="ctr"/>
          <a:lstStyle/>
          <a:p>
            <a:pPr indent="0" marL="0">
              <a:lnSpc>
                <a:spcPct val="110000"/>
              </a:lnSpc>
              <a:buNone/>
            </a:pPr>
            <a:r>
              <a:rPr lang="en-US" sz="1800" b="1" dirty="0">
                <a:solidFill>
                  <a:srgbClr val="FFFFFF"/>
                </a:solidFill>
                <a:latin typeface="Cambria" pitchFamily="34" charset="0"/>
                <a:ea typeface="Cambria" pitchFamily="34" charset="-122"/>
                <a:cs typeface="Cambria" pitchFamily="34" charset="-120"/>
              </a:rPr>
              <a:t>Increasing autonomous runtime validation</a:t>
            </a:r>
            <a:endParaRPr lang="en-US" sz="1800" dirty="0"/>
          </a:p>
        </p:txBody>
      </p:sp>
      <p:sp>
        <p:nvSpPr>
          <p:cNvPr id="13" name="Text 11"/>
          <p:cNvSpPr txBox="1"/>
          <p:nvPr/>
        </p:nvSpPr>
        <p:spPr>
          <a:xfrm>
            <a:off x="4910328" y="3730752"/>
            <a:ext cx="2788920" cy="868680"/>
          </a:xfrm>
          <a:prstGeom prst="rect">
            <a:avLst/>
          </a:prstGeom>
          <a:noFill/>
          <a:ln/>
        </p:spPr>
        <p:txBody>
          <a:bodyPr wrap="square" lIns="0" tIns="0" rIns="0" bIns="0" rtlCol="0" anchor="ctr"/>
          <a:lstStyle/>
          <a:p>
            <a:pPr indent="0" marL="0">
              <a:lnSpc>
                <a:spcPct val="120000"/>
              </a:lnSpc>
              <a:buNone/>
            </a:pPr>
            <a:r>
              <a:rPr lang="en-US" sz="1150" dirty="0">
                <a:solidFill>
                  <a:srgbClr val="A9C4E2"/>
                </a:solidFill>
                <a:latin typeface="Calibri" pitchFamily="34" charset="0"/>
                <a:ea typeface="Calibri" pitchFamily="34" charset="-122"/>
                <a:cs typeface="Calibri" pitchFamily="34" charset="-120"/>
              </a:rPr>
              <a:t>More priority findings demonstrated or refuted in an executable environment</a:t>
            </a:r>
            <a:endParaRPr lang="en-US" sz="1150" dirty="0"/>
          </a:p>
        </p:txBody>
      </p:sp>
      <p:sp>
        <p:nvSpPr>
          <p:cNvPr id="14" name="Shape 12"/>
          <p:cNvSpPr/>
          <p:nvPr/>
        </p:nvSpPr>
        <p:spPr>
          <a:xfrm rot="5400000">
            <a:off x="8165592" y="3364992"/>
            <a:ext cx="201168" cy="221285"/>
          </a:xfrm>
          <a:prstGeom prst="triangle">
            <a:avLst/>
          </a:prstGeom>
          <a:solidFill>
            <a:srgbClr val="2C5896"/>
          </a:solidFill>
          <a:ln/>
        </p:spPr>
      </p:sp>
      <p:sp>
        <p:nvSpPr>
          <p:cNvPr id="15" name="Shape 13"/>
          <p:cNvSpPr/>
          <p:nvPr/>
        </p:nvSpPr>
        <p:spPr>
          <a:xfrm>
            <a:off x="8522208" y="2148840"/>
            <a:ext cx="3429000" cy="2606040"/>
          </a:xfrm>
          <a:prstGeom prst="roundRect">
            <a:avLst>
              <a:gd name="adj" fmla="val 2807"/>
            </a:avLst>
          </a:prstGeom>
          <a:solidFill>
            <a:srgbClr val="002050"/>
          </a:solidFill>
          <a:ln w="12700">
            <a:solidFill>
              <a:srgbClr val="13407F"/>
            </a:solidFill>
            <a:prstDash val="solid"/>
          </a:ln>
        </p:spPr>
      </p:sp>
      <p:sp>
        <p:nvSpPr>
          <p:cNvPr id="16" name="Text 14"/>
          <p:cNvSpPr txBox="1"/>
          <p:nvPr/>
        </p:nvSpPr>
        <p:spPr>
          <a:xfrm>
            <a:off x="8842248" y="2450592"/>
            <a:ext cx="2788920" cy="292608"/>
          </a:xfrm>
          <a:prstGeom prst="rect">
            <a:avLst/>
          </a:prstGeom>
          <a:noFill/>
          <a:ln/>
        </p:spPr>
        <p:txBody>
          <a:bodyPr wrap="square" lIns="0" tIns="0" rIns="0" bIns="0" rtlCol="0" anchor="ctr"/>
          <a:lstStyle/>
          <a:p>
            <a:pPr indent="0" marL="0">
              <a:buNone/>
            </a:pPr>
            <a:r>
              <a:rPr lang="en-US" sz="1100" b="1" spc="150" kern="0" dirty="0">
                <a:solidFill>
                  <a:srgbClr val="D9B36C"/>
                </a:solidFill>
                <a:latin typeface="Calibri" pitchFamily="34" charset="0"/>
                <a:ea typeface="Calibri" pitchFamily="34" charset="-122"/>
                <a:cs typeface="Calibri" pitchFamily="34" charset="-120"/>
              </a:rPr>
              <a:t>FUTURE</a:t>
            </a:r>
            <a:endParaRPr lang="en-US" sz="1100" dirty="0"/>
          </a:p>
        </p:txBody>
      </p:sp>
      <p:sp>
        <p:nvSpPr>
          <p:cNvPr id="17" name="Text 15"/>
          <p:cNvSpPr txBox="1"/>
          <p:nvPr/>
        </p:nvSpPr>
        <p:spPr>
          <a:xfrm>
            <a:off x="8842248" y="2816352"/>
            <a:ext cx="2788920" cy="868680"/>
          </a:xfrm>
          <a:prstGeom prst="rect">
            <a:avLst/>
          </a:prstGeom>
          <a:noFill/>
          <a:ln/>
        </p:spPr>
        <p:txBody>
          <a:bodyPr wrap="square" lIns="0" tIns="0" rIns="0" bIns="0" rtlCol="0" anchor="ctr"/>
          <a:lstStyle/>
          <a:p>
            <a:pPr indent="0" marL="0">
              <a:lnSpc>
                <a:spcPct val="110000"/>
              </a:lnSpc>
              <a:buNone/>
            </a:pPr>
            <a:r>
              <a:rPr lang="en-US" sz="1800" b="1" dirty="0">
                <a:solidFill>
                  <a:srgbClr val="FFFFFF"/>
                </a:solidFill>
                <a:latin typeface="Cambria" pitchFamily="34" charset="0"/>
                <a:ea typeface="Cambria" pitchFamily="34" charset="-122"/>
                <a:cs typeface="Cambria" pitchFamily="34" charset="-120"/>
              </a:rPr>
              <a:t>Continuous AI security experimentation</a:t>
            </a:r>
            <a:endParaRPr lang="en-US" sz="1800" dirty="0"/>
          </a:p>
        </p:txBody>
      </p:sp>
      <p:sp>
        <p:nvSpPr>
          <p:cNvPr id="18" name="Text 16"/>
          <p:cNvSpPr txBox="1"/>
          <p:nvPr/>
        </p:nvSpPr>
        <p:spPr>
          <a:xfrm>
            <a:off x="8842248" y="3730752"/>
            <a:ext cx="2788920" cy="868680"/>
          </a:xfrm>
          <a:prstGeom prst="rect">
            <a:avLst/>
          </a:prstGeom>
          <a:noFill/>
          <a:ln/>
        </p:spPr>
        <p:txBody>
          <a:bodyPr wrap="square" lIns="0" tIns="0" rIns="0" bIns="0" rtlCol="0" anchor="ctr"/>
          <a:lstStyle/>
          <a:p>
            <a:pPr indent="0" marL="0">
              <a:lnSpc>
                <a:spcPct val="120000"/>
              </a:lnSpc>
              <a:buNone/>
            </a:pPr>
            <a:r>
              <a:rPr lang="en-US" sz="1150" dirty="0">
                <a:solidFill>
                  <a:srgbClr val="A9C4E2"/>
                </a:solidFill>
                <a:latin typeface="Calibri" pitchFamily="34" charset="0"/>
                <a:ea typeface="Calibri" pitchFamily="34" charset="-122"/>
                <a:cs typeface="Calibri" pitchFamily="34" charset="-120"/>
              </a:rPr>
              <a:t>Ongoing investigation across real application environments as models improve</a:t>
            </a:r>
            <a:endParaRPr lang="en-US" sz="1150" dirty="0"/>
          </a:p>
        </p:txBody>
      </p:sp>
      <p:sp>
        <p:nvSpPr>
          <p:cNvPr id="19" name="Text 17"/>
          <p:cNvSpPr txBox="1"/>
          <p:nvPr/>
        </p:nvSpPr>
        <p:spPr>
          <a:xfrm>
            <a:off x="658368" y="5257800"/>
            <a:ext cx="10881360" cy="868680"/>
          </a:xfrm>
          <a:prstGeom prst="rect">
            <a:avLst/>
          </a:prstGeom>
          <a:noFill/>
          <a:ln/>
        </p:spPr>
        <p:txBody>
          <a:bodyPr wrap="square" lIns="0" tIns="0" rIns="0" bIns="0" rtlCol="0" anchor="ctr"/>
          <a:lstStyle/>
          <a:p>
            <a:pPr indent="0" marL="0">
              <a:lnSpc>
                <a:spcPct val="125000"/>
              </a:lnSpc>
              <a:buNone/>
            </a:pPr>
            <a:r>
              <a:rPr lang="en-US" sz="1600" dirty="0">
                <a:solidFill>
                  <a:srgbClr val="D2E1F2"/>
                </a:solidFill>
                <a:latin typeface="Cambria" pitchFamily="34" charset="0"/>
                <a:ea typeface="Cambria" pitchFamily="34" charset="-122"/>
                <a:cs typeface="Cambria" pitchFamily="34" charset="-120"/>
              </a:rPr>
              <a:t>PRISM's advantage is not one better AI model. It is an architecture that combines complementary security investigation, evidence driven filtering, selective runtime validation and cost aware model routing into one system.</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1233"/>
        </a:solidFill>
      </p:bgPr>
    </p:bg>
    <p:spTree>
      <p:nvGrpSpPr>
        <p:cNvPr id="1" name=""/>
        <p:cNvGrpSpPr/>
        <p:nvPr/>
      </p:nvGrpSpPr>
      <p:grpSpPr>
        <a:xfrm>
          <a:off x="0" y="0"/>
          <a:ext cx="0" cy="0"/>
          <a:chOff x="0" y="0"/>
          <a:chExt cx="0" cy="0"/>
        </a:xfrm>
      </p:grpSpPr>
      <p:sp>
        <p:nvSpPr>
          <p:cNvPr id="2" name="Shape 0"/>
          <p:cNvSpPr/>
          <p:nvPr/>
        </p:nvSpPr>
        <p:spPr>
          <a:xfrm rot="5400000">
            <a:off x="566928" y="475488"/>
            <a:ext cx="128016" cy="146304"/>
          </a:xfrm>
          <a:prstGeom prst="triangle">
            <a:avLst/>
          </a:prstGeom>
          <a:solidFill>
            <a:srgbClr val="9BCAEB"/>
          </a:solidFill>
          <a:ln/>
        </p:spPr>
      </p:sp>
      <p:sp>
        <p:nvSpPr>
          <p:cNvPr id="3" name="Text 1"/>
          <p:cNvSpPr txBox="1"/>
          <p:nvPr/>
        </p:nvSpPr>
        <p:spPr>
          <a:xfrm>
            <a:off x="777240" y="402336"/>
            <a:ext cx="7315200" cy="292608"/>
          </a:xfrm>
          <a:prstGeom prst="rect">
            <a:avLst/>
          </a:prstGeom>
          <a:noFill/>
          <a:ln/>
        </p:spPr>
        <p:txBody>
          <a:bodyPr wrap="square" lIns="0" tIns="0" rIns="0" bIns="0" rtlCol="0" anchor="ctr"/>
          <a:lstStyle/>
          <a:p>
            <a:pPr indent="0" marL="0">
              <a:buNone/>
            </a:pPr>
            <a:r>
              <a:rPr lang="en-US" sz="1150" b="1" spc="160" kern="0" dirty="0">
                <a:solidFill>
                  <a:srgbClr val="9BCAEB"/>
                </a:solidFill>
                <a:latin typeface="Calibri" pitchFamily="34" charset="0"/>
                <a:ea typeface="Calibri" pitchFamily="34" charset="-122"/>
                <a:cs typeface="Calibri" pitchFamily="34" charset="-120"/>
              </a:rPr>
              <a:t>APPENDIX   |   FIELD EVIDENCE</a:t>
            </a:r>
            <a:endParaRPr lang="en-US" sz="1150" dirty="0"/>
          </a:p>
        </p:txBody>
      </p:sp>
      <p:sp>
        <p:nvSpPr>
          <p:cNvPr id="4" name="Text 2"/>
          <p:cNvSpPr txBox="1"/>
          <p:nvPr/>
        </p:nvSpPr>
        <p:spPr>
          <a:xfrm>
            <a:off x="548640" y="731520"/>
            <a:ext cx="11155680" cy="566928"/>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What the attached evidence brief contains</a:t>
            </a:r>
            <a:endParaRPr lang="en-US" sz="3100" dirty="0"/>
          </a:p>
        </p:txBody>
      </p:sp>
      <p:sp>
        <p:nvSpPr>
          <p:cNvPr id="5" name="Text 3"/>
          <p:cNvSpPr txBox="1"/>
          <p:nvPr/>
        </p:nvSpPr>
        <p:spPr>
          <a:xfrm>
            <a:off x="548640" y="1371600"/>
            <a:ext cx="10515600" cy="731520"/>
          </a:xfrm>
          <a:prstGeom prst="rect">
            <a:avLst/>
          </a:prstGeom>
          <a:noFill/>
          <a:ln/>
        </p:spPr>
        <p:txBody>
          <a:bodyPr wrap="square" lIns="0" tIns="0" rIns="0" bIns="0" rtlCol="0" anchor="ctr"/>
          <a:lstStyle/>
          <a:p>
            <a:pPr indent="0" marL="0">
              <a:lnSpc>
                <a:spcPct val="125000"/>
              </a:lnSpc>
              <a:buNone/>
            </a:pPr>
            <a:r>
              <a:rPr lang="en-US" sz="1400" dirty="0">
                <a:solidFill>
                  <a:srgbClr val="C5D9EE"/>
                </a:solidFill>
                <a:latin typeface="Calibri" pitchFamily="34" charset="0"/>
                <a:ea typeface="Calibri" pitchFamily="34" charset="-122"/>
                <a:cs typeface="Calibri" pitchFamily="34" charset="-120"/>
              </a:rPr>
              <a:t>The slides that follow are a separate internal brief, attached here as evidence. They record benchmark validation and field work rather than a projection: 92% and 97% detection on the public suites, then three defects proved in three widely used open source projects in one week.</a:t>
            </a:r>
            <a:endParaRPr lang="en-US" sz="1400" dirty="0"/>
          </a:p>
        </p:txBody>
      </p:sp>
      <p:sp>
        <p:nvSpPr>
          <p:cNvPr id="6" name="Shape 4"/>
          <p:cNvSpPr/>
          <p:nvPr/>
        </p:nvSpPr>
        <p:spPr>
          <a:xfrm>
            <a:off x="310896" y="2331720"/>
            <a:ext cx="2651760" cy="1371600"/>
          </a:xfrm>
          <a:prstGeom prst="roundRect">
            <a:avLst>
              <a:gd name="adj" fmla="val 5333"/>
            </a:avLst>
          </a:prstGeom>
          <a:solidFill>
            <a:srgbClr val="002050"/>
          </a:solidFill>
          <a:ln w="12700">
            <a:solidFill>
              <a:srgbClr val="13407F"/>
            </a:solidFill>
            <a:prstDash val="solid"/>
          </a:ln>
        </p:spPr>
      </p:sp>
      <p:sp>
        <p:nvSpPr>
          <p:cNvPr id="7" name="Text 5"/>
          <p:cNvSpPr txBox="1"/>
          <p:nvPr/>
        </p:nvSpPr>
        <p:spPr>
          <a:xfrm>
            <a:off x="548640" y="2478024"/>
            <a:ext cx="640080" cy="237744"/>
          </a:xfrm>
          <a:prstGeom prst="rect">
            <a:avLst/>
          </a:prstGeom>
          <a:noFill/>
          <a:ln/>
        </p:spPr>
        <p:txBody>
          <a:bodyPr wrap="square" lIns="0" tIns="0" rIns="0" bIns="0" rtlCol="0" anchor="ctr"/>
          <a:lstStyle/>
          <a:p>
            <a:pPr indent="0" marL="0">
              <a:buNone/>
            </a:pPr>
            <a:r>
              <a:rPr lang="en-US" sz="1000" b="1" spc="120" kern="0" dirty="0">
                <a:solidFill>
                  <a:srgbClr val="7FC3F5"/>
                </a:solidFill>
                <a:latin typeface="Calibri" pitchFamily="34" charset="0"/>
                <a:ea typeface="Calibri" pitchFamily="34" charset="-122"/>
                <a:cs typeface="Calibri" pitchFamily="34" charset="-120"/>
              </a:rPr>
              <a:t>A1</a:t>
            </a:r>
            <a:endParaRPr lang="en-US" sz="1000" dirty="0"/>
          </a:p>
        </p:txBody>
      </p:sp>
      <p:sp>
        <p:nvSpPr>
          <p:cNvPr id="8" name="Text 6"/>
          <p:cNvSpPr txBox="1"/>
          <p:nvPr/>
        </p:nvSpPr>
        <p:spPr>
          <a:xfrm>
            <a:off x="548640" y="2734056"/>
            <a:ext cx="2176272" cy="310896"/>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Executive summary</a:t>
            </a:r>
            <a:endParaRPr lang="en-US" sz="1350" dirty="0"/>
          </a:p>
        </p:txBody>
      </p:sp>
      <p:sp>
        <p:nvSpPr>
          <p:cNvPr id="9" name="Text 7"/>
          <p:cNvSpPr txBox="1"/>
          <p:nvPr/>
        </p:nvSpPr>
        <p:spPr>
          <a:xfrm>
            <a:off x="548640" y="3054096"/>
            <a:ext cx="2176272" cy="548640"/>
          </a:xfrm>
          <a:prstGeom prst="rect">
            <a:avLst/>
          </a:prstGeom>
          <a:noFill/>
          <a:ln/>
        </p:spPr>
        <p:txBody>
          <a:bodyPr wrap="square" lIns="0" tIns="0" rIns="0" bIns="0" rtlCol="0" anchor="ctr"/>
          <a:lstStyle/>
          <a:p>
            <a:pPr indent="0" marL="0">
              <a:lnSpc>
                <a:spcPct val="115000"/>
              </a:lnSpc>
              <a:buNone/>
            </a:pPr>
            <a:r>
              <a:rPr lang="en-US" sz="1000" dirty="0">
                <a:solidFill>
                  <a:srgbClr val="A9C4E2"/>
                </a:solidFill>
                <a:latin typeface="Calibri" pitchFamily="34" charset="0"/>
                <a:ea typeface="Calibri" pitchFamily="34" charset="-122"/>
                <a:cs typeface="Calibri" pitchFamily="34" charset="-120"/>
              </a:rPr>
              <a:t>Four numbers, and the four takeaways behind them</a:t>
            </a:r>
            <a:endParaRPr lang="en-US" sz="1000" dirty="0"/>
          </a:p>
        </p:txBody>
      </p:sp>
      <p:sp>
        <p:nvSpPr>
          <p:cNvPr id="10" name="Shape 8"/>
          <p:cNvSpPr/>
          <p:nvPr/>
        </p:nvSpPr>
        <p:spPr>
          <a:xfrm>
            <a:off x="3282696" y="2331720"/>
            <a:ext cx="2651760" cy="1371600"/>
          </a:xfrm>
          <a:prstGeom prst="roundRect">
            <a:avLst>
              <a:gd name="adj" fmla="val 5333"/>
            </a:avLst>
          </a:prstGeom>
          <a:solidFill>
            <a:srgbClr val="002050"/>
          </a:solidFill>
          <a:ln w="12700">
            <a:solidFill>
              <a:srgbClr val="13407F"/>
            </a:solidFill>
            <a:prstDash val="solid"/>
          </a:ln>
        </p:spPr>
      </p:sp>
      <p:sp>
        <p:nvSpPr>
          <p:cNvPr id="11" name="Text 9"/>
          <p:cNvSpPr txBox="1"/>
          <p:nvPr/>
        </p:nvSpPr>
        <p:spPr>
          <a:xfrm>
            <a:off x="3520440" y="2478024"/>
            <a:ext cx="640080" cy="237744"/>
          </a:xfrm>
          <a:prstGeom prst="rect">
            <a:avLst/>
          </a:prstGeom>
          <a:noFill/>
          <a:ln/>
        </p:spPr>
        <p:txBody>
          <a:bodyPr wrap="square" lIns="0" tIns="0" rIns="0" bIns="0" rtlCol="0" anchor="ctr"/>
          <a:lstStyle/>
          <a:p>
            <a:pPr indent="0" marL="0">
              <a:buNone/>
            </a:pPr>
            <a:r>
              <a:rPr lang="en-US" sz="1000" b="1" spc="120" kern="0" dirty="0">
                <a:solidFill>
                  <a:srgbClr val="7FC3F5"/>
                </a:solidFill>
                <a:latin typeface="Calibri" pitchFamily="34" charset="0"/>
                <a:ea typeface="Calibri" pitchFamily="34" charset="-122"/>
                <a:cs typeface="Calibri" pitchFamily="34" charset="-120"/>
              </a:rPr>
              <a:t>A2</a:t>
            </a:r>
            <a:endParaRPr lang="en-US" sz="1000" dirty="0"/>
          </a:p>
        </p:txBody>
      </p:sp>
      <p:sp>
        <p:nvSpPr>
          <p:cNvPr id="12" name="Text 10"/>
          <p:cNvSpPr txBox="1"/>
          <p:nvPr/>
        </p:nvSpPr>
        <p:spPr>
          <a:xfrm>
            <a:off x="3520440" y="2734056"/>
            <a:ext cx="2176272" cy="310896"/>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How it works</a:t>
            </a:r>
            <a:endParaRPr lang="en-US" sz="1350" dirty="0"/>
          </a:p>
        </p:txBody>
      </p:sp>
      <p:sp>
        <p:nvSpPr>
          <p:cNvPr id="13" name="Text 11"/>
          <p:cNvSpPr txBox="1"/>
          <p:nvPr/>
        </p:nvSpPr>
        <p:spPr>
          <a:xfrm>
            <a:off x="3520440" y="3054096"/>
            <a:ext cx="2176272" cy="548640"/>
          </a:xfrm>
          <a:prstGeom prst="rect">
            <a:avLst/>
          </a:prstGeom>
          <a:noFill/>
          <a:ln/>
        </p:spPr>
        <p:txBody>
          <a:bodyPr wrap="square" lIns="0" tIns="0" rIns="0" bIns="0" rtlCol="0" anchor="ctr"/>
          <a:lstStyle/>
          <a:p>
            <a:pPr indent="0" marL="0">
              <a:lnSpc>
                <a:spcPct val="115000"/>
              </a:lnSpc>
              <a:buNone/>
            </a:pPr>
            <a:r>
              <a:rPr lang="en-US" sz="1000" dirty="0">
                <a:solidFill>
                  <a:srgbClr val="A9C4E2"/>
                </a:solidFill>
                <a:latin typeface="Calibri" pitchFamily="34" charset="0"/>
                <a:ea typeface="Calibri" pitchFamily="34" charset="-122"/>
                <a:cs typeface="Calibri" pitchFamily="34" charset="-120"/>
              </a:rPr>
              <a:t>Understand, argue, prove, in plain language</a:t>
            </a:r>
            <a:endParaRPr lang="en-US" sz="1000" dirty="0"/>
          </a:p>
        </p:txBody>
      </p:sp>
      <p:sp>
        <p:nvSpPr>
          <p:cNvPr id="14" name="Shape 12"/>
          <p:cNvSpPr/>
          <p:nvPr/>
        </p:nvSpPr>
        <p:spPr>
          <a:xfrm>
            <a:off x="6254496" y="2331720"/>
            <a:ext cx="2651760" cy="1371600"/>
          </a:xfrm>
          <a:prstGeom prst="roundRect">
            <a:avLst>
              <a:gd name="adj" fmla="val 5333"/>
            </a:avLst>
          </a:prstGeom>
          <a:solidFill>
            <a:srgbClr val="002050"/>
          </a:solidFill>
          <a:ln w="12700">
            <a:solidFill>
              <a:srgbClr val="13407F"/>
            </a:solidFill>
            <a:prstDash val="solid"/>
          </a:ln>
        </p:spPr>
      </p:sp>
      <p:sp>
        <p:nvSpPr>
          <p:cNvPr id="15" name="Text 13"/>
          <p:cNvSpPr txBox="1"/>
          <p:nvPr/>
        </p:nvSpPr>
        <p:spPr>
          <a:xfrm>
            <a:off x="6492240" y="2478024"/>
            <a:ext cx="640080" cy="237744"/>
          </a:xfrm>
          <a:prstGeom prst="rect">
            <a:avLst/>
          </a:prstGeom>
          <a:noFill/>
          <a:ln/>
        </p:spPr>
        <p:txBody>
          <a:bodyPr wrap="square" lIns="0" tIns="0" rIns="0" bIns="0" rtlCol="0" anchor="ctr"/>
          <a:lstStyle/>
          <a:p>
            <a:pPr indent="0" marL="0">
              <a:buNone/>
            </a:pPr>
            <a:r>
              <a:rPr lang="en-US" sz="1000" b="1" spc="120" kern="0" dirty="0">
                <a:solidFill>
                  <a:srgbClr val="7FC3F5"/>
                </a:solidFill>
                <a:latin typeface="Calibri" pitchFamily="34" charset="0"/>
                <a:ea typeface="Calibri" pitchFamily="34" charset="-122"/>
                <a:cs typeface="Calibri" pitchFamily="34" charset="-120"/>
              </a:rPr>
              <a:t>A3</a:t>
            </a:r>
            <a:endParaRPr lang="en-US" sz="1000" dirty="0"/>
          </a:p>
        </p:txBody>
      </p:sp>
      <p:sp>
        <p:nvSpPr>
          <p:cNvPr id="16" name="Text 14"/>
          <p:cNvSpPr txBox="1"/>
          <p:nvPr/>
        </p:nvSpPr>
        <p:spPr>
          <a:xfrm>
            <a:off x="6492240" y="2734056"/>
            <a:ext cx="2176272" cy="310896"/>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The findings</a:t>
            </a:r>
            <a:endParaRPr lang="en-US" sz="1350" dirty="0"/>
          </a:p>
        </p:txBody>
      </p:sp>
      <p:sp>
        <p:nvSpPr>
          <p:cNvPr id="17" name="Text 15"/>
          <p:cNvSpPr txBox="1"/>
          <p:nvPr/>
        </p:nvSpPr>
        <p:spPr>
          <a:xfrm>
            <a:off x="6492240" y="3054096"/>
            <a:ext cx="2176272" cy="548640"/>
          </a:xfrm>
          <a:prstGeom prst="rect">
            <a:avLst/>
          </a:prstGeom>
          <a:noFill/>
          <a:ln/>
        </p:spPr>
        <p:txBody>
          <a:bodyPr wrap="square" lIns="0" tIns="0" rIns="0" bIns="0" rtlCol="0" anchor="ctr"/>
          <a:lstStyle/>
          <a:p>
            <a:pPr indent="0" marL="0">
              <a:lnSpc>
                <a:spcPct val="115000"/>
              </a:lnSpc>
              <a:buNone/>
            </a:pPr>
            <a:r>
              <a:rPr lang="en-US" sz="1000" dirty="0">
                <a:solidFill>
                  <a:srgbClr val="A9C4E2"/>
                </a:solidFill>
                <a:latin typeface="Calibri" pitchFamily="34" charset="0"/>
                <a:ea typeface="Calibri" pitchFamily="34" charset="-122"/>
                <a:cs typeface="Calibri" pitchFamily="34" charset="-120"/>
              </a:rPr>
              <a:t>Three defects, each one proved and each still unrepaired</a:t>
            </a:r>
            <a:endParaRPr lang="en-US" sz="1000" dirty="0"/>
          </a:p>
        </p:txBody>
      </p:sp>
      <p:sp>
        <p:nvSpPr>
          <p:cNvPr id="18" name="Shape 16"/>
          <p:cNvSpPr/>
          <p:nvPr/>
        </p:nvSpPr>
        <p:spPr>
          <a:xfrm>
            <a:off x="9226296" y="2331720"/>
            <a:ext cx="2651760" cy="1371600"/>
          </a:xfrm>
          <a:prstGeom prst="roundRect">
            <a:avLst>
              <a:gd name="adj" fmla="val 5333"/>
            </a:avLst>
          </a:prstGeom>
          <a:solidFill>
            <a:srgbClr val="002050"/>
          </a:solidFill>
          <a:ln w="12700">
            <a:solidFill>
              <a:srgbClr val="13407F"/>
            </a:solidFill>
            <a:prstDash val="solid"/>
          </a:ln>
        </p:spPr>
      </p:sp>
      <p:sp>
        <p:nvSpPr>
          <p:cNvPr id="19" name="Text 17"/>
          <p:cNvSpPr txBox="1"/>
          <p:nvPr/>
        </p:nvSpPr>
        <p:spPr>
          <a:xfrm>
            <a:off x="9464040" y="2478024"/>
            <a:ext cx="640080" cy="237744"/>
          </a:xfrm>
          <a:prstGeom prst="rect">
            <a:avLst/>
          </a:prstGeom>
          <a:noFill/>
          <a:ln/>
        </p:spPr>
        <p:txBody>
          <a:bodyPr wrap="square" lIns="0" tIns="0" rIns="0" bIns="0" rtlCol="0" anchor="ctr"/>
          <a:lstStyle/>
          <a:p>
            <a:pPr indent="0" marL="0">
              <a:buNone/>
            </a:pPr>
            <a:r>
              <a:rPr lang="en-US" sz="1000" b="1" spc="120" kern="0" dirty="0">
                <a:solidFill>
                  <a:srgbClr val="7FC3F5"/>
                </a:solidFill>
                <a:latin typeface="Calibri" pitchFamily="34" charset="0"/>
                <a:ea typeface="Calibri" pitchFamily="34" charset="-122"/>
                <a:cs typeface="Calibri" pitchFamily="34" charset="-120"/>
              </a:rPr>
              <a:t>A4</a:t>
            </a:r>
            <a:endParaRPr lang="en-US" sz="1000" dirty="0"/>
          </a:p>
        </p:txBody>
      </p:sp>
      <p:sp>
        <p:nvSpPr>
          <p:cNvPr id="20" name="Text 18"/>
          <p:cNvSpPr txBox="1"/>
          <p:nvPr/>
        </p:nvSpPr>
        <p:spPr>
          <a:xfrm>
            <a:off x="9464040" y="2734056"/>
            <a:ext cx="2176272" cy="310896"/>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The standout finding</a:t>
            </a:r>
            <a:endParaRPr lang="en-US" sz="1350" dirty="0"/>
          </a:p>
        </p:txBody>
      </p:sp>
      <p:sp>
        <p:nvSpPr>
          <p:cNvPr id="21" name="Text 19"/>
          <p:cNvSpPr txBox="1"/>
          <p:nvPr/>
        </p:nvSpPr>
        <p:spPr>
          <a:xfrm>
            <a:off x="9464040" y="3054096"/>
            <a:ext cx="2176272" cy="548640"/>
          </a:xfrm>
          <a:prstGeom prst="rect">
            <a:avLst/>
          </a:prstGeom>
          <a:noFill/>
          <a:ln/>
        </p:spPr>
        <p:txBody>
          <a:bodyPr wrap="square" lIns="0" tIns="0" rIns="0" bIns="0" rtlCol="0" anchor="ctr"/>
          <a:lstStyle/>
          <a:p>
            <a:pPr indent="0" marL="0">
              <a:lnSpc>
                <a:spcPct val="115000"/>
              </a:lnSpc>
              <a:buNone/>
            </a:pPr>
            <a:r>
              <a:rPr lang="en-US" sz="1000" dirty="0">
                <a:solidFill>
                  <a:srgbClr val="A9C4E2"/>
                </a:solidFill>
                <a:latin typeface="Calibri" pitchFamily="34" charset="0"/>
                <a:ea typeface="Calibri" pitchFamily="34" charset="-122"/>
                <a:cs typeface="Calibri" pitchFamily="34" charset="-120"/>
              </a:rPr>
              <a:t>A defect that shipped unreported since 2021</a:t>
            </a:r>
            <a:endParaRPr lang="en-US" sz="1000" dirty="0"/>
          </a:p>
        </p:txBody>
      </p:sp>
      <p:sp>
        <p:nvSpPr>
          <p:cNvPr id="22" name="Shape 20"/>
          <p:cNvSpPr/>
          <p:nvPr/>
        </p:nvSpPr>
        <p:spPr>
          <a:xfrm>
            <a:off x="310896" y="3904488"/>
            <a:ext cx="2651760" cy="1371600"/>
          </a:xfrm>
          <a:prstGeom prst="roundRect">
            <a:avLst>
              <a:gd name="adj" fmla="val 5333"/>
            </a:avLst>
          </a:prstGeom>
          <a:solidFill>
            <a:srgbClr val="002050"/>
          </a:solidFill>
          <a:ln w="12700">
            <a:solidFill>
              <a:srgbClr val="13407F"/>
            </a:solidFill>
            <a:prstDash val="solid"/>
          </a:ln>
        </p:spPr>
      </p:sp>
      <p:sp>
        <p:nvSpPr>
          <p:cNvPr id="23" name="Text 21"/>
          <p:cNvSpPr txBox="1"/>
          <p:nvPr/>
        </p:nvSpPr>
        <p:spPr>
          <a:xfrm>
            <a:off x="548640" y="4050792"/>
            <a:ext cx="640080" cy="237744"/>
          </a:xfrm>
          <a:prstGeom prst="rect">
            <a:avLst/>
          </a:prstGeom>
          <a:noFill/>
          <a:ln/>
        </p:spPr>
        <p:txBody>
          <a:bodyPr wrap="square" lIns="0" tIns="0" rIns="0" bIns="0" rtlCol="0" anchor="ctr"/>
          <a:lstStyle/>
          <a:p>
            <a:pPr indent="0" marL="0">
              <a:buNone/>
            </a:pPr>
            <a:r>
              <a:rPr lang="en-US" sz="1000" b="1" spc="120" kern="0" dirty="0">
                <a:solidFill>
                  <a:srgbClr val="7FC3F5"/>
                </a:solidFill>
                <a:latin typeface="Calibri" pitchFamily="34" charset="0"/>
                <a:ea typeface="Calibri" pitchFamily="34" charset="-122"/>
                <a:cs typeface="Calibri" pitchFamily="34" charset="-120"/>
              </a:rPr>
              <a:t>A5</a:t>
            </a:r>
            <a:endParaRPr lang="en-US" sz="1000" dirty="0"/>
          </a:p>
        </p:txBody>
      </p:sp>
      <p:sp>
        <p:nvSpPr>
          <p:cNvPr id="24" name="Text 22"/>
          <p:cNvSpPr txBox="1"/>
          <p:nvPr/>
        </p:nvSpPr>
        <p:spPr>
          <a:xfrm>
            <a:off x="548640" y="4306824"/>
            <a:ext cx="2176272" cy="310896"/>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Quantitative record</a:t>
            </a:r>
            <a:endParaRPr lang="en-US" sz="1350" dirty="0"/>
          </a:p>
        </p:txBody>
      </p:sp>
      <p:sp>
        <p:nvSpPr>
          <p:cNvPr id="25" name="Text 23"/>
          <p:cNvSpPr txBox="1"/>
          <p:nvPr/>
        </p:nvSpPr>
        <p:spPr>
          <a:xfrm>
            <a:off x="548640" y="4626864"/>
            <a:ext cx="2176272" cy="548640"/>
          </a:xfrm>
          <a:prstGeom prst="rect">
            <a:avLst/>
          </a:prstGeom>
          <a:noFill/>
          <a:ln/>
        </p:spPr>
        <p:txBody>
          <a:bodyPr wrap="square" lIns="0" tIns="0" rIns="0" bIns="0" rtlCol="0" anchor="ctr"/>
          <a:lstStyle/>
          <a:p>
            <a:pPr indent="0" marL="0">
              <a:lnSpc>
                <a:spcPct val="115000"/>
              </a:lnSpc>
              <a:buNone/>
            </a:pPr>
            <a:r>
              <a:rPr lang="en-US" sz="1000" dirty="0">
                <a:solidFill>
                  <a:srgbClr val="A9C4E2"/>
                </a:solidFill>
                <a:latin typeface="Calibri" pitchFamily="34" charset="0"/>
                <a:ea typeface="Calibri" pitchFamily="34" charset="-122"/>
                <a:cs typeface="Calibri" pitchFamily="34" charset="-120"/>
              </a:rPr>
              <a:t>Accuracy measured on the benchmark corpus</a:t>
            </a:r>
            <a:endParaRPr lang="en-US" sz="1000" dirty="0"/>
          </a:p>
        </p:txBody>
      </p:sp>
      <p:sp>
        <p:nvSpPr>
          <p:cNvPr id="26" name="Shape 24"/>
          <p:cNvSpPr/>
          <p:nvPr/>
        </p:nvSpPr>
        <p:spPr>
          <a:xfrm>
            <a:off x="3282696" y="3904488"/>
            <a:ext cx="2651760" cy="1371600"/>
          </a:xfrm>
          <a:prstGeom prst="roundRect">
            <a:avLst>
              <a:gd name="adj" fmla="val 5333"/>
            </a:avLst>
          </a:prstGeom>
          <a:solidFill>
            <a:srgbClr val="002050"/>
          </a:solidFill>
          <a:ln w="12700">
            <a:solidFill>
              <a:srgbClr val="13407F"/>
            </a:solidFill>
            <a:prstDash val="solid"/>
          </a:ln>
        </p:spPr>
      </p:sp>
      <p:sp>
        <p:nvSpPr>
          <p:cNvPr id="27" name="Text 25"/>
          <p:cNvSpPr txBox="1"/>
          <p:nvPr/>
        </p:nvSpPr>
        <p:spPr>
          <a:xfrm>
            <a:off x="3520440" y="4050792"/>
            <a:ext cx="640080" cy="237744"/>
          </a:xfrm>
          <a:prstGeom prst="rect">
            <a:avLst/>
          </a:prstGeom>
          <a:noFill/>
          <a:ln/>
        </p:spPr>
        <p:txBody>
          <a:bodyPr wrap="square" lIns="0" tIns="0" rIns="0" bIns="0" rtlCol="0" anchor="ctr"/>
          <a:lstStyle/>
          <a:p>
            <a:pPr indent="0" marL="0">
              <a:buNone/>
            </a:pPr>
            <a:r>
              <a:rPr lang="en-US" sz="1000" b="1" spc="120" kern="0" dirty="0">
                <a:solidFill>
                  <a:srgbClr val="7FC3F5"/>
                </a:solidFill>
                <a:latin typeface="Calibri" pitchFamily="34" charset="0"/>
                <a:ea typeface="Calibri" pitchFamily="34" charset="-122"/>
                <a:cs typeface="Calibri" pitchFamily="34" charset="-120"/>
              </a:rPr>
              <a:t>A6</a:t>
            </a:r>
            <a:endParaRPr lang="en-US" sz="1000" dirty="0"/>
          </a:p>
        </p:txBody>
      </p:sp>
      <p:sp>
        <p:nvSpPr>
          <p:cNvPr id="28" name="Text 26"/>
          <p:cNvSpPr txBox="1"/>
          <p:nvPr/>
        </p:nvSpPr>
        <p:spPr>
          <a:xfrm>
            <a:off x="3520440" y="4306824"/>
            <a:ext cx="2176272" cy="310896"/>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Benchmark validation</a:t>
            </a:r>
            <a:endParaRPr lang="en-US" sz="1350" dirty="0"/>
          </a:p>
        </p:txBody>
      </p:sp>
      <p:sp>
        <p:nvSpPr>
          <p:cNvPr id="29" name="Text 27"/>
          <p:cNvSpPr txBox="1"/>
          <p:nvPr/>
        </p:nvSpPr>
        <p:spPr>
          <a:xfrm>
            <a:off x="3520440" y="4626864"/>
            <a:ext cx="2176272" cy="548640"/>
          </a:xfrm>
          <a:prstGeom prst="rect">
            <a:avLst/>
          </a:prstGeom>
          <a:noFill/>
          <a:ln/>
        </p:spPr>
        <p:txBody>
          <a:bodyPr wrap="square" lIns="0" tIns="0" rIns="0" bIns="0" rtlCol="0" anchor="ctr"/>
          <a:lstStyle/>
          <a:p>
            <a:pPr indent="0" marL="0">
              <a:lnSpc>
                <a:spcPct val="115000"/>
              </a:lnSpc>
              <a:buNone/>
            </a:pPr>
            <a:r>
              <a:rPr lang="en-US" sz="1000" dirty="0">
                <a:solidFill>
                  <a:srgbClr val="A9C4E2"/>
                </a:solidFill>
                <a:latin typeface="Calibri" pitchFamily="34" charset="0"/>
                <a:ea typeface="Calibri" pitchFamily="34" charset="-122"/>
                <a:cs typeface="Calibri" pitchFamily="34" charset="-120"/>
              </a:rPr>
              <a:t>92% on OWASP Benchmark, 97% on Juliet</a:t>
            </a:r>
            <a:endParaRPr lang="en-US" sz="1000" dirty="0"/>
          </a:p>
        </p:txBody>
      </p:sp>
      <p:sp>
        <p:nvSpPr>
          <p:cNvPr id="30" name="Shape 28"/>
          <p:cNvSpPr/>
          <p:nvPr/>
        </p:nvSpPr>
        <p:spPr>
          <a:xfrm>
            <a:off x="6254496" y="3904488"/>
            <a:ext cx="2651760" cy="1371600"/>
          </a:xfrm>
          <a:prstGeom prst="roundRect">
            <a:avLst>
              <a:gd name="adj" fmla="val 5333"/>
            </a:avLst>
          </a:prstGeom>
          <a:solidFill>
            <a:srgbClr val="002050"/>
          </a:solidFill>
          <a:ln w="12700">
            <a:solidFill>
              <a:srgbClr val="13407F"/>
            </a:solidFill>
            <a:prstDash val="solid"/>
          </a:ln>
        </p:spPr>
      </p:sp>
      <p:sp>
        <p:nvSpPr>
          <p:cNvPr id="31" name="Text 29"/>
          <p:cNvSpPr txBox="1"/>
          <p:nvPr/>
        </p:nvSpPr>
        <p:spPr>
          <a:xfrm>
            <a:off x="6492240" y="4050792"/>
            <a:ext cx="640080" cy="237744"/>
          </a:xfrm>
          <a:prstGeom prst="rect">
            <a:avLst/>
          </a:prstGeom>
          <a:noFill/>
          <a:ln/>
        </p:spPr>
        <p:txBody>
          <a:bodyPr wrap="square" lIns="0" tIns="0" rIns="0" bIns="0" rtlCol="0" anchor="ctr"/>
          <a:lstStyle/>
          <a:p>
            <a:pPr indent="0" marL="0">
              <a:buNone/>
            </a:pPr>
            <a:r>
              <a:rPr lang="en-US" sz="1000" b="1" spc="120" kern="0" dirty="0">
                <a:solidFill>
                  <a:srgbClr val="7FC3F5"/>
                </a:solidFill>
                <a:latin typeface="Calibri" pitchFamily="34" charset="0"/>
                <a:ea typeface="Calibri" pitchFamily="34" charset="-122"/>
                <a:cs typeface="Calibri" pitchFamily="34" charset="-120"/>
              </a:rPr>
              <a:t>A7</a:t>
            </a:r>
            <a:endParaRPr lang="en-US" sz="1000" dirty="0"/>
          </a:p>
        </p:txBody>
      </p:sp>
      <p:sp>
        <p:nvSpPr>
          <p:cNvPr id="32" name="Text 30"/>
          <p:cNvSpPr txBox="1"/>
          <p:nvPr/>
        </p:nvSpPr>
        <p:spPr>
          <a:xfrm>
            <a:off x="6492240" y="4306824"/>
            <a:ext cx="2176272" cy="310896"/>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Capability</a:t>
            </a:r>
            <a:endParaRPr lang="en-US" sz="1350" dirty="0"/>
          </a:p>
        </p:txBody>
      </p:sp>
      <p:sp>
        <p:nvSpPr>
          <p:cNvPr id="33" name="Text 31"/>
          <p:cNvSpPr txBox="1"/>
          <p:nvPr/>
        </p:nvSpPr>
        <p:spPr>
          <a:xfrm>
            <a:off x="6492240" y="4626864"/>
            <a:ext cx="2176272" cy="548640"/>
          </a:xfrm>
          <a:prstGeom prst="rect">
            <a:avLst/>
          </a:prstGeom>
          <a:noFill/>
          <a:ln/>
        </p:spPr>
        <p:txBody>
          <a:bodyPr wrap="square" lIns="0" tIns="0" rIns="0" bIns="0" rtlCol="0" anchor="ctr"/>
          <a:lstStyle/>
          <a:p>
            <a:pPr indent="0" marL="0">
              <a:lnSpc>
                <a:spcPct val="115000"/>
              </a:lnSpc>
              <a:buNone/>
            </a:pPr>
            <a:r>
              <a:rPr lang="en-US" sz="1000" dirty="0">
                <a:solidFill>
                  <a:srgbClr val="A9C4E2"/>
                </a:solidFill>
                <a:latin typeface="Calibri" pitchFamily="34" charset="0"/>
                <a:ea typeface="Calibri" pitchFamily="34" charset="-122"/>
                <a:cs typeface="Calibri" pitchFamily="34" charset="-120"/>
              </a:rPr>
              <a:t>Depth, precision, and reach across three languages</a:t>
            </a:r>
            <a:endParaRPr lang="en-US" sz="1000" dirty="0"/>
          </a:p>
        </p:txBody>
      </p:sp>
      <p:sp>
        <p:nvSpPr>
          <p:cNvPr id="34" name="Shape 32"/>
          <p:cNvSpPr/>
          <p:nvPr/>
        </p:nvSpPr>
        <p:spPr>
          <a:xfrm>
            <a:off x="9226296" y="3904488"/>
            <a:ext cx="2651760" cy="1371600"/>
          </a:xfrm>
          <a:prstGeom prst="roundRect">
            <a:avLst>
              <a:gd name="adj" fmla="val 5333"/>
            </a:avLst>
          </a:prstGeom>
          <a:solidFill>
            <a:srgbClr val="002050"/>
          </a:solidFill>
          <a:ln w="12700">
            <a:solidFill>
              <a:srgbClr val="13407F"/>
            </a:solidFill>
            <a:prstDash val="solid"/>
          </a:ln>
        </p:spPr>
      </p:sp>
      <p:sp>
        <p:nvSpPr>
          <p:cNvPr id="35" name="Text 33"/>
          <p:cNvSpPr txBox="1"/>
          <p:nvPr/>
        </p:nvSpPr>
        <p:spPr>
          <a:xfrm>
            <a:off x="9464040" y="4050792"/>
            <a:ext cx="640080" cy="237744"/>
          </a:xfrm>
          <a:prstGeom prst="rect">
            <a:avLst/>
          </a:prstGeom>
          <a:noFill/>
          <a:ln/>
        </p:spPr>
        <p:txBody>
          <a:bodyPr wrap="square" lIns="0" tIns="0" rIns="0" bIns="0" rtlCol="0" anchor="ctr"/>
          <a:lstStyle/>
          <a:p>
            <a:pPr indent="0" marL="0">
              <a:buNone/>
            </a:pPr>
            <a:r>
              <a:rPr lang="en-US" sz="1000" b="1" spc="120" kern="0" dirty="0">
                <a:solidFill>
                  <a:srgbClr val="7FC3F5"/>
                </a:solidFill>
                <a:latin typeface="Calibri" pitchFamily="34" charset="0"/>
                <a:ea typeface="Calibri" pitchFamily="34" charset="-122"/>
                <a:cs typeface="Calibri" pitchFamily="34" charset="-120"/>
              </a:rPr>
              <a:t>A8</a:t>
            </a:r>
            <a:endParaRPr lang="en-US" sz="1000" dirty="0"/>
          </a:p>
        </p:txBody>
      </p:sp>
      <p:sp>
        <p:nvSpPr>
          <p:cNvPr id="36" name="Text 34"/>
          <p:cNvSpPr txBox="1"/>
          <p:nvPr/>
        </p:nvSpPr>
        <p:spPr>
          <a:xfrm>
            <a:off x="9464040" y="4306824"/>
            <a:ext cx="2176272" cy="310896"/>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Disclosure posture</a:t>
            </a:r>
            <a:endParaRPr lang="en-US" sz="1350" dirty="0"/>
          </a:p>
        </p:txBody>
      </p:sp>
      <p:sp>
        <p:nvSpPr>
          <p:cNvPr id="37" name="Text 35"/>
          <p:cNvSpPr txBox="1"/>
          <p:nvPr/>
        </p:nvSpPr>
        <p:spPr>
          <a:xfrm>
            <a:off x="9464040" y="4626864"/>
            <a:ext cx="2176272" cy="548640"/>
          </a:xfrm>
          <a:prstGeom prst="rect">
            <a:avLst/>
          </a:prstGeom>
          <a:noFill/>
          <a:ln/>
        </p:spPr>
        <p:txBody>
          <a:bodyPr wrap="square" lIns="0" tIns="0" rIns="0" bIns="0" rtlCol="0" anchor="ctr"/>
          <a:lstStyle/>
          <a:p>
            <a:pPr indent="0" marL="0">
              <a:lnSpc>
                <a:spcPct val="115000"/>
              </a:lnSpc>
              <a:buNone/>
            </a:pPr>
            <a:r>
              <a:rPr lang="en-US" sz="1000" dirty="0">
                <a:solidFill>
                  <a:srgbClr val="A9C4E2"/>
                </a:solidFill>
                <a:latin typeface="Calibri" pitchFamily="34" charset="0"/>
                <a:ea typeface="Calibri" pitchFamily="34" charset="-122"/>
                <a:cs typeface="Calibri" pitchFamily="34" charset="-120"/>
              </a:rPr>
              <a:t>Proved first, reported once, on a timing leadership sets</a:t>
            </a:r>
            <a:endParaRPr lang="en-US" sz="1000" dirty="0"/>
          </a:p>
        </p:txBody>
      </p:sp>
      <p:sp>
        <p:nvSpPr>
          <p:cNvPr id="38" name="Text 36"/>
          <p:cNvSpPr txBox="1"/>
          <p:nvPr/>
        </p:nvSpPr>
        <p:spPr>
          <a:xfrm>
            <a:off x="548640" y="5623560"/>
            <a:ext cx="10881360" cy="777240"/>
          </a:xfrm>
          <a:prstGeom prst="rect">
            <a:avLst/>
          </a:prstGeom>
          <a:noFill/>
          <a:ln/>
        </p:spPr>
        <p:txBody>
          <a:bodyPr wrap="square" lIns="0" tIns="0" rIns="0" bIns="0" rtlCol="0" anchor="ctr"/>
          <a:lstStyle/>
          <a:p>
            <a:pPr indent="0" marL="0">
              <a:lnSpc>
                <a:spcPct val="125000"/>
              </a:lnSpc>
              <a:buNone/>
            </a:pPr>
            <a:r>
              <a:rPr lang="en-US" sz="1450" dirty="0">
                <a:solidFill>
                  <a:srgbClr val="D2E1F2"/>
                </a:solidFill>
                <a:latin typeface="Cambria" pitchFamily="34" charset="0"/>
                <a:ea typeface="Cambria" pitchFamily="34" charset="-122"/>
                <a:cs typeface="Cambria" pitchFamily="34" charset="-120"/>
              </a:rPr>
              <a:t>Nothing in the appendix is called a finding until it has been run, reproduced under a memory checker, or confirmed against the project’s current published code. That is the same separation of discovery from validation that PRISM is architected around.</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A"/>
        </a:solidFill>
      </p:bgPr>
    </p:bg>
    <p:spTree>
      <p:nvGrpSpPr>
        <p:cNvPr id="1" name=""/>
        <p:cNvGrpSpPr/>
        <p:nvPr/>
      </p:nvGrpSpPr>
      <p:grpSpPr>
        <a:xfrm>
          <a:off x="0" y="0"/>
          <a:ext cx="0" cy="0"/>
          <a:chOff x="0" y="0"/>
          <a:chExt cx="0" cy="0"/>
        </a:xfrm>
      </p:grpSpPr>
      <p:sp>
        <p:nvSpPr>
          <p:cNvPr id="2" name="Shape 0"/>
          <p:cNvSpPr/>
          <p:nvPr/>
        </p:nvSpPr>
        <p:spPr>
          <a:xfrm rot="5400000">
            <a:off x="566928" y="475488"/>
            <a:ext cx="128016" cy="146304"/>
          </a:xfrm>
          <a:prstGeom prst="triangle">
            <a:avLst/>
          </a:prstGeom>
          <a:solidFill>
            <a:srgbClr val="006FCF"/>
          </a:solidFill>
          <a:ln/>
        </p:spPr>
      </p:sp>
      <p:sp>
        <p:nvSpPr>
          <p:cNvPr id="3" name="Text 1"/>
          <p:cNvSpPr txBox="1"/>
          <p:nvPr/>
        </p:nvSpPr>
        <p:spPr>
          <a:xfrm>
            <a:off x="777240" y="402336"/>
            <a:ext cx="7315200" cy="292608"/>
          </a:xfrm>
          <a:prstGeom prst="rect">
            <a:avLst/>
          </a:prstGeom>
          <a:noFill/>
          <a:ln/>
        </p:spPr>
        <p:txBody>
          <a:bodyPr wrap="square" lIns="0" tIns="0" rIns="0" bIns="0" rtlCol="0" anchor="ctr"/>
          <a:lstStyle/>
          <a:p>
            <a:pPr indent="0" marL="0">
              <a:buNone/>
            </a:pPr>
            <a:r>
              <a:rPr lang="en-US" sz="1150" b="1" spc="160" kern="0" dirty="0">
                <a:solidFill>
                  <a:srgbClr val="006FCF"/>
                </a:solidFill>
                <a:latin typeface="Calibri" pitchFamily="34" charset="0"/>
                <a:ea typeface="Calibri" pitchFamily="34" charset="-122"/>
                <a:cs typeface="Calibri" pitchFamily="34" charset="-120"/>
              </a:rPr>
              <a:t>APPENDIX   |   BENCHMARK VALIDATION</a:t>
            </a:r>
            <a:endParaRPr lang="en-US" sz="1150" dirty="0"/>
          </a:p>
        </p:txBody>
      </p:sp>
      <p:sp>
        <p:nvSpPr>
          <p:cNvPr id="4" name="Text 2"/>
          <p:cNvSpPr txBox="1"/>
          <p:nvPr/>
        </p:nvSpPr>
        <p:spPr>
          <a:xfrm>
            <a:off x="548640" y="731520"/>
            <a:ext cx="11155680" cy="566928"/>
          </a:xfrm>
          <a:prstGeom prst="rect">
            <a:avLst/>
          </a:prstGeom>
          <a:noFill/>
          <a:ln/>
        </p:spPr>
        <p:txBody>
          <a:bodyPr wrap="square" lIns="0" tIns="0" rIns="0" bIns="0" rtlCol="0" anchor="t"/>
          <a:lstStyle/>
          <a:p>
            <a:pPr indent="0" marL="0">
              <a:buNone/>
            </a:pPr>
            <a:r>
              <a:rPr lang="en-US" sz="3100" b="1" dirty="0">
                <a:solidFill>
                  <a:srgbClr val="1B2A44"/>
                </a:solidFill>
                <a:latin typeface="Cambria" pitchFamily="34" charset="0"/>
                <a:ea typeface="Cambria" pitchFamily="34" charset="-122"/>
                <a:cs typeface="Cambria" pitchFamily="34" charset="-120"/>
              </a:rPr>
              <a:t>92% on OWASP Benchmark, 97% on Juliet</a:t>
            </a:r>
            <a:endParaRPr lang="en-US" sz="3100" dirty="0"/>
          </a:p>
        </p:txBody>
      </p:sp>
      <p:sp>
        <p:nvSpPr>
          <p:cNvPr id="5" name="Text 3"/>
          <p:cNvSpPr txBox="1"/>
          <p:nvPr/>
        </p:nvSpPr>
        <p:spPr>
          <a:xfrm>
            <a:off x="548640" y="1298448"/>
            <a:ext cx="10607040" cy="310896"/>
          </a:xfrm>
          <a:prstGeom prst="rect">
            <a:avLst/>
          </a:prstGeom>
          <a:noFill/>
          <a:ln/>
        </p:spPr>
        <p:txBody>
          <a:bodyPr wrap="square" lIns="0" tIns="0" rIns="0" bIns="0" rtlCol="0" anchor="ctr"/>
          <a:lstStyle/>
          <a:p>
            <a:pPr indent="0" marL="0">
              <a:buNone/>
            </a:pPr>
            <a:r>
              <a:rPr lang="en-US" sz="1400" dirty="0">
                <a:solidFill>
                  <a:srgbClr val="53565A"/>
                </a:solidFill>
                <a:latin typeface="Calibri" pitchFamily="34" charset="0"/>
                <a:ea typeface="Calibri" pitchFamily="34" charset="-122"/>
                <a:cs typeface="Calibri" pitchFamily="34" charset="-120"/>
              </a:rPr>
              <a:t>Before the field work, the harness was run against both public suites, where every case ships with a published answer.</a:t>
            </a:r>
            <a:endParaRPr lang="en-US" sz="1400" dirty="0"/>
          </a:p>
        </p:txBody>
      </p:sp>
      <p:sp>
        <p:nvSpPr>
          <p:cNvPr id="6" name="Text 4"/>
          <p:cNvSpPr txBox="1"/>
          <p:nvPr/>
        </p:nvSpPr>
        <p:spPr>
          <a:xfrm>
            <a:off x="685800" y="1828800"/>
            <a:ext cx="2377440" cy="256032"/>
          </a:xfrm>
          <a:prstGeom prst="rect">
            <a:avLst/>
          </a:prstGeom>
          <a:noFill/>
          <a:ln/>
        </p:spPr>
        <p:txBody>
          <a:bodyPr wrap="square" lIns="0" tIns="0" rIns="0" bIns="0" rtlCol="0" anchor="ctr"/>
          <a:lstStyle/>
          <a:p>
            <a:pPr indent="0" marL="0">
              <a:buNone/>
            </a:pPr>
            <a:r>
              <a:rPr lang="en-US" sz="1050" b="1" spc="130" kern="0" dirty="0">
                <a:solidFill>
                  <a:srgbClr val="53565A"/>
                </a:solidFill>
                <a:latin typeface="Calibri" pitchFamily="34" charset="0"/>
                <a:ea typeface="Calibri" pitchFamily="34" charset="-122"/>
                <a:cs typeface="Calibri" pitchFamily="34" charset="-120"/>
              </a:rPr>
              <a:t>OWASP BENCHMARK</a:t>
            </a:r>
            <a:endParaRPr lang="en-US" sz="1050" dirty="0"/>
          </a:p>
        </p:txBody>
      </p:sp>
      <p:sp>
        <p:nvSpPr>
          <p:cNvPr id="7" name="Text 5"/>
          <p:cNvSpPr txBox="1"/>
          <p:nvPr/>
        </p:nvSpPr>
        <p:spPr>
          <a:xfrm>
            <a:off x="649224" y="2103120"/>
            <a:ext cx="2377440" cy="685800"/>
          </a:xfrm>
          <a:prstGeom prst="rect">
            <a:avLst/>
          </a:prstGeom>
          <a:noFill/>
          <a:ln/>
        </p:spPr>
        <p:txBody>
          <a:bodyPr wrap="square" lIns="0" tIns="0" rIns="0" bIns="0" rtlCol="0" anchor="ctr"/>
          <a:lstStyle/>
          <a:p>
            <a:pPr indent="0" marL="0">
              <a:buNone/>
            </a:pPr>
            <a:r>
              <a:rPr lang="en-US" sz="4000" b="1" dirty="0">
                <a:solidFill>
                  <a:srgbClr val="006FCF"/>
                </a:solidFill>
                <a:latin typeface="Cambria" pitchFamily="34" charset="0"/>
                <a:ea typeface="Cambria" pitchFamily="34" charset="-122"/>
                <a:cs typeface="Cambria" pitchFamily="34" charset="-120"/>
              </a:rPr>
              <a:t>92%</a:t>
            </a:r>
            <a:endParaRPr lang="en-US" sz="4000" dirty="0"/>
          </a:p>
        </p:txBody>
      </p:sp>
      <p:sp>
        <p:nvSpPr>
          <p:cNvPr id="8" name="Text 6"/>
          <p:cNvSpPr txBox="1"/>
          <p:nvPr/>
        </p:nvSpPr>
        <p:spPr>
          <a:xfrm>
            <a:off x="685800" y="2788920"/>
            <a:ext cx="2377440" cy="274320"/>
          </a:xfrm>
          <a:prstGeom prst="rect">
            <a:avLst/>
          </a:prstGeom>
          <a:noFill/>
          <a:ln/>
        </p:spPr>
        <p:txBody>
          <a:bodyPr wrap="square" lIns="0" tIns="0" rIns="0" bIns="0" rtlCol="0" anchor="ctr"/>
          <a:lstStyle/>
          <a:p>
            <a:pPr indent="0" marL="0">
              <a:buNone/>
            </a:pPr>
            <a:r>
              <a:rPr lang="en-US" sz="1100" dirty="0">
                <a:solidFill>
                  <a:srgbClr val="1B2A44"/>
                </a:solidFill>
                <a:latin typeface="Calibri" pitchFamily="34" charset="0"/>
                <a:ea typeface="Calibri" pitchFamily="34" charset="-122"/>
                <a:cs typeface="Calibri" pitchFamily="34" charset="-120"/>
              </a:rPr>
              <a:t>of vulnerable cases detected</a:t>
            </a:r>
            <a:endParaRPr lang="en-US" sz="1100" dirty="0"/>
          </a:p>
        </p:txBody>
      </p:sp>
      <p:sp>
        <p:nvSpPr>
          <p:cNvPr id="9" name="Shape 7"/>
          <p:cNvSpPr/>
          <p:nvPr/>
        </p:nvSpPr>
        <p:spPr>
          <a:xfrm>
            <a:off x="685800" y="3154680"/>
            <a:ext cx="201168" cy="201168"/>
          </a:xfrm>
          <a:prstGeom prst="roundRect">
            <a:avLst>
              <a:gd name="adj" fmla="val 13636"/>
            </a:avLst>
          </a:prstGeom>
          <a:solidFill>
            <a:srgbClr val="006FCF"/>
          </a:solidFill>
          <a:ln/>
        </p:spPr>
      </p:sp>
      <p:sp>
        <p:nvSpPr>
          <p:cNvPr id="10" name="Shape 8"/>
          <p:cNvSpPr/>
          <p:nvPr/>
        </p:nvSpPr>
        <p:spPr>
          <a:xfrm>
            <a:off x="928116" y="3154680"/>
            <a:ext cx="201168" cy="201168"/>
          </a:xfrm>
          <a:prstGeom prst="roundRect">
            <a:avLst>
              <a:gd name="adj" fmla="val 13636"/>
            </a:avLst>
          </a:prstGeom>
          <a:solidFill>
            <a:srgbClr val="006FCF"/>
          </a:solidFill>
          <a:ln/>
        </p:spPr>
      </p:sp>
      <p:sp>
        <p:nvSpPr>
          <p:cNvPr id="11" name="Shape 9"/>
          <p:cNvSpPr/>
          <p:nvPr/>
        </p:nvSpPr>
        <p:spPr>
          <a:xfrm>
            <a:off x="1170432" y="3154680"/>
            <a:ext cx="201168" cy="201168"/>
          </a:xfrm>
          <a:prstGeom prst="roundRect">
            <a:avLst>
              <a:gd name="adj" fmla="val 13636"/>
            </a:avLst>
          </a:prstGeom>
          <a:solidFill>
            <a:srgbClr val="006FCF"/>
          </a:solidFill>
          <a:ln/>
        </p:spPr>
      </p:sp>
      <p:sp>
        <p:nvSpPr>
          <p:cNvPr id="12" name="Shape 10"/>
          <p:cNvSpPr/>
          <p:nvPr/>
        </p:nvSpPr>
        <p:spPr>
          <a:xfrm>
            <a:off x="1412748" y="3154680"/>
            <a:ext cx="201168" cy="201168"/>
          </a:xfrm>
          <a:prstGeom prst="roundRect">
            <a:avLst>
              <a:gd name="adj" fmla="val 13636"/>
            </a:avLst>
          </a:prstGeom>
          <a:solidFill>
            <a:srgbClr val="006FCF"/>
          </a:solidFill>
          <a:ln/>
        </p:spPr>
      </p:sp>
      <p:sp>
        <p:nvSpPr>
          <p:cNvPr id="13" name="Shape 11"/>
          <p:cNvSpPr/>
          <p:nvPr/>
        </p:nvSpPr>
        <p:spPr>
          <a:xfrm>
            <a:off x="1655064" y="3154680"/>
            <a:ext cx="201168" cy="201168"/>
          </a:xfrm>
          <a:prstGeom prst="roundRect">
            <a:avLst>
              <a:gd name="adj" fmla="val 13636"/>
            </a:avLst>
          </a:prstGeom>
          <a:solidFill>
            <a:srgbClr val="006FCF"/>
          </a:solidFill>
          <a:ln/>
        </p:spPr>
      </p:sp>
      <p:sp>
        <p:nvSpPr>
          <p:cNvPr id="14" name="Shape 12"/>
          <p:cNvSpPr/>
          <p:nvPr/>
        </p:nvSpPr>
        <p:spPr>
          <a:xfrm>
            <a:off x="1897380" y="3154680"/>
            <a:ext cx="201168" cy="201168"/>
          </a:xfrm>
          <a:prstGeom prst="roundRect">
            <a:avLst>
              <a:gd name="adj" fmla="val 13636"/>
            </a:avLst>
          </a:prstGeom>
          <a:solidFill>
            <a:srgbClr val="006FCF"/>
          </a:solidFill>
          <a:ln/>
        </p:spPr>
      </p:sp>
      <p:sp>
        <p:nvSpPr>
          <p:cNvPr id="15" name="Shape 13"/>
          <p:cNvSpPr/>
          <p:nvPr/>
        </p:nvSpPr>
        <p:spPr>
          <a:xfrm>
            <a:off x="2139696" y="3154680"/>
            <a:ext cx="201168" cy="201168"/>
          </a:xfrm>
          <a:prstGeom prst="roundRect">
            <a:avLst>
              <a:gd name="adj" fmla="val 13636"/>
            </a:avLst>
          </a:prstGeom>
          <a:solidFill>
            <a:srgbClr val="006FCF"/>
          </a:solidFill>
          <a:ln/>
        </p:spPr>
      </p:sp>
      <p:sp>
        <p:nvSpPr>
          <p:cNvPr id="16" name="Shape 14"/>
          <p:cNvSpPr/>
          <p:nvPr/>
        </p:nvSpPr>
        <p:spPr>
          <a:xfrm>
            <a:off x="2382012" y="3154680"/>
            <a:ext cx="201168" cy="201168"/>
          </a:xfrm>
          <a:prstGeom prst="roundRect">
            <a:avLst>
              <a:gd name="adj" fmla="val 13636"/>
            </a:avLst>
          </a:prstGeom>
          <a:solidFill>
            <a:srgbClr val="006FCF"/>
          </a:solidFill>
          <a:ln/>
        </p:spPr>
      </p:sp>
      <p:sp>
        <p:nvSpPr>
          <p:cNvPr id="17" name="Shape 15"/>
          <p:cNvSpPr/>
          <p:nvPr/>
        </p:nvSpPr>
        <p:spPr>
          <a:xfrm>
            <a:off x="2624328" y="3154680"/>
            <a:ext cx="201168" cy="201168"/>
          </a:xfrm>
          <a:prstGeom prst="roundRect">
            <a:avLst>
              <a:gd name="adj" fmla="val 13636"/>
            </a:avLst>
          </a:prstGeom>
          <a:solidFill>
            <a:srgbClr val="006FCF"/>
          </a:solidFill>
          <a:ln/>
        </p:spPr>
      </p:sp>
      <p:sp>
        <p:nvSpPr>
          <p:cNvPr id="18" name="Shape 16"/>
          <p:cNvSpPr/>
          <p:nvPr/>
        </p:nvSpPr>
        <p:spPr>
          <a:xfrm>
            <a:off x="2866644" y="3154680"/>
            <a:ext cx="201168" cy="201168"/>
          </a:xfrm>
          <a:prstGeom prst="roundRect">
            <a:avLst>
              <a:gd name="adj" fmla="val 13636"/>
            </a:avLst>
          </a:prstGeom>
          <a:solidFill>
            <a:srgbClr val="006FCF"/>
          </a:solidFill>
          <a:ln/>
        </p:spPr>
      </p:sp>
      <p:sp>
        <p:nvSpPr>
          <p:cNvPr id="19" name="Shape 17"/>
          <p:cNvSpPr/>
          <p:nvPr/>
        </p:nvSpPr>
        <p:spPr>
          <a:xfrm>
            <a:off x="685800" y="3396996"/>
            <a:ext cx="201168" cy="201168"/>
          </a:xfrm>
          <a:prstGeom prst="roundRect">
            <a:avLst>
              <a:gd name="adj" fmla="val 13636"/>
            </a:avLst>
          </a:prstGeom>
          <a:solidFill>
            <a:srgbClr val="006FCF"/>
          </a:solidFill>
          <a:ln/>
        </p:spPr>
      </p:sp>
      <p:sp>
        <p:nvSpPr>
          <p:cNvPr id="20" name="Shape 18"/>
          <p:cNvSpPr/>
          <p:nvPr/>
        </p:nvSpPr>
        <p:spPr>
          <a:xfrm>
            <a:off x="928116" y="3396996"/>
            <a:ext cx="201168" cy="201168"/>
          </a:xfrm>
          <a:prstGeom prst="roundRect">
            <a:avLst>
              <a:gd name="adj" fmla="val 13636"/>
            </a:avLst>
          </a:prstGeom>
          <a:solidFill>
            <a:srgbClr val="006FCF"/>
          </a:solidFill>
          <a:ln/>
        </p:spPr>
      </p:sp>
      <p:sp>
        <p:nvSpPr>
          <p:cNvPr id="21" name="Shape 19"/>
          <p:cNvSpPr/>
          <p:nvPr/>
        </p:nvSpPr>
        <p:spPr>
          <a:xfrm>
            <a:off x="1170432" y="3396996"/>
            <a:ext cx="201168" cy="201168"/>
          </a:xfrm>
          <a:prstGeom prst="roundRect">
            <a:avLst>
              <a:gd name="adj" fmla="val 13636"/>
            </a:avLst>
          </a:prstGeom>
          <a:solidFill>
            <a:srgbClr val="006FCF"/>
          </a:solidFill>
          <a:ln/>
        </p:spPr>
      </p:sp>
      <p:sp>
        <p:nvSpPr>
          <p:cNvPr id="22" name="Shape 20"/>
          <p:cNvSpPr/>
          <p:nvPr/>
        </p:nvSpPr>
        <p:spPr>
          <a:xfrm>
            <a:off x="1412748" y="3396996"/>
            <a:ext cx="201168" cy="201168"/>
          </a:xfrm>
          <a:prstGeom prst="roundRect">
            <a:avLst>
              <a:gd name="adj" fmla="val 13636"/>
            </a:avLst>
          </a:prstGeom>
          <a:solidFill>
            <a:srgbClr val="006FCF"/>
          </a:solidFill>
          <a:ln/>
        </p:spPr>
      </p:sp>
      <p:sp>
        <p:nvSpPr>
          <p:cNvPr id="23" name="Shape 21"/>
          <p:cNvSpPr/>
          <p:nvPr/>
        </p:nvSpPr>
        <p:spPr>
          <a:xfrm>
            <a:off x="1655064" y="3396996"/>
            <a:ext cx="201168" cy="201168"/>
          </a:xfrm>
          <a:prstGeom prst="roundRect">
            <a:avLst>
              <a:gd name="adj" fmla="val 13636"/>
            </a:avLst>
          </a:prstGeom>
          <a:solidFill>
            <a:srgbClr val="006FCF"/>
          </a:solidFill>
          <a:ln/>
        </p:spPr>
      </p:sp>
      <p:sp>
        <p:nvSpPr>
          <p:cNvPr id="24" name="Shape 22"/>
          <p:cNvSpPr/>
          <p:nvPr/>
        </p:nvSpPr>
        <p:spPr>
          <a:xfrm>
            <a:off x="1897380" y="3396996"/>
            <a:ext cx="201168" cy="201168"/>
          </a:xfrm>
          <a:prstGeom prst="roundRect">
            <a:avLst>
              <a:gd name="adj" fmla="val 13636"/>
            </a:avLst>
          </a:prstGeom>
          <a:solidFill>
            <a:srgbClr val="006FCF"/>
          </a:solidFill>
          <a:ln/>
        </p:spPr>
      </p:sp>
      <p:sp>
        <p:nvSpPr>
          <p:cNvPr id="25" name="Shape 23"/>
          <p:cNvSpPr/>
          <p:nvPr/>
        </p:nvSpPr>
        <p:spPr>
          <a:xfrm>
            <a:off x="2139696" y="3396996"/>
            <a:ext cx="201168" cy="201168"/>
          </a:xfrm>
          <a:prstGeom prst="roundRect">
            <a:avLst>
              <a:gd name="adj" fmla="val 13636"/>
            </a:avLst>
          </a:prstGeom>
          <a:solidFill>
            <a:srgbClr val="006FCF"/>
          </a:solidFill>
          <a:ln/>
        </p:spPr>
      </p:sp>
      <p:sp>
        <p:nvSpPr>
          <p:cNvPr id="26" name="Shape 24"/>
          <p:cNvSpPr/>
          <p:nvPr/>
        </p:nvSpPr>
        <p:spPr>
          <a:xfrm>
            <a:off x="2382012" y="3396996"/>
            <a:ext cx="201168" cy="201168"/>
          </a:xfrm>
          <a:prstGeom prst="roundRect">
            <a:avLst>
              <a:gd name="adj" fmla="val 13636"/>
            </a:avLst>
          </a:prstGeom>
          <a:solidFill>
            <a:srgbClr val="006FCF"/>
          </a:solidFill>
          <a:ln/>
        </p:spPr>
      </p:sp>
      <p:sp>
        <p:nvSpPr>
          <p:cNvPr id="27" name="Shape 25"/>
          <p:cNvSpPr/>
          <p:nvPr/>
        </p:nvSpPr>
        <p:spPr>
          <a:xfrm>
            <a:off x="2624328" y="3396996"/>
            <a:ext cx="201168" cy="201168"/>
          </a:xfrm>
          <a:prstGeom prst="roundRect">
            <a:avLst>
              <a:gd name="adj" fmla="val 13636"/>
            </a:avLst>
          </a:prstGeom>
          <a:solidFill>
            <a:srgbClr val="006FCF"/>
          </a:solidFill>
          <a:ln/>
        </p:spPr>
      </p:sp>
      <p:sp>
        <p:nvSpPr>
          <p:cNvPr id="28" name="Shape 26"/>
          <p:cNvSpPr/>
          <p:nvPr/>
        </p:nvSpPr>
        <p:spPr>
          <a:xfrm>
            <a:off x="2866644" y="3396996"/>
            <a:ext cx="201168" cy="201168"/>
          </a:xfrm>
          <a:prstGeom prst="roundRect">
            <a:avLst>
              <a:gd name="adj" fmla="val 13636"/>
            </a:avLst>
          </a:prstGeom>
          <a:solidFill>
            <a:srgbClr val="006FCF"/>
          </a:solidFill>
          <a:ln/>
        </p:spPr>
      </p:sp>
      <p:sp>
        <p:nvSpPr>
          <p:cNvPr id="29" name="Shape 27"/>
          <p:cNvSpPr/>
          <p:nvPr/>
        </p:nvSpPr>
        <p:spPr>
          <a:xfrm>
            <a:off x="685800" y="3639312"/>
            <a:ext cx="201168" cy="201168"/>
          </a:xfrm>
          <a:prstGeom prst="roundRect">
            <a:avLst>
              <a:gd name="adj" fmla="val 13636"/>
            </a:avLst>
          </a:prstGeom>
          <a:solidFill>
            <a:srgbClr val="006FCF"/>
          </a:solidFill>
          <a:ln/>
        </p:spPr>
      </p:sp>
      <p:sp>
        <p:nvSpPr>
          <p:cNvPr id="30" name="Shape 28"/>
          <p:cNvSpPr/>
          <p:nvPr/>
        </p:nvSpPr>
        <p:spPr>
          <a:xfrm>
            <a:off x="928116" y="3639312"/>
            <a:ext cx="201168" cy="201168"/>
          </a:xfrm>
          <a:prstGeom prst="roundRect">
            <a:avLst>
              <a:gd name="adj" fmla="val 13636"/>
            </a:avLst>
          </a:prstGeom>
          <a:solidFill>
            <a:srgbClr val="006FCF"/>
          </a:solidFill>
          <a:ln/>
        </p:spPr>
      </p:sp>
      <p:sp>
        <p:nvSpPr>
          <p:cNvPr id="31" name="Shape 29"/>
          <p:cNvSpPr/>
          <p:nvPr/>
        </p:nvSpPr>
        <p:spPr>
          <a:xfrm>
            <a:off x="1170432" y="3639312"/>
            <a:ext cx="201168" cy="201168"/>
          </a:xfrm>
          <a:prstGeom prst="roundRect">
            <a:avLst>
              <a:gd name="adj" fmla="val 13636"/>
            </a:avLst>
          </a:prstGeom>
          <a:solidFill>
            <a:srgbClr val="006FCF"/>
          </a:solidFill>
          <a:ln/>
        </p:spPr>
      </p:sp>
      <p:sp>
        <p:nvSpPr>
          <p:cNvPr id="32" name="Shape 30"/>
          <p:cNvSpPr/>
          <p:nvPr/>
        </p:nvSpPr>
        <p:spPr>
          <a:xfrm>
            <a:off x="1412748" y="3639312"/>
            <a:ext cx="201168" cy="201168"/>
          </a:xfrm>
          <a:prstGeom prst="roundRect">
            <a:avLst>
              <a:gd name="adj" fmla="val 13636"/>
            </a:avLst>
          </a:prstGeom>
          <a:solidFill>
            <a:srgbClr val="006FCF"/>
          </a:solidFill>
          <a:ln/>
        </p:spPr>
      </p:sp>
      <p:sp>
        <p:nvSpPr>
          <p:cNvPr id="33" name="Shape 31"/>
          <p:cNvSpPr/>
          <p:nvPr/>
        </p:nvSpPr>
        <p:spPr>
          <a:xfrm>
            <a:off x="1655064" y="3639312"/>
            <a:ext cx="201168" cy="201168"/>
          </a:xfrm>
          <a:prstGeom prst="roundRect">
            <a:avLst>
              <a:gd name="adj" fmla="val 13636"/>
            </a:avLst>
          </a:prstGeom>
          <a:solidFill>
            <a:srgbClr val="006FCF"/>
          </a:solidFill>
          <a:ln/>
        </p:spPr>
      </p:sp>
      <p:sp>
        <p:nvSpPr>
          <p:cNvPr id="34" name="Shape 32"/>
          <p:cNvSpPr/>
          <p:nvPr/>
        </p:nvSpPr>
        <p:spPr>
          <a:xfrm>
            <a:off x="1897380" y="3639312"/>
            <a:ext cx="201168" cy="201168"/>
          </a:xfrm>
          <a:prstGeom prst="roundRect">
            <a:avLst>
              <a:gd name="adj" fmla="val 13636"/>
            </a:avLst>
          </a:prstGeom>
          <a:solidFill>
            <a:srgbClr val="006FCF"/>
          </a:solidFill>
          <a:ln/>
        </p:spPr>
      </p:sp>
      <p:sp>
        <p:nvSpPr>
          <p:cNvPr id="35" name="Shape 33"/>
          <p:cNvSpPr/>
          <p:nvPr/>
        </p:nvSpPr>
        <p:spPr>
          <a:xfrm>
            <a:off x="2139696" y="3639312"/>
            <a:ext cx="201168" cy="201168"/>
          </a:xfrm>
          <a:prstGeom prst="roundRect">
            <a:avLst>
              <a:gd name="adj" fmla="val 13636"/>
            </a:avLst>
          </a:prstGeom>
          <a:solidFill>
            <a:srgbClr val="006FCF"/>
          </a:solidFill>
          <a:ln/>
        </p:spPr>
      </p:sp>
      <p:sp>
        <p:nvSpPr>
          <p:cNvPr id="36" name="Shape 34"/>
          <p:cNvSpPr/>
          <p:nvPr/>
        </p:nvSpPr>
        <p:spPr>
          <a:xfrm>
            <a:off x="2382012" y="3639312"/>
            <a:ext cx="201168" cy="201168"/>
          </a:xfrm>
          <a:prstGeom prst="roundRect">
            <a:avLst>
              <a:gd name="adj" fmla="val 13636"/>
            </a:avLst>
          </a:prstGeom>
          <a:solidFill>
            <a:srgbClr val="006FCF"/>
          </a:solidFill>
          <a:ln/>
        </p:spPr>
      </p:sp>
      <p:sp>
        <p:nvSpPr>
          <p:cNvPr id="37" name="Shape 35"/>
          <p:cNvSpPr/>
          <p:nvPr/>
        </p:nvSpPr>
        <p:spPr>
          <a:xfrm>
            <a:off x="2624328" y="3639312"/>
            <a:ext cx="201168" cy="201168"/>
          </a:xfrm>
          <a:prstGeom prst="roundRect">
            <a:avLst>
              <a:gd name="adj" fmla="val 13636"/>
            </a:avLst>
          </a:prstGeom>
          <a:solidFill>
            <a:srgbClr val="006FCF"/>
          </a:solidFill>
          <a:ln/>
        </p:spPr>
      </p:sp>
      <p:sp>
        <p:nvSpPr>
          <p:cNvPr id="38" name="Shape 36"/>
          <p:cNvSpPr/>
          <p:nvPr/>
        </p:nvSpPr>
        <p:spPr>
          <a:xfrm>
            <a:off x="2866644" y="3639312"/>
            <a:ext cx="201168" cy="201168"/>
          </a:xfrm>
          <a:prstGeom prst="roundRect">
            <a:avLst>
              <a:gd name="adj" fmla="val 13636"/>
            </a:avLst>
          </a:prstGeom>
          <a:solidFill>
            <a:srgbClr val="006FCF"/>
          </a:solidFill>
          <a:ln/>
        </p:spPr>
      </p:sp>
      <p:sp>
        <p:nvSpPr>
          <p:cNvPr id="39" name="Shape 37"/>
          <p:cNvSpPr/>
          <p:nvPr/>
        </p:nvSpPr>
        <p:spPr>
          <a:xfrm>
            <a:off x="685800" y="3881628"/>
            <a:ext cx="201168" cy="201168"/>
          </a:xfrm>
          <a:prstGeom prst="roundRect">
            <a:avLst>
              <a:gd name="adj" fmla="val 13636"/>
            </a:avLst>
          </a:prstGeom>
          <a:solidFill>
            <a:srgbClr val="006FCF"/>
          </a:solidFill>
          <a:ln/>
        </p:spPr>
      </p:sp>
      <p:sp>
        <p:nvSpPr>
          <p:cNvPr id="40" name="Shape 38"/>
          <p:cNvSpPr/>
          <p:nvPr/>
        </p:nvSpPr>
        <p:spPr>
          <a:xfrm>
            <a:off x="928116" y="3881628"/>
            <a:ext cx="201168" cy="201168"/>
          </a:xfrm>
          <a:prstGeom prst="roundRect">
            <a:avLst>
              <a:gd name="adj" fmla="val 13636"/>
            </a:avLst>
          </a:prstGeom>
          <a:solidFill>
            <a:srgbClr val="006FCF"/>
          </a:solidFill>
          <a:ln/>
        </p:spPr>
      </p:sp>
      <p:sp>
        <p:nvSpPr>
          <p:cNvPr id="41" name="Shape 39"/>
          <p:cNvSpPr/>
          <p:nvPr/>
        </p:nvSpPr>
        <p:spPr>
          <a:xfrm>
            <a:off x="1170432" y="3881628"/>
            <a:ext cx="201168" cy="201168"/>
          </a:xfrm>
          <a:prstGeom prst="roundRect">
            <a:avLst>
              <a:gd name="adj" fmla="val 13636"/>
            </a:avLst>
          </a:prstGeom>
          <a:solidFill>
            <a:srgbClr val="006FCF"/>
          </a:solidFill>
          <a:ln/>
        </p:spPr>
      </p:sp>
      <p:sp>
        <p:nvSpPr>
          <p:cNvPr id="42" name="Shape 40"/>
          <p:cNvSpPr/>
          <p:nvPr/>
        </p:nvSpPr>
        <p:spPr>
          <a:xfrm>
            <a:off x="1412748" y="3881628"/>
            <a:ext cx="201168" cy="201168"/>
          </a:xfrm>
          <a:prstGeom prst="roundRect">
            <a:avLst>
              <a:gd name="adj" fmla="val 13636"/>
            </a:avLst>
          </a:prstGeom>
          <a:solidFill>
            <a:srgbClr val="006FCF"/>
          </a:solidFill>
          <a:ln/>
        </p:spPr>
      </p:sp>
      <p:sp>
        <p:nvSpPr>
          <p:cNvPr id="43" name="Shape 41"/>
          <p:cNvSpPr/>
          <p:nvPr/>
        </p:nvSpPr>
        <p:spPr>
          <a:xfrm>
            <a:off x="1655064" y="3881628"/>
            <a:ext cx="201168" cy="201168"/>
          </a:xfrm>
          <a:prstGeom prst="roundRect">
            <a:avLst>
              <a:gd name="adj" fmla="val 13636"/>
            </a:avLst>
          </a:prstGeom>
          <a:solidFill>
            <a:srgbClr val="006FCF"/>
          </a:solidFill>
          <a:ln/>
        </p:spPr>
      </p:sp>
      <p:sp>
        <p:nvSpPr>
          <p:cNvPr id="44" name="Shape 42"/>
          <p:cNvSpPr/>
          <p:nvPr/>
        </p:nvSpPr>
        <p:spPr>
          <a:xfrm>
            <a:off x="1897380" y="3881628"/>
            <a:ext cx="201168" cy="201168"/>
          </a:xfrm>
          <a:prstGeom prst="roundRect">
            <a:avLst>
              <a:gd name="adj" fmla="val 13636"/>
            </a:avLst>
          </a:prstGeom>
          <a:solidFill>
            <a:srgbClr val="006FCF"/>
          </a:solidFill>
          <a:ln/>
        </p:spPr>
      </p:sp>
      <p:sp>
        <p:nvSpPr>
          <p:cNvPr id="45" name="Shape 43"/>
          <p:cNvSpPr/>
          <p:nvPr/>
        </p:nvSpPr>
        <p:spPr>
          <a:xfrm>
            <a:off x="2139696" y="3881628"/>
            <a:ext cx="201168" cy="201168"/>
          </a:xfrm>
          <a:prstGeom prst="roundRect">
            <a:avLst>
              <a:gd name="adj" fmla="val 13636"/>
            </a:avLst>
          </a:prstGeom>
          <a:solidFill>
            <a:srgbClr val="006FCF"/>
          </a:solidFill>
          <a:ln/>
        </p:spPr>
      </p:sp>
      <p:sp>
        <p:nvSpPr>
          <p:cNvPr id="46" name="Shape 44"/>
          <p:cNvSpPr/>
          <p:nvPr/>
        </p:nvSpPr>
        <p:spPr>
          <a:xfrm>
            <a:off x="2382012" y="3881628"/>
            <a:ext cx="201168" cy="201168"/>
          </a:xfrm>
          <a:prstGeom prst="roundRect">
            <a:avLst>
              <a:gd name="adj" fmla="val 13636"/>
            </a:avLst>
          </a:prstGeom>
          <a:solidFill>
            <a:srgbClr val="006FCF"/>
          </a:solidFill>
          <a:ln/>
        </p:spPr>
      </p:sp>
      <p:sp>
        <p:nvSpPr>
          <p:cNvPr id="47" name="Shape 45"/>
          <p:cNvSpPr/>
          <p:nvPr/>
        </p:nvSpPr>
        <p:spPr>
          <a:xfrm>
            <a:off x="2624328" y="3881628"/>
            <a:ext cx="201168" cy="201168"/>
          </a:xfrm>
          <a:prstGeom prst="roundRect">
            <a:avLst>
              <a:gd name="adj" fmla="val 13636"/>
            </a:avLst>
          </a:prstGeom>
          <a:solidFill>
            <a:srgbClr val="006FCF"/>
          </a:solidFill>
          <a:ln/>
        </p:spPr>
      </p:sp>
      <p:sp>
        <p:nvSpPr>
          <p:cNvPr id="48" name="Shape 46"/>
          <p:cNvSpPr/>
          <p:nvPr/>
        </p:nvSpPr>
        <p:spPr>
          <a:xfrm>
            <a:off x="2866644" y="3881628"/>
            <a:ext cx="201168" cy="201168"/>
          </a:xfrm>
          <a:prstGeom prst="roundRect">
            <a:avLst>
              <a:gd name="adj" fmla="val 13636"/>
            </a:avLst>
          </a:prstGeom>
          <a:solidFill>
            <a:srgbClr val="006FCF"/>
          </a:solidFill>
          <a:ln/>
        </p:spPr>
      </p:sp>
      <p:sp>
        <p:nvSpPr>
          <p:cNvPr id="49" name="Shape 47"/>
          <p:cNvSpPr/>
          <p:nvPr/>
        </p:nvSpPr>
        <p:spPr>
          <a:xfrm>
            <a:off x="685800" y="4123944"/>
            <a:ext cx="201168" cy="201168"/>
          </a:xfrm>
          <a:prstGeom prst="roundRect">
            <a:avLst>
              <a:gd name="adj" fmla="val 13636"/>
            </a:avLst>
          </a:prstGeom>
          <a:solidFill>
            <a:srgbClr val="006FCF"/>
          </a:solidFill>
          <a:ln/>
        </p:spPr>
      </p:sp>
      <p:sp>
        <p:nvSpPr>
          <p:cNvPr id="50" name="Shape 48"/>
          <p:cNvSpPr/>
          <p:nvPr/>
        </p:nvSpPr>
        <p:spPr>
          <a:xfrm>
            <a:off x="928116" y="4123944"/>
            <a:ext cx="201168" cy="201168"/>
          </a:xfrm>
          <a:prstGeom prst="roundRect">
            <a:avLst>
              <a:gd name="adj" fmla="val 13636"/>
            </a:avLst>
          </a:prstGeom>
          <a:solidFill>
            <a:srgbClr val="006FCF"/>
          </a:solidFill>
          <a:ln/>
        </p:spPr>
      </p:sp>
      <p:sp>
        <p:nvSpPr>
          <p:cNvPr id="51" name="Shape 49"/>
          <p:cNvSpPr/>
          <p:nvPr/>
        </p:nvSpPr>
        <p:spPr>
          <a:xfrm>
            <a:off x="1170432" y="4123944"/>
            <a:ext cx="201168" cy="201168"/>
          </a:xfrm>
          <a:prstGeom prst="roundRect">
            <a:avLst>
              <a:gd name="adj" fmla="val 13636"/>
            </a:avLst>
          </a:prstGeom>
          <a:solidFill>
            <a:srgbClr val="006FCF"/>
          </a:solidFill>
          <a:ln/>
        </p:spPr>
      </p:sp>
      <p:sp>
        <p:nvSpPr>
          <p:cNvPr id="52" name="Shape 50"/>
          <p:cNvSpPr/>
          <p:nvPr/>
        </p:nvSpPr>
        <p:spPr>
          <a:xfrm>
            <a:off x="1412748" y="4123944"/>
            <a:ext cx="201168" cy="201168"/>
          </a:xfrm>
          <a:prstGeom prst="roundRect">
            <a:avLst>
              <a:gd name="adj" fmla="val 13636"/>
            </a:avLst>
          </a:prstGeom>
          <a:solidFill>
            <a:srgbClr val="006FCF"/>
          </a:solidFill>
          <a:ln/>
        </p:spPr>
      </p:sp>
      <p:sp>
        <p:nvSpPr>
          <p:cNvPr id="53" name="Shape 51"/>
          <p:cNvSpPr/>
          <p:nvPr/>
        </p:nvSpPr>
        <p:spPr>
          <a:xfrm>
            <a:off x="1655064" y="4123944"/>
            <a:ext cx="201168" cy="201168"/>
          </a:xfrm>
          <a:prstGeom prst="roundRect">
            <a:avLst>
              <a:gd name="adj" fmla="val 13636"/>
            </a:avLst>
          </a:prstGeom>
          <a:solidFill>
            <a:srgbClr val="006FCF"/>
          </a:solidFill>
          <a:ln/>
        </p:spPr>
      </p:sp>
      <p:sp>
        <p:nvSpPr>
          <p:cNvPr id="54" name="Shape 52"/>
          <p:cNvSpPr/>
          <p:nvPr/>
        </p:nvSpPr>
        <p:spPr>
          <a:xfrm>
            <a:off x="1897380" y="4123944"/>
            <a:ext cx="201168" cy="201168"/>
          </a:xfrm>
          <a:prstGeom prst="roundRect">
            <a:avLst>
              <a:gd name="adj" fmla="val 13636"/>
            </a:avLst>
          </a:prstGeom>
          <a:solidFill>
            <a:srgbClr val="006FCF"/>
          </a:solidFill>
          <a:ln/>
        </p:spPr>
      </p:sp>
      <p:sp>
        <p:nvSpPr>
          <p:cNvPr id="55" name="Shape 53"/>
          <p:cNvSpPr/>
          <p:nvPr/>
        </p:nvSpPr>
        <p:spPr>
          <a:xfrm>
            <a:off x="2139696" y="4123944"/>
            <a:ext cx="201168" cy="201168"/>
          </a:xfrm>
          <a:prstGeom prst="roundRect">
            <a:avLst>
              <a:gd name="adj" fmla="val 13636"/>
            </a:avLst>
          </a:prstGeom>
          <a:solidFill>
            <a:srgbClr val="006FCF"/>
          </a:solidFill>
          <a:ln/>
        </p:spPr>
      </p:sp>
      <p:sp>
        <p:nvSpPr>
          <p:cNvPr id="56" name="Shape 54"/>
          <p:cNvSpPr/>
          <p:nvPr/>
        </p:nvSpPr>
        <p:spPr>
          <a:xfrm>
            <a:off x="2382012" y="4123944"/>
            <a:ext cx="201168" cy="201168"/>
          </a:xfrm>
          <a:prstGeom prst="roundRect">
            <a:avLst>
              <a:gd name="adj" fmla="val 13636"/>
            </a:avLst>
          </a:prstGeom>
          <a:solidFill>
            <a:srgbClr val="006FCF"/>
          </a:solidFill>
          <a:ln/>
        </p:spPr>
      </p:sp>
      <p:sp>
        <p:nvSpPr>
          <p:cNvPr id="57" name="Shape 55"/>
          <p:cNvSpPr/>
          <p:nvPr/>
        </p:nvSpPr>
        <p:spPr>
          <a:xfrm>
            <a:off x="2624328" y="4123944"/>
            <a:ext cx="201168" cy="201168"/>
          </a:xfrm>
          <a:prstGeom prst="roundRect">
            <a:avLst>
              <a:gd name="adj" fmla="val 13636"/>
            </a:avLst>
          </a:prstGeom>
          <a:solidFill>
            <a:srgbClr val="006FCF"/>
          </a:solidFill>
          <a:ln/>
        </p:spPr>
      </p:sp>
      <p:sp>
        <p:nvSpPr>
          <p:cNvPr id="58" name="Shape 56"/>
          <p:cNvSpPr/>
          <p:nvPr/>
        </p:nvSpPr>
        <p:spPr>
          <a:xfrm>
            <a:off x="2866644" y="4123944"/>
            <a:ext cx="201168" cy="201168"/>
          </a:xfrm>
          <a:prstGeom prst="roundRect">
            <a:avLst>
              <a:gd name="adj" fmla="val 13636"/>
            </a:avLst>
          </a:prstGeom>
          <a:solidFill>
            <a:srgbClr val="006FCF"/>
          </a:solidFill>
          <a:ln/>
        </p:spPr>
      </p:sp>
      <p:sp>
        <p:nvSpPr>
          <p:cNvPr id="59" name="Shape 57"/>
          <p:cNvSpPr/>
          <p:nvPr/>
        </p:nvSpPr>
        <p:spPr>
          <a:xfrm>
            <a:off x="685800" y="4366260"/>
            <a:ext cx="201168" cy="201168"/>
          </a:xfrm>
          <a:prstGeom prst="roundRect">
            <a:avLst>
              <a:gd name="adj" fmla="val 13636"/>
            </a:avLst>
          </a:prstGeom>
          <a:solidFill>
            <a:srgbClr val="006FCF"/>
          </a:solidFill>
          <a:ln/>
        </p:spPr>
      </p:sp>
      <p:sp>
        <p:nvSpPr>
          <p:cNvPr id="60" name="Shape 58"/>
          <p:cNvSpPr/>
          <p:nvPr/>
        </p:nvSpPr>
        <p:spPr>
          <a:xfrm>
            <a:off x="928116" y="4366260"/>
            <a:ext cx="201168" cy="201168"/>
          </a:xfrm>
          <a:prstGeom prst="roundRect">
            <a:avLst>
              <a:gd name="adj" fmla="val 13636"/>
            </a:avLst>
          </a:prstGeom>
          <a:solidFill>
            <a:srgbClr val="006FCF"/>
          </a:solidFill>
          <a:ln/>
        </p:spPr>
      </p:sp>
      <p:sp>
        <p:nvSpPr>
          <p:cNvPr id="61" name="Shape 59"/>
          <p:cNvSpPr/>
          <p:nvPr/>
        </p:nvSpPr>
        <p:spPr>
          <a:xfrm>
            <a:off x="1170432" y="4366260"/>
            <a:ext cx="201168" cy="201168"/>
          </a:xfrm>
          <a:prstGeom prst="roundRect">
            <a:avLst>
              <a:gd name="adj" fmla="val 13636"/>
            </a:avLst>
          </a:prstGeom>
          <a:solidFill>
            <a:srgbClr val="006FCF"/>
          </a:solidFill>
          <a:ln/>
        </p:spPr>
      </p:sp>
      <p:sp>
        <p:nvSpPr>
          <p:cNvPr id="62" name="Shape 60"/>
          <p:cNvSpPr/>
          <p:nvPr/>
        </p:nvSpPr>
        <p:spPr>
          <a:xfrm>
            <a:off x="1412748" y="4366260"/>
            <a:ext cx="201168" cy="201168"/>
          </a:xfrm>
          <a:prstGeom prst="roundRect">
            <a:avLst>
              <a:gd name="adj" fmla="val 13636"/>
            </a:avLst>
          </a:prstGeom>
          <a:solidFill>
            <a:srgbClr val="006FCF"/>
          </a:solidFill>
          <a:ln/>
        </p:spPr>
      </p:sp>
      <p:sp>
        <p:nvSpPr>
          <p:cNvPr id="63" name="Shape 61"/>
          <p:cNvSpPr/>
          <p:nvPr/>
        </p:nvSpPr>
        <p:spPr>
          <a:xfrm>
            <a:off x="1655064" y="4366260"/>
            <a:ext cx="201168" cy="201168"/>
          </a:xfrm>
          <a:prstGeom prst="roundRect">
            <a:avLst>
              <a:gd name="adj" fmla="val 13636"/>
            </a:avLst>
          </a:prstGeom>
          <a:solidFill>
            <a:srgbClr val="006FCF"/>
          </a:solidFill>
          <a:ln/>
        </p:spPr>
      </p:sp>
      <p:sp>
        <p:nvSpPr>
          <p:cNvPr id="64" name="Shape 62"/>
          <p:cNvSpPr/>
          <p:nvPr/>
        </p:nvSpPr>
        <p:spPr>
          <a:xfrm>
            <a:off x="1897380" y="4366260"/>
            <a:ext cx="201168" cy="201168"/>
          </a:xfrm>
          <a:prstGeom prst="roundRect">
            <a:avLst>
              <a:gd name="adj" fmla="val 13636"/>
            </a:avLst>
          </a:prstGeom>
          <a:solidFill>
            <a:srgbClr val="006FCF"/>
          </a:solidFill>
          <a:ln/>
        </p:spPr>
      </p:sp>
      <p:sp>
        <p:nvSpPr>
          <p:cNvPr id="65" name="Shape 63"/>
          <p:cNvSpPr/>
          <p:nvPr/>
        </p:nvSpPr>
        <p:spPr>
          <a:xfrm>
            <a:off x="2139696" y="4366260"/>
            <a:ext cx="201168" cy="201168"/>
          </a:xfrm>
          <a:prstGeom prst="roundRect">
            <a:avLst>
              <a:gd name="adj" fmla="val 13636"/>
            </a:avLst>
          </a:prstGeom>
          <a:solidFill>
            <a:srgbClr val="006FCF"/>
          </a:solidFill>
          <a:ln/>
        </p:spPr>
      </p:sp>
      <p:sp>
        <p:nvSpPr>
          <p:cNvPr id="66" name="Shape 64"/>
          <p:cNvSpPr/>
          <p:nvPr/>
        </p:nvSpPr>
        <p:spPr>
          <a:xfrm>
            <a:off x="2382012" y="4366260"/>
            <a:ext cx="201168" cy="201168"/>
          </a:xfrm>
          <a:prstGeom prst="roundRect">
            <a:avLst>
              <a:gd name="adj" fmla="val 13636"/>
            </a:avLst>
          </a:prstGeom>
          <a:solidFill>
            <a:srgbClr val="006FCF"/>
          </a:solidFill>
          <a:ln/>
        </p:spPr>
      </p:sp>
      <p:sp>
        <p:nvSpPr>
          <p:cNvPr id="67" name="Shape 65"/>
          <p:cNvSpPr/>
          <p:nvPr/>
        </p:nvSpPr>
        <p:spPr>
          <a:xfrm>
            <a:off x="2624328" y="4366260"/>
            <a:ext cx="201168" cy="201168"/>
          </a:xfrm>
          <a:prstGeom prst="roundRect">
            <a:avLst>
              <a:gd name="adj" fmla="val 13636"/>
            </a:avLst>
          </a:prstGeom>
          <a:solidFill>
            <a:srgbClr val="006FCF"/>
          </a:solidFill>
          <a:ln/>
        </p:spPr>
      </p:sp>
      <p:sp>
        <p:nvSpPr>
          <p:cNvPr id="68" name="Shape 66"/>
          <p:cNvSpPr/>
          <p:nvPr/>
        </p:nvSpPr>
        <p:spPr>
          <a:xfrm>
            <a:off x="2866644" y="4366260"/>
            <a:ext cx="201168" cy="201168"/>
          </a:xfrm>
          <a:prstGeom prst="roundRect">
            <a:avLst>
              <a:gd name="adj" fmla="val 13636"/>
            </a:avLst>
          </a:prstGeom>
          <a:solidFill>
            <a:srgbClr val="006FCF"/>
          </a:solidFill>
          <a:ln/>
        </p:spPr>
      </p:sp>
      <p:sp>
        <p:nvSpPr>
          <p:cNvPr id="69" name="Shape 67"/>
          <p:cNvSpPr/>
          <p:nvPr/>
        </p:nvSpPr>
        <p:spPr>
          <a:xfrm>
            <a:off x="685800" y="4608576"/>
            <a:ext cx="201168" cy="201168"/>
          </a:xfrm>
          <a:prstGeom prst="roundRect">
            <a:avLst>
              <a:gd name="adj" fmla="val 13636"/>
            </a:avLst>
          </a:prstGeom>
          <a:solidFill>
            <a:srgbClr val="006FCF"/>
          </a:solidFill>
          <a:ln/>
        </p:spPr>
      </p:sp>
      <p:sp>
        <p:nvSpPr>
          <p:cNvPr id="70" name="Shape 68"/>
          <p:cNvSpPr/>
          <p:nvPr/>
        </p:nvSpPr>
        <p:spPr>
          <a:xfrm>
            <a:off x="928116" y="4608576"/>
            <a:ext cx="201168" cy="201168"/>
          </a:xfrm>
          <a:prstGeom prst="roundRect">
            <a:avLst>
              <a:gd name="adj" fmla="val 13636"/>
            </a:avLst>
          </a:prstGeom>
          <a:solidFill>
            <a:srgbClr val="006FCF"/>
          </a:solidFill>
          <a:ln/>
        </p:spPr>
      </p:sp>
      <p:sp>
        <p:nvSpPr>
          <p:cNvPr id="71" name="Shape 69"/>
          <p:cNvSpPr/>
          <p:nvPr/>
        </p:nvSpPr>
        <p:spPr>
          <a:xfrm>
            <a:off x="1170432" y="4608576"/>
            <a:ext cx="201168" cy="201168"/>
          </a:xfrm>
          <a:prstGeom prst="roundRect">
            <a:avLst>
              <a:gd name="adj" fmla="val 13636"/>
            </a:avLst>
          </a:prstGeom>
          <a:solidFill>
            <a:srgbClr val="006FCF"/>
          </a:solidFill>
          <a:ln/>
        </p:spPr>
      </p:sp>
      <p:sp>
        <p:nvSpPr>
          <p:cNvPr id="72" name="Shape 70"/>
          <p:cNvSpPr/>
          <p:nvPr/>
        </p:nvSpPr>
        <p:spPr>
          <a:xfrm>
            <a:off x="1412748" y="4608576"/>
            <a:ext cx="201168" cy="201168"/>
          </a:xfrm>
          <a:prstGeom prst="roundRect">
            <a:avLst>
              <a:gd name="adj" fmla="val 13636"/>
            </a:avLst>
          </a:prstGeom>
          <a:solidFill>
            <a:srgbClr val="006FCF"/>
          </a:solidFill>
          <a:ln/>
        </p:spPr>
      </p:sp>
      <p:sp>
        <p:nvSpPr>
          <p:cNvPr id="73" name="Shape 71"/>
          <p:cNvSpPr/>
          <p:nvPr/>
        </p:nvSpPr>
        <p:spPr>
          <a:xfrm>
            <a:off x="1655064" y="4608576"/>
            <a:ext cx="201168" cy="201168"/>
          </a:xfrm>
          <a:prstGeom prst="roundRect">
            <a:avLst>
              <a:gd name="adj" fmla="val 13636"/>
            </a:avLst>
          </a:prstGeom>
          <a:solidFill>
            <a:srgbClr val="006FCF"/>
          </a:solidFill>
          <a:ln/>
        </p:spPr>
      </p:sp>
      <p:sp>
        <p:nvSpPr>
          <p:cNvPr id="74" name="Shape 72"/>
          <p:cNvSpPr/>
          <p:nvPr/>
        </p:nvSpPr>
        <p:spPr>
          <a:xfrm>
            <a:off x="1897380" y="4608576"/>
            <a:ext cx="201168" cy="201168"/>
          </a:xfrm>
          <a:prstGeom prst="roundRect">
            <a:avLst>
              <a:gd name="adj" fmla="val 13636"/>
            </a:avLst>
          </a:prstGeom>
          <a:solidFill>
            <a:srgbClr val="006FCF"/>
          </a:solidFill>
          <a:ln/>
        </p:spPr>
      </p:sp>
      <p:sp>
        <p:nvSpPr>
          <p:cNvPr id="75" name="Shape 73"/>
          <p:cNvSpPr/>
          <p:nvPr/>
        </p:nvSpPr>
        <p:spPr>
          <a:xfrm>
            <a:off x="2139696" y="4608576"/>
            <a:ext cx="201168" cy="201168"/>
          </a:xfrm>
          <a:prstGeom prst="roundRect">
            <a:avLst>
              <a:gd name="adj" fmla="val 13636"/>
            </a:avLst>
          </a:prstGeom>
          <a:solidFill>
            <a:srgbClr val="006FCF"/>
          </a:solidFill>
          <a:ln/>
        </p:spPr>
      </p:sp>
      <p:sp>
        <p:nvSpPr>
          <p:cNvPr id="76" name="Shape 74"/>
          <p:cNvSpPr/>
          <p:nvPr/>
        </p:nvSpPr>
        <p:spPr>
          <a:xfrm>
            <a:off x="2382012" y="4608576"/>
            <a:ext cx="201168" cy="201168"/>
          </a:xfrm>
          <a:prstGeom prst="roundRect">
            <a:avLst>
              <a:gd name="adj" fmla="val 13636"/>
            </a:avLst>
          </a:prstGeom>
          <a:solidFill>
            <a:srgbClr val="006FCF"/>
          </a:solidFill>
          <a:ln/>
        </p:spPr>
      </p:sp>
      <p:sp>
        <p:nvSpPr>
          <p:cNvPr id="77" name="Shape 75"/>
          <p:cNvSpPr/>
          <p:nvPr/>
        </p:nvSpPr>
        <p:spPr>
          <a:xfrm>
            <a:off x="2624328" y="4608576"/>
            <a:ext cx="201168" cy="201168"/>
          </a:xfrm>
          <a:prstGeom prst="roundRect">
            <a:avLst>
              <a:gd name="adj" fmla="val 13636"/>
            </a:avLst>
          </a:prstGeom>
          <a:solidFill>
            <a:srgbClr val="006FCF"/>
          </a:solidFill>
          <a:ln/>
        </p:spPr>
      </p:sp>
      <p:sp>
        <p:nvSpPr>
          <p:cNvPr id="78" name="Shape 76"/>
          <p:cNvSpPr/>
          <p:nvPr/>
        </p:nvSpPr>
        <p:spPr>
          <a:xfrm>
            <a:off x="2866644" y="4608576"/>
            <a:ext cx="201168" cy="201168"/>
          </a:xfrm>
          <a:prstGeom prst="roundRect">
            <a:avLst>
              <a:gd name="adj" fmla="val 13636"/>
            </a:avLst>
          </a:prstGeom>
          <a:solidFill>
            <a:srgbClr val="006FCF"/>
          </a:solidFill>
          <a:ln/>
        </p:spPr>
      </p:sp>
      <p:sp>
        <p:nvSpPr>
          <p:cNvPr id="79" name="Shape 77"/>
          <p:cNvSpPr/>
          <p:nvPr/>
        </p:nvSpPr>
        <p:spPr>
          <a:xfrm>
            <a:off x="685800" y="4850892"/>
            <a:ext cx="201168" cy="201168"/>
          </a:xfrm>
          <a:prstGeom prst="roundRect">
            <a:avLst>
              <a:gd name="adj" fmla="val 13636"/>
            </a:avLst>
          </a:prstGeom>
          <a:solidFill>
            <a:srgbClr val="006FCF"/>
          </a:solidFill>
          <a:ln/>
        </p:spPr>
      </p:sp>
      <p:sp>
        <p:nvSpPr>
          <p:cNvPr id="80" name="Shape 78"/>
          <p:cNvSpPr/>
          <p:nvPr/>
        </p:nvSpPr>
        <p:spPr>
          <a:xfrm>
            <a:off x="928116" y="4850892"/>
            <a:ext cx="201168" cy="201168"/>
          </a:xfrm>
          <a:prstGeom prst="roundRect">
            <a:avLst>
              <a:gd name="adj" fmla="val 13636"/>
            </a:avLst>
          </a:prstGeom>
          <a:solidFill>
            <a:srgbClr val="006FCF"/>
          </a:solidFill>
          <a:ln/>
        </p:spPr>
      </p:sp>
      <p:sp>
        <p:nvSpPr>
          <p:cNvPr id="81" name="Shape 79"/>
          <p:cNvSpPr/>
          <p:nvPr/>
        </p:nvSpPr>
        <p:spPr>
          <a:xfrm>
            <a:off x="1170432" y="4850892"/>
            <a:ext cx="201168" cy="201168"/>
          </a:xfrm>
          <a:prstGeom prst="roundRect">
            <a:avLst>
              <a:gd name="adj" fmla="val 13636"/>
            </a:avLst>
          </a:prstGeom>
          <a:solidFill>
            <a:srgbClr val="006FCF"/>
          </a:solidFill>
          <a:ln/>
        </p:spPr>
      </p:sp>
      <p:sp>
        <p:nvSpPr>
          <p:cNvPr id="82" name="Shape 80"/>
          <p:cNvSpPr/>
          <p:nvPr/>
        </p:nvSpPr>
        <p:spPr>
          <a:xfrm>
            <a:off x="1412748" y="4850892"/>
            <a:ext cx="201168" cy="201168"/>
          </a:xfrm>
          <a:prstGeom prst="roundRect">
            <a:avLst>
              <a:gd name="adj" fmla="val 13636"/>
            </a:avLst>
          </a:prstGeom>
          <a:solidFill>
            <a:srgbClr val="006FCF"/>
          </a:solidFill>
          <a:ln/>
        </p:spPr>
      </p:sp>
      <p:sp>
        <p:nvSpPr>
          <p:cNvPr id="83" name="Shape 81"/>
          <p:cNvSpPr/>
          <p:nvPr/>
        </p:nvSpPr>
        <p:spPr>
          <a:xfrm>
            <a:off x="1655064" y="4850892"/>
            <a:ext cx="201168" cy="201168"/>
          </a:xfrm>
          <a:prstGeom prst="roundRect">
            <a:avLst>
              <a:gd name="adj" fmla="val 13636"/>
            </a:avLst>
          </a:prstGeom>
          <a:solidFill>
            <a:srgbClr val="006FCF"/>
          </a:solidFill>
          <a:ln/>
        </p:spPr>
      </p:sp>
      <p:sp>
        <p:nvSpPr>
          <p:cNvPr id="84" name="Shape 82"/>
          <p:cNvSpPr/>
          <p:nvPr/>
        </p:nvSpPr>
        <p:spPr>
          <a:xfrm>
            <a:off x="1897380" y="4850892"/>
            <a:ext cx="201168" cy="201168"/>
          </a:xfrm>
          <a:prstGeom prst="roundRect">
            <a:avLst>
              <a:gd name="adj" fmla="val 13636"/>
            </a:avLst>
          </a:prstGeom>
          <a:solidFill>
            <a:srgbClr val="006FCF"/>
          </a:solidFill>
          <a:ln/>
        </p:spPr>
      </p:sp>
      <p:sp>
        <p:nvSpPr>
          <p:cNvPr id="85" name="Shape 83"/>
          <p:cNvSpPr/>
          <p:nvPr/>
        </p:nvSpPr>
        <p:spPr>
          <a:xfrm>
            <a:off x="2139696" y="4850892"/>
            <a:ext cx="201168" cy="201168"/>
          </a:xfrm>
          <a:prstGeom prst="roundRect">
            <a:avLst>
              <a:gd name="adj" fmla="val 13636"/>
            </a:avLst>
          </a:prstGeom>
          <a:solidFill>
            <a:srgbClr val="006FCF"/>
          </a:solidFill>
          <a:ln/>
        </p:spPr>
      </p:sp>
      <p:sp>
        <p:nvSpPr>
          <p:cNvPr id="86" name="Shape 84"/>
          <p:cNvSpPr/>
          <p:nvPr/>
        </p:nvSpPr>
        <p:spPr>
          <a:xfrm>
            <a:off x="2382012" y="4850892"/>
            <a:ext cx="201168" cy="201168"/>
          </a:xfrm>
          <a:prstGeom prst="roundRect">
            <a:avLst>
              <a:gd name="adj" fmla="val 13636"/>
            </a:avLst>
          </a:prstGeom>
          <a:solidFill>
            <a:srgbClr val="006FCF"/>
          </a:solidFill>
          <a:ln/>
        </p:spPr>
      </p:sp>
      <p:sp>
        <p:nvSpPr>
          <p:cNvPr id="87" name="Shape 85"/>
          <p:cNvSpPr/>
          <p:nvPr/>
        </p:nvSpPr>
        <p:spPr>
          <a:xfrm>
            <a:off x="2624328" y="4850892"/>
            <a:ext cx="201168" cy="201168"/>
          </a:xfrm>
          <a:prstGeom prst="roundRect">
            <a:avLst>
              <a:gd name="adj" fmla="val 13636"/>
            </a:avLst>
          </a:prstGeom>
          <a:solidFill>
            <a:srgbClr val="006FCF"/>
          </a:solidFill>
          <a:ln/>
        </p:spPr>
      </p:sp>
      <p:sp>
        <p:nvSpPr>
          <p:cNvPr id="88" name="Shape 86"/>
          <p:cNvSpPr/>
          <p:nvPr/>
        </p:nvSpPr>
        <p:spPr>
          <a:xfrm>
            <a:off x="2866644" y="4850892"/>
            <a:ext cx="201168" cy="201168"/>
          </a:xfrm>
          <a:prstGeom prst="roundRect">
            <a:avLst>
              <a:gd name="adj" fmla="val 13636"/>
            </a:avLst>
          </a:prstGeom>
          <a:solidFill>
            <a:srgbClr val="006FCF"/>
          </a:solidFill>
          <a:ln/>
        </p:spPr>
      </p:sp>
      <p:sp>
        <p:nvSpPr>
          <p:cNvPr id="89" name="Shape 87"/>
          <p:cNvSpPr/>
          <p:nvPr/>
        </p:nvSpPr>
        <p:spPr>
          <a:xfrm>
            <a:off x="685800" y="5093208"/>
            <a:ext cx="201168" cy="201168"/>
          </a:xfrm>
          <a:prstGeom prst="roundRect">
            <a:avLst>
              <a:gd name="adj" fmla="val 13636"/>
            </a:avLst>
          </a:prstGeom>
          <a:solidFill>
            <a:srgbClr val="006FCF"/>
          </a:solidFill>
          <a:ln/>
        </p:spPr>
      </p:sp>
      <p:sp>
        <p:nvSpPr>
          <p:cNvPr id="90" name="Shape 88"/>
          <p:cNvSpPr/>
          <p:nvPr/>
        </p:nvSpPr>
        <p:spPr>
          <a:xfrm>
            <a:off x="928116" y="5093208"/>
            <a:ext cx="201168" cy="201168"/>
          </a:xfrm>
          <a:prstGeom prst="roundRect">
            <a:avLst>
              <a:gd name="adj" fmla="val 13636"/>
            </a:avLst>
          </a:prstGeom>
          <a:solidFill>
            <a:srgbClr val="006FCF"/>
          </a:solidFill>
          <a:ln/>
        </p:spPr>
      </p:sp>
      <p:sp>
        <p:nvSpPr>
          <p:cNvPr id="91" name="Shape 89"/>
          <p:cNvSpPr/>
          <p:nvPr/>
        </p:nvSpPr>
        <p:spPr>
          <a:xfrm>
            <a:off x="1170432" y="5093208"/>
            <a:ext cx="201168" cy="201168"/>
          </a:xfrm>
          <a:prstGeom prst="roundRect">
            <a:avLst>
              <a:gd name="adj" fmla="val 13636"/>
            </a:avLst>
          </a:prstGeom>
          <a:solidFill>
            <a:srgbClr val="006FCF"/>
          </a:solidFill>
          <a:ln/>
        </p:spPr>
      </p:sp>
      <p:sp>
        <p:nvSpPr>
          <p:cNvPr id="92" name="Shape 90"/>
          <p:cNvSpPr/>
          <p:nvPr/>
        </p:nvSpPr>
        <p:spPr>
          <a:xfrm>
            <a:off x="1412748" y="5093208"/>
            <a:ext cx="201168" cy="201168"/>
          </a:xfrm>
          <a:prstGeom prst="roundRect">
            <a:avLst>
              <a:gd name="adj" fmla="val 13636"/>
            </a:avLst>
          </a:prstGeom>
          <a:solidFill>
            <a:srgbClr val="006FCF"/>
          </a:solidFill>
          <a:ln/>
        </p:spPr>
      </p:sp>
      <p:sp>
        <p:nvSpPr>
          <p:cNvPr id="93" name="Shape 91"/>
          <p:cNvSpPr/>
          <p:nvPr/>
        </p:nvSpPr>
        <p:spPr>
          <a:xfrm>
            <a:off x="1655064" y="5093208"/>
            <a:ext cx="201168" cy="201168"/>
          </a:xfrm>
          <a:prstGeom prst="roundRect">
            <a:avLst>
              <a:gd name="adj" fmla="val 13636"/>
            </a:avLst>
          </a:prstGeom>
          <a:solidFill>
            <a:srgbClr val="006FCF"/>
          </a:solidFill>
          <a:ln/>
        </p:spPr>
      </p:sp>
      <p:sp>
        <p:nvSpPr>
          <p:cNvPr id="94" name="Shape 92"/>
          <p:cNvSpPr/>
          <p:nvPr/>
        </p:nvSpPr>
        <p:spPr>
          <a:xfrm>
            <a:off x="1897380" y="5093208"/>
            <a:ext cx="201168" cy="201168"/>
          </a:xfrm>
          <a:prstGeom prst="roundRect">
            <a:avLst>
              <a:gd name="adj" fmla="val 13636"/>
            </a:avLst>
          </a:prstGeom>
          <a:solidFill>
            <a:srgbClr val="006FCF"/>
          </a:solidFill>
          <a:ln/>
        </p:spPr>
      </p:sp>
      <p:sp>
        <p:nvSpPr>
          <p:cNvPr id="95" name="Shape 93"/>
          <p:cNvSpPr/>
          <p:nvPr/>
        </p:nvSpPr>
        <p:spPr>
          <a:xfrm>
            <a:off x="2139696" y="5093208"/>
            <a:ext cx="201168" cy="201168"/>
          </a:xfrm>
          <a:prstGeom prst="roundRect">
            <a:avLst>
              <a:gd name="adj" fmla="val 13636"/>
            </a:avLst>
          </a:prstGeom>
          <a:solidFill>
            <a:srgbClr val="006FCF"/>
          </a:solidFill>
          <a:ln/>
        </p:spPr>
      </p:sp>
      <p:sp>
        <p:nvSpPr>
          <p:cNvPr id="96" name="Shape 94"/>
          <p:cNvSpPr/>
          <p:nvPr/>
        </p:nvSpPr>
        <p:spPr>
          <a:xfrm>
            <a:off x="2382012" y="5093208"/>
            <a:ext cx="201168" cy="201168"/>
          </a:xfrm>
          <a:prstGeom prst="roundRect">
            <a:avLst>
              <a:gd name="adj" fmla="val 13636"/>
            </a:avLst>
          </a:prstGeom>
          <a:solidFill>
            <a:srgbClr val="006FCF"/>
          </a:solidFill>
          <a:ln/>
        </p:spPr>
      </p:sp>
      <p:sp>
        <p:nvSpPr>
          <p:cNvPr id="97" name="Shape 95"/>
          <p:cNvSpPr/>
          <p:nvPr/>
        </p:nvSpPr>
        <p:spPr>
          <a:xfrm>
            <a:off x="2624328" y="5093208"/>
            <a:ext cx="201168" cy="201168"/>
          </a:xfrm>
          <a:prstGeom prst="roundRect">
            <a:avLst>
              <a:gd name="adj" fmla="val 13636"/>
            </a:avLst>
          </a:prstGeom>
          <a:solidFill>
            <a:srgbClr val="006FCF"/>
          </a:solidFill>
          <a:ln/>
        </p:spPr>
      </p:sp>
      <p:sp>
        <p:nvSpPr>
          <p:cNvPr id="98" name="Shape 96"/>
          <p:cNvSpPr/>
          <p:nvPr/>
        </p:nvSpPr>
        <p:spPr>
          <a:xfrm>
            <a:off x="2866644" y="5093208"/>
            <a:ext cx="201168" cy="201168"/>
          </a:xfrm>
          <a:prstGeom prst="roundRect">
            <a:avLst>
              <a:gd name="adj" fmla="val 13636"/>
            </a:avLst>
          </a:prstGeom>
          <a:solidFill>
            <a:srgbClr val="006FCF"/>
          </a:solidFill>
          <a:ln/>
        </p:spPr>
      </p:sp>
      <p:sp>
        <p:nvSpPr>
          <p:cNvPr id="99" name="Shape 97"/>
          <p:cNvSpPr/>
          <p:nvPr/>
        </p:nvSpPr>
        <p:spPr>
          <a:xfrm>
            <a:off x="685800" y="5335524"/>
            <a:ext cx="201168" cy="201168"/>
          </a:xfrm>
          <a:prstGeom prst="roundRect">
            <a:avLst>
              <a:gd name="adj" fmla="val 13636"/>
            </a:avLst>
          </a:prstGeom>
          <a:solidFill>
            <a:srgbClr val="006FCF"/>
          </a:solidFill>
          <a:ln/>
        </p:spPr>
      </p:sp>
      <p:sp>
        <p:nvSpPr>
          <p:cNvPr id="100" name="Shape 98"/>
          <p:cNvSpPr/>
          <p:nvPr/>
        </p:nvSpPr>
        <p:spPr>
          <a:xfrm>
            <a:off x="928116" y="5335524"/>
            <a:ext cx="201168" cy="201168"/>
          </a:xfrm>
          <a:prstGeom prst="roundRect">
            <a:avLst>
              <a:gd name="adj" fmla="val 13636"/>
            </a:avLst>
          </a:prstGeom>
          <a:solidFill>
            <a:srgbClr val="006FCF"/>
          </a:solidFill>
          <a:ln/>
        </p:spPr>
      </p:sp>
      <p:sp>
        <p:nvSpPr>
          <p:cNvPr id="101" name="Shape 99"/>
          <p:cNvSpPr/>
          <p:nvPr/>
        </p:nvSpPr>
        <p:spPr>
          <a:xfrm>
            <a:off x="1170432" y="5335524"/>
            <a:ext cx="201168" cy="201168"/>
          </a:xfrm>
          <a:prstGeom prst="roundRect">
            <a:avLst>
              <a:gd name="adj" fmla="val 13636"/>
            </a:avLst>
          </a:prstGeom>
          <a:solidFill>
            <a:srgbClr val="C9D2DC"/>
          </a:solidFill>
          <a:ln/>
        </p:spPr>
      </p:sp>
      <p:sp>
        <p:nvSpPr>
          <p:cNvPr id="102" name="Shape 100"/>
          <p:cNvSpPr/>
          <p:nvPr/>
        </p:nvSpPr>
        <p:spPr>
          <a:xfrm>
            <a:off x="1412748" y="5335524"/>
            <a:ext cx="201168" cy="201168"/>
          </a:xfrm>
          <a:prstGeom prst="roundRect">
            <a:avLst>
              <a:gd name="adj" fmla="val 13636"/>
            </a:avLst>
          </a:prstGeom>
          <a:solidFill>
            <a:srgbClr val="C9D2DC"/>
          </a:solidFill>
          <a:ln/>
        </p:spPr>
      </p:sp>
      <p:sp>
        <p:nvSpPr>
          <p:cNvPr id="103" name="Shape 101"/>
          <p:cNvSpPr/>
          <p:nvPr/>
        </p:nvSpPr>
        <p:spPr>
          <a:xfrm>
            <a:off x="1655064" y="5335524"/>
            <a:ext cx="201168" cy="201168"/>
          </a:xfrm>
          <a:prstGeom prst="roundRect">
            <a:avLst>
              <a:gd name="adj" fmla="val 13636"/>
            </a:avLst>
          </a:prstGeom>
          <a:solidFill>
            <a:srgbClr val="C9D2DC"/>
          </a:solidFill>
          <a:ln/>
        </p:spPr>
      </p:sp>
      <p:sp>
        <p:nvSpPr>
          <p:cNvPr id="104" name="Shape 102"/>
          <p:cNvSpPr/>
          <p:nvPr/>
        </p:nvSpPr>
        <p:spPr>
          <a:xfrm>
            <a:off x="1897380" y="5335524"/>
            <a:ext cx="201168" cy="201168"/>
          </a:xfrm>
          <a:prstGeom prst="roundRect">
            <a:avLst>
              <a:gd name="adj" fmla="val 13636"/>
            </a:avLst>
          </a:prstGeom>
          <a:solidFill>
            <a:srgbClr val="C9D2DC"/>
          </a:solidFill>
          <a:ln/>
        </p:spPr>
      </p:sp>
      <p:sp>
        <p:nvSpPr>
          <p:cNvPr id="105" name="Shape 103"/>
          <p:cNvSpPr/>
          <p:nvPr/>
        </p:nvSpPr>
        <p:spPr>
          <a:xfrm>
            <a:off x="2139696" y="5335524"/>
            <a:ext cx="201168" cy="201168"/>
          </a:xfrm>
          <a:prstGeom prst="roundRect">
            <a:avLst>
              <a:gd name="adj" fmla="val 13636"/>
            </a:avLst>
          </a:prstGeom>
          <a:solidFill>
            <a:srgbClr val="C9D2DC"/>
          </a:solidFill>
          <a:ln/>
        </p:spPr>
      </p:sp>
      <p:sp>
        <p:nvSpPr>
          <p:cNvPr id="106" name="Shape 104"/>
          <p:cNvSpPr/>
          <p:nvPr/>
        </p:nvSpPr>
        <p:spPr>
          <a:xfrm>
            <a:off x="2382012" y="5335524"/>
            <a:ext cx="201168" cy="201168"/>
          </a:xfrm>
          <a:prstGeom prst="roundRect">
            <a:avLst>
              <a:gd name="adj" fmla="val 13636"/>
            </a:avLst>
          </a:prstGeom>
          <a:solidFill>
            <a:srgbClr val="C9D2DC"/>
          </a:solidFill>
          <a:ln/>
        </p:spPr>
      </p:sp>
      <p:sp>
        <p:nvSpPr>
          <p:cNvPr id="107" name="Shape 105"/>
          <p:cNvSpPr/>
          <p:nvPr/>
        </p:nvSpPr>
        <p:spPr>
          <a:xfrm>
            <a:off x="2624328" y="5335524"/>
            <a:ext cx="201168" cy="201168"/>
          </a:xfrm>
          <a:prstGeom prst="roundRect">
            <a:avLst>
              <a:gd name="adj" fmla="val 13636"/>
            </a:avLst>
          </a:prstGeom>
          <a:solidFill>
            <a:srgbClr val="C9D2DC"/>
          </a:solidFill>
          <a:ln/>
        </p:spPr>
      </p:sp>
      <p:sp>
        <p:nvSpPr>
          <p:cNvPr id="108" name="Shape 106"/>
          <p:cNvSpPr/>
          <p:nvPr/>
        </p:nvSpPr>
        <p:spPr>
          <a:xfrm>
            <a:off x="2866644" y="5335524"/>
            <a:ext cx="201168" cy="201168"/>
          </a:xfrm>
          <a:prstGeom prst="roundRect">
            <a:avLst>
              <a:gd name="adj" fmla="val 13636"/>
            </a:avLst>
          </a:prstGeom>
          <a:solidFill>
            <a:srgbClr val="C9D2DC"/>
          </a:solidFill>
          <a:ln/>
        </p:spPr>
      </p:sp>
      <p:sp>
        <p:nvSpPr>
          <p:cNvPr id="109" name="Text 107"/>
          <p:cNvSpPr txBox="1"/>
          <p:nvPr/>
        </p:nvSpPr>
        <p:spPr>
          <a:xfrm>
            <a:off x="685800" y="5596128"/>
            <a:ext cx="2377440" cy="274320"/>
          </a:xfrm>
          <a:prstGeom prst="rect">
            <a:avLst/>
          </a:prstGeom>
          <a:noFill/>
          <a:ln/>
        </p:spPr>
        <p:txBody>
          <a:bodyPr wrap="square" lIns="0" tIns="0" rIns="0" bIns="0" rtlCol="0" anchor="ctr"/>
          <a:lstStyle/>
          <a:p>
            <a:pPr indent="0" marL="0">
              <a:buNone/>
            </a:pPr>
            <a:r>
              <a:rPr lang="en-US" sz="1000" i="1" dirty="0">
                <a:solidFill>
                  <a:srgbClr val="8C959E"/>
                </a:solidFill>
                <a:latin typeface="Calibri" pitchFamily="34" charset="0"/>
                <a:ea typeface="Calibri" pitchFamily="34" charset="-122"/>
                <a:cs typeface="Calibri" pitchFamily="34" charset="-120"/>
              </a:rPr>
              <a:t>Java web application cases</a:t>
            </a:r>
            <a:endParaRPr lang="en-US" sz="1000" dirty="0"/>
          </a:p>
        </p:txBody>
      </p:sp>
      <p:sp>
        <p:nvSpPr>
          <p:cNvPr id="110" name="Text 108"/>
          <p:cNvSpPr txBox="1"/>
          <p:nvPr/>
        </p:nvSpPr>
        <p:spPr>
          <a:xfrm>
            <a:off x="3611880" y="1828800"/>
            <a:ext cx="2377440" cy="256032"/>
          </a:xfrm>
          <a:prstGeom prst="rect">
            <a:avLst/>
          </a:prstGeom>
          <a:noFill/>
          <a:ln/>
        </p:spPr>
        <p:txBody>
          <a:bodyPr wrap="square" lIns="0" tIns="0" rIns="0" bIns="0" rtlCol="0" anchor="ctr"/>
          <a:lstStyle/>
          <a:p>
            <a:pPr indent="0" marL="0">
              <a:buNone/>
            </a:pPr>
            <a:r>
              <a:rPr lang="en-US" sz="1050" b="1" spc="130" kern="0" dirty="0">
                <a:solidFill>
                  <a:srgbClr val="53565A"/>
                </a:solidFill>
                <a:latin typeface="Calibri" pitchFamily="34" charset="0"/>
                <a:ea typeface="Calibri" pitchFamily="34" charset="-122"/>
                <a:cs typeface="Calibri" pitchFamily="34" charset="-120"/>
              </a:rPr>
              <a:t>JULIET TEST SUITE</a:t>
            </a:r>
            <a:endParaRPr lang="en-US" sz="1050" dirty="0"/>
          </a:p>
        </p:txBody>
      </p:sp>
      <p:sp>
        <p:nvSpPr>
          <p:cNvPr id="111" name="Text 109"/>
          <p:cNvSpPr txBox="1"/>
          <p:nvPr/>
        </p:nvSpPr>
        <p:spPr>
          <a:xfrm>
            <a:off x="3575304" y="2103120"/>
            <a:ext cx="2377440" cy="685800"/>
          </a:xfrm>
          <a:prstGeom prst="rect">
            <a:avLst/>
          </a:prstGeom>
          <a:noFill/>
          <a:ln/>
        </p:spPr>
        <p:txBody>
          <a:bodyPr wrap="square" lIns="0" tIns="0" rIns="0" bIns="0" rtlCol="0" anchor="ctr"/>
          <a:lstStyle/>
          <a:p>
            <a:pPr indent="0" marL="0">
              <a:buNone/>
            </a:pPr>
            <a:r>
              <a:rPr lang="en-US" sz="4000" b="1" dirty="0">
                <a:solidFill>
                  <a:srgbClr val="006FCF"/>
                </a:solidFill>
                <a:latin typeface="Cambria" pitchFamily="34" charset="0"/>
                <a:ea typeface="Cambria" pitchFamily="34" charset="-122"/>
                <a:cs typeface="Cambria" pitchFamily="34" charset="-120"/>
              </a:rPr>
              <a:t>97%</a:t>
            </a:r>
            <a:endParaRPr lang="en-US" sz="4000" dirty="0"/>
          </a:p>
        </p:txBody>
      </p:sp>
      <p:sp>
        <p:nvSpPr>
          <p:cNvPr id="112" name="Text 110"/>
          <p:cNvSpPr txBox="1"/>
          <p:nvPr/>
        </p:nvSpPr>
        <p:spPr>
          <a:xfrm>
            <a:off x="3611880" y="2788920"/>
            <a:ext cx="2377440" cy="274320"/>
          </a:xfrm>
          <a:prstGeom prst="rect">
            <a:avLst/>
          </a:prstGeom>
          <a:noFill/>
          <a:ln/>
        </p:spPr>
        <p:txBody>
          <a:bodyPr wrap="square" lIns="0" tIns="0" rIns="0" bIns="0" rtlCol="0" anchor="ctr"/>
          <a:lstStyle/>
          <a:p>
            <a:pPr indent="0" marL="0">
              <a:buNone/>
            </a:pPr>
            <a:r>
              <a:rPr lang="en-US" sz="1100" dirty="0">
                <a:solidFill>
                  <a:srgbClr val="1B2A44"/>
                </a:solidFill>
                <a:latin typeface="Calibri" pitchFamily="34" charset="0"/>
                <a:ea typeface="Calibri" pitchFamily="34" charset="-122"/>
                <a:cs typeface="Calibri" pitchFamily="34" charset="-120"/>
              </a:rPr>
              <a:t>of vulnerable cases detected</a:t>
            </a:r>
            <a:endParaRPr lang="en-US" sz="1100" dirty="0"/>
          </a:p>
        </p:txBody>
      </p:sp>
      <p:sp>
        <p:nvSpPr>
          <p:cNvPr id="113" name="Shape 111"/>
          <p:cNvSpPr/>
          <p:nvPr/>
        </p:nvSpPr>
        <p:spPr>
          <a:xfrm>
            <a:off x="3611880" y="3154680"/>
            <a:ext cx="201168" cy="201168"/>
          </a:xfrm>
          <a:prstGeom prst="roundRect">
            <a:avLst>
              <a:gd name="adj" fmla="val 13636"/>
            </a:avLst>
          </a:prstGeom>
          <a:solidFill>
            <a:srgbClr val="006FCF"/>
          </a:solidFill>
          <a:ln/>
        </p:spPr>
      </p:sp>
      <p:sp>
        <p:nvSpPr>
          <p:cNvPr id="114" name="Shape 112"/>
          <p:cNvSpPr/>
          <p:nvPr/>
        </p:nvSpPr>
        <p:spPr>
          <a:xfrm>
            <a:off x="3854196" y="3154680"/>
            <a:ext cx="201168" cy="201168"/>
          </a:xfrm>
          <a:prstGeom prst="roundRect">
            <a:avLst>
              <a:gd name="adj" fmla="val 13636"/>
            </a:avLst>
          </a:prstGeom>
          <a:solidFill>
            <a:srgbClr val="006FCF"/>
          </a:solidFill>
          <a:ln/>
        </p:spPr>
      </p:sp>
      <p:sp>
        <p:nvSpPr>
          <p:cNvPr id="115" name="Shape 113"/>
          <p:cNvSpPr/>
          <p:nvPr/>
        </p:nvSpPr>
        <p:spPr>
          <a:xfrm>
            <a:off x="4096512" y="3154680"/>
            <a:ext cx="201168" cy="201168"/>
          </a:xfrm>
          <a:prstGeom prst="roundRect">
            <a:avLst>
              <a:gd name="adj" fmla="val 13636"/>
            </a:avLst>
          </a:prstGeom>
          <a:solidFill>
            <a:srgbClr val="006FCF"/>
          </a:solidFill>
          <a:ln/>
        </p:spPr>
      </p:sp>
      <p:sp>
        <p:nvSpPr>
          <p:cNvPr id="116" name="Shape 114"/>
          <p:cNvSpPr/>
          <p:nvPr/>
        </p:nvSpPr>
        <p:spPr>
          <a:xfrm>
            <a:off x="4338828" y="3154680"/>
            <a:ext cx="201168" cy="201168"/>
          </a:xfrm>
          <a:prstGeom prst="roundRect">
            <a:avLst>
              <a:gd name="adj" fmla="val 13636"/>
            </a:avLst>
          </a:prstGeom>
          <a:solidFill>
            <a:srgbClr val="006FCF"/>
          </a:solidFill>
          <a:ln/>
        </p:spPr>
      </p:sp>
      <p:sp>
        <p:nvSpPr>
          <p:cNvPr id="117" name="Shape 115"/>
          <p:cNvSpPr/>
          <p:nvPr/>
        </p:nvSpPr>
        <p:spPr>
          <a:xfrm>
            <a:off x="4581144" y="3154680"/>
            <a:ext cx="201168" cy="201168"/>
          </a:xfrm>
          <a:prstGeom prst="roundRect">
            <a:avLst>
              <a:gd name="adj" fmla="val 13636"/>
            </a:avLst>
          </a:prstGeom>
          <a:solidFill>
            <a:srgbClr val="006FCF"/>
          </a:solidFill>
          <a:ln/>
        </p:spPr>
      </p:sp>
      <p:sp>
        <p:nvSpPr>
          <p:cNvPr id="118" name="Shape 116"/>
          <p:cNvSpPr/>
          <p:nvPr/>
        </p:nvSpPr>
        <p:spPr>
          <a:xfrm>
            <a:off x="4823460" y="3154680"/>
            <a:ext cx="201168" cy="201168"/>
          </a:xfrm>
          <a:prstGeom prst="roundRect">
            <a:avLst>
              <a:gd name="adj" fmla="val 13636"/>
            </a:avLst>
          </a:prstGeom>
          <a:solidFill>
            <a:srgbClr val="006FCF"/>
          </a:solidFill>
          <a:ln/>
        </p:spPr>
      </p:sp>
      <p:sp>
        <p:nvSpPr>
          <p:cNvPr id="119" name="Shape 117"/>
          <p:cNvSpPr/>
          <p:nvPr/>
        </p:nvSpPr>
        <p:spPr>
          <a:xfrm>
            <a:off x="5065776" y="3154680"/>
            <a:ext cx="201168" cy="201168"/>
          </a:xfrm>
          <a:prstGeom prst="roundRect">
            <a:avLst>
              <a:gd name="adj" fmla="val 13636"/>
            </a:avLst>
          </a:prstGeom>
          <a:solidFill>
            <a:srgbClr val="006FCF"/>
          </a:solidFill>
          <a:ln/>
        </p:spPr>
      </p:sp>
      <p:sp>
        <p:nvSpPr>
          <p:cNvPr id="120" name="Shape 118"/>
          <p:cNvSpPr/>
          <p:nvPr/>
        </p:nvSpPr>
        <p:spPr>
          <a:xfrm>
            <a:off x="5308092" y="3154680"/>
            <a:ext cx="201168" cy="201168"/>
          </a:xfrm>
          <a:prstGeom prst="roundRect">
            <a:avLst>
              <a:gd name="adj" fmla="val 13636"/>
            </a:avLst>
          </a:prstGeom>
          <a:solidFill>
            <a:srgbClr val="006FCF"/>
          </a:solidFill>
          <a:ln/>
        </p:spPr>
      </p:sp>
      <p:sp>
        <p:nvSpPr>
          <p:cNvPr id="121" name="Shape 119"/>
          <p:cNvSpPr/>
          <p:nvPr/>
        </p:nvSpPr>
        <p:spPr>
          <a:xfrm>
            <a:off x="5550408" y="3154680"/>
            <a:ext cx="201168" cy="201168"/>
          </a:xfrm>
          <a:prstGeom prst="roundRect">
            <a:avLst>
              <a:gd name="adj" fmla="val 13636"/>
            </a:avLst>
          </a:prstGeom>
          <a:solidFill>
            <a:srgbClr val="006FCF"/>
          </a:solidFill>
          <a:ln/>
        </p:spPr>
      </p:sp>
      <p:sp>
        <p:nvSpPr>
          <p:cNvPr id="122" name="Shape 120"/>
          <p:cNvSpPr/>
          <p:nvPr/>
        </p:nvSpPr>
        <p:spPr>
          <a:xfrm>
            <a:off x="5792724" y="3154680"/>
            <a:ext cx="201168" cy="201168"/>
          </a:xfrm>
          <a:prstGeom prst="roundRect">
            <a:avLst>
              <a:gd name="adj" fmla="val 13636"/>
            </a:avLst>
          </a:prstGeom>
          <a:solidFill>
            <a:srgbClr val="006FCF"/>
          </a:solidFill>
          <a:ln/>
        </p:spPr>
      </p:sp>
      <p:sp>
        <p:nvSpPr>
          <p:cNvPr id="123" name="Shape 121"/>
          <p:cNvSpPr/>
          <p:nvPr/>
        </p:nvSpPr>
        <p:spPr>
          <a:xfrm>
            <a:off x="3611880" y="3396996"/>
            <a:ext cx="201168" cy="201168"/>
          </a:xfrm>
          <a:prstGeom prst="roundRect">
            <a:avLst>
              <a:gd name="adj" fmla="val 13636"/>
            </a:avLst>
          </a:prstGeom>
          <a:solidFill>
            <a:srgbClr val="006FCF"/>
          </a:solidFill>
          <a:ln/>
        </p:spPr>
      </p:sp>
      <p:sp>
        <p:nvSpPr>
          <p:cNvPr id="124" name="Shape 122"/>
          <p:cNvSpPr/>
          <p:nvPr/>
        </p:nvSpPr>
        <p:spPr>
          <a:xfrm>
            <a:off x="3854196" y="3396996"/>
            <a:ext cx="201168" cy="201168"/>
          </a:xfrm>
          <a:prstGeom prst="roundRect">
            <a:avLst>
              <a:gd name="adj" fmla="val 13636"/>
            </a:avLst>
          </a:prstGeom>
          <a:solidFill>
            <a:srgbClr val="006FCF"/>
          </a:solidFill>
          <a:ln/>
        </p:spPr>
      </p:sp>
      <p:sp>
        <p:nvSpPr>
          <p:cNvPr id="125" name="Shape 123"/>
          <p:cNvSpPr/>
          <p:nvPr/>
        </p:nvSpPr>
        <p:spPr>
          <a:xfrm>
            <a:off x="4096512" y="3396996"/>
            <a:ext cx="201168" cy="201168"/>
          </a:xfrm>
          <a:prstGeom prst="roundRect">
            <a:avLst>
              <a:gd name="adj" fmla="val 13636"/>
            </a:avLst>
          </a:prstGeom>
          <a:solidFill>
            <a:srgbClr val="006FCF"/>
          </a:solidFill>
          <a:ln/>
        </p:spPr>
      </p:sp>
      <p:sp>
        <p:nvSpPr>
          <p:cNvPr id="126" name="Shape 124"/>
          <p:cNvSpPr/>
          <p:nvPr/>
        </p:nvSpPr>
        <p:spPr>
          <a:xfrm>
            <a:off x="4338828" y="3396996"/>
            <a:ext cx="201168" cy="201168"/>
          </a:xfrm>
          <a:prstGeom prst="roundRect">
            <a:avLst>
              <a:gd name="adj" fmla="val 13636"/>
            </a:avLst>
          </a:prstGeom>
          <a:solidFill>
            <a:srgbClr val="006FCF"/>
          </a:solidFill>
          <a:ln/>
        </p:spPr>
      </p:sp>
      <p:sp>
        <p:nvSpPr>
          <p:cNvPr id="127" name="Shape 125"/>
          <p:cNvSpPr/>
          <p:nvPr/>
        </p:nvSpPr>
        <p:spPr>
          <a:xfrm>
            <a:off x="4581144" y="3396996"/>
            <a:ext cx="201168" cy="201168"/>
          </a:xfrm>
          <a:prstGeom prst="roundRect">
            <a:avLst>
              <a:gd name="adj" fmla="val 13636"/>
            </a:avLst>
          </a:prstGeom>
          <a:solidFill>
            <a:srgbClr val="006FCF"/>
          </a:solidFill>
          <a:ln/>
        </p:spPr>
      </p:sp>
      <p:sp>
        <p:nvSpPr>
          <p:cNvPr id="128" name="Shape 126"/>
          <p:cNvSpPr/>
          <p:nvPr/>
        </p:nvSpPr>
        <p:spPr>
          <a:xfrm>
            <a:off x="4823460" y="3396996"/>
            <a:ext cx="201168" cy="201168"/>
          </a:xfrm>
          <a:prstGeom prst="roundRect">
            <a:avLst>
              <a:gd name="adj" fmla="val 13636"/>
            </a:avLst>
          </a:prstGeom>
          <a:solidFill>
            <a:srgbClr val="006FCF"/>
          </a:solidFill>
          <a:ln/>
        </p:spPr>
      </p:sp>
      <p:sp>
        <p:nvSpPr>
          <p:cNvPr id="129" name="Shape 127"/>
          <p:cNvSpPr/>
          <p:nvPr/>
        </p:nvSpPr>
        <p:spPr>
          <a:xfrm>
            <a:off x="5065776" y="3396996"/>
            <a:ext cx="201168" cy="201168"/>
          </a:xfrm>
          <a:prstGeom prst="roundRect">
            <a:avLst>
              <a:gd name="adj" fmla="val 13636"/>
            </a:avLst>
          </a:prstGeom>
          <a:solidFill>
            <a:srgbClr val="006FCF"/>
          </a:solidFill>
          <a:ln/>
        </p:spPr>
      </p:sp>
      <p:sp>
        <p:nvSpPr>
          <p:cNvPr id="130" name="Shape 128"/>
          <p:cNvSpPr/>
          <p:nvPr/>
        </p:nvSpPr>
        <p:spPr>
          <a:xfrm>
            <a:off x="5308092" y="3396996"/>
            <a:ext cx="201168" cy="201168"/>
          </a:xfrm>
          <a:prstGeom prst="roundRect">
            <a:avLst>
              <a:gd name="adj" fmla="val 13636"/>
            </a:avLst>
          </a:prstGeom>
          <a:solidFill>
            <a:srgbClr val="006FCF"/>
          </a:solidFill>
          <a:ln/>
        </p:spPr>
      </p:sp>
      <p:sp>
        <p:nvSpPr>
          <p:cNvPr id="131" name="Shape 129"/>
          <p:cNvSpPr/>
          <p:nvPr/>
        </p:nvSpPr>
        <p:spPr>
          <a:xfrm>
            <a:off x="5550408" y="3396996"/>
            <a:ext cx="201168" cy="201168"/>
          </a:xfrm>
          <a:prstGeom prst="roundRect">
            <a:avLst>
              <a:gd name="adj" fmla="val 13636"/>
            </a:avLst>
          </a:prstGeom>
          <a:solidFill>
            <a:srgbClr val="006FCF"/>
          </a:solidFill>
          <a:ln/>
        </p:spPr>
      </p:sp>
      <p:sp>
        <p:nvSpPr>
          <p:cNvPr id="132" name="Shape 130"/>
          <p:cNvSpPr/>
          <p:nvPr/>
        </p:nvSpPr>
        <p:spPr>
          <a:xfrm>
            <a:off x="5792724" y="3396996"/>
            <a:ext cx="201168" cy="201168"/>
          </a:xfrm>
          <a:prstGeom prst="roundRect">
            <a:avLst>
              <a:gd name="adj" fmla="val 13636"/>
            </a:avLst>
          </a:prstGeom>
          <a:solidFill>
            <a:srgbClr val="006FCF"/>
          </a:solidFill>
          <a:ln/>
        </p:spPr>
      </p:sp>
      <p:sp>
        <p:nvSpPr>
          <p:cNvPr id="133" name="Shape 131"/>
          <p:cNvSpPr/>
          <p:nvPr/>
        </p:nvSpPr>
        <p:spPr>
          <a:xfrm>
            <a:off x="3611880" y="3639312"/>
            <a:ext cx="201168" cy="201168"/>
          </a:xfrm>
          <a:prstGeom prst="roundRect">
            <a:avLst>
              <a:gd name="adj" fmla="val 13636"/>
            </a:avLst>
          </a:prstGeom>
          <a:solidFill>
            <a:srgbClr val="006FCF"/>
          </a:solidFill>
          <a:ln/>
        </p:spPr>
      </p:sp>
      <p:sp>
        <p:nvSpPr>
          <p:cNvPr id="134" name="Shape 132"/>
          <p:cNvSpPr/>
          <p:nvPr/>
        </p:nvSpPr>
        <p:spPr>
          <a:xfrm>
            <a:off x="3854196" y="3639312"/>
            <a:ext cx="201168" cy="201168"/>
          </a:xfrm>
          <a:prstGeom prst="roundRect">
            <a:avLst>
              <a:gd name="adj" fmla="val 13636"/>
            </a:avLst>
          </a:prstGeom>
          <a:solidFill>
            <a:srgbClr val="006FCF"/>
          </a:solidFill>
          <a:ln/>
        </p:spPr>
      </p:sp>
      <p:sp>
        <p:nvSpPr>
          <p:cNvPr id="135" name="Shape 133"/>
          <p:cNvSpPr/>
          <p:nvPr/>
        </p:nvSpPr>
        <p:spPr>
          <a:xfrm>
            <a:off x="4096512" y="3639312"/>
            <a:ext cx="201168" cy="201168"/>
          </a:xfrm>
          <a:prstGeom prst="roundRect">
            <a:avLst>
              <a:gd name="adj" fmla="val 13636"/>
            </a:avLst>
          </a:prstGeom>
          <a:solidFill>
            <a:srgbClr val="006FCF"/>
          </a:solidFill>
          <a:ln/>
        </p:spPr>
      </p:sp>
      <p:sp>
        <p:nvSpPr>
          <p:cNvPr id="136" name="Shape 134"/>
          <p:cNvSpPr/>
          <p:nvPr/>
        </p:nvSpPr>
        <p:spPr>
          <a:xfrm>
            <a:off x="4338828" y="3639312"/>
            <a:ext cx="201168" cy="201168"/>
          </a:xfrm>
          <a:prstGeom prst="roundRect">
            <a:avLst>
              <a:gd name="adj" fmla="val 13636"/>
            </a:avLst>
          </a:prstGeom>
          <a:solidFill>
            <a:srgbClr val="006FCF"/>
          </a:solidFill>
          <a:ln/>
        </p:spPr>
      </p:sp>
      <p:sp>
        <p:nvSpPr>
          <p:cNvPr id="137" name="Shape 135"/>
          <p:cNvSpPr/>
          <p:nvPr/>
        </p:nvSpPr>
        <p:spPr>
          <a:xfrm>
            <a:off x="4581144" y="3639312"/>
            <a:ext cx="201168" cy="201168"/>
          </a:xfrm>
          <a:prstGeom prst="roundRect">
            <a:avLst>
              <a:gd name="adj" fmla="val 13636"/>
            </a:avLst>
          </a:prstGeom>
          <a:solidFill>
            <a:srgbClr val="006FCF"/>
          </a:solidFill>
          <a:ln/>
        </p:spPr>
      </p:sp>
      <p:sp>
        <p:nvSpPr>
          <p:cNvPr id="138" name="Shape 136"/>
          <p:cNvSpPr/>
          <p:nvPr/>
        </p:nvSpPr>
        <p:spPr>
          <a:xfrm>
            <a:off x="4823460" y="3639312"/>
            <a:ext cx="201168" cy="201168"/>
          </a:xfrm>
          <a:prstGeom prst="roundRect">
            <a:avLst>
              <a:gd name="adj" fmla="val 13636"/>
            </a:avLst>
          </a:prstGeom>
          <a:solidFill>
            <a:srgbClr val="006FCF"/>
          </a:solidFill>
          <a:ln/>
        </p:spPr>
      </p:sp>
      <p:sp>
        <p:nvSpPr>
          <p:cNvPr id="139" name="Shape 137"/>
          <p:cNvSpPr/>
          <p:nvPr/>
        </p:nvSpPr>
        <p:spPr>
          <a:xfrm>
            <a:off x="5065776" y="3639312"/>
            <a:ext cx="201168" cy="201168"/>
          </a:xfrm>
          <a:prstGeom prst="roundRect">
            <a:avLst>
              <a:gd name="adj" fmla="val 13636"/>
            </a:avLst>
          </a:prstGeom>
          <a:solidFill>
            <a:srgbClr val="006FCF"/>
          </a:solidFill>
          <a:ln/>
        </p:spPr>
      </p:sp>
      <p:sp>
        <p:nvSpPr>
          <p:cNvPr id="140" name="Shape 138"/>
          <p:cNvSpPr/>
          <p:nvPr/>
        </p:nvSpPr>
        <p:spPr>
          <a:xfrm>
            <a:off x="5308092" y="3639312"/>
            <a:ext cx="201168" cy="201168"/>
          </a:xfrm>
          <a:prstGeom prst="roundRect">
            <a:avLst>
              <a:gd name="adj" fmla="val 13636"/>
            </a:avLst>
          </a:prstGeom>
          <a:solidFill>
            <a:srgbClr val="006FCF"/>
          </a:solidFill>
          <a:ln/>
        </p:spPr>
      </p:sp>
      <p:sp>
        <p:nvSpPr>
          <p:cNvPr id="141" name="Shape 139"/>
          <p:cNvSpPr/>
          <p:nvPr/>
        </p:nvSpPr>
        <p:spPr>
          <a:xfrm>
            <a:off x="5550408" y="3639312"/>
            <a:ext cx="201168" cy="201168"/>
          </a:xfrm>
          <a:prstGeom prst="roundRect">
            <a:avLst>
              <a:gd name="adj" fmla="val 13636"/>
            </a:avLst>
          </a:prstGeom>
          <a:solidFill>
            <a:srgbClr val="006FCF"/>
          </a:solidFill>
          <a:ln/>
        </p:spPr>
      </p:sp>
      <p:sp>
        <p:nvSpPr>
          <p:cNvPr id="142" name="Shape 140"/>
          <p:cNvSpPr/>
          <p:nvPr/>
        </p:nvSpPr>
        <p:spPr>
          <a:xfrm>
            <a:off x="5792724" y="3639312"/>
            <a:ext cx="201168" cy="201168"/>
          </a:xfrm>
          <a:prstGeom prst="roundRect">
            <a:avLst>
              <a:gd name="adj" fmla="val 13636"/>
            </a:avLst>
          </a:prstGeom>
          <a:solidFill>
            <a:srgbClr val="006FCF"/>
          </a:solidFill>
          <a:ln/>
        </p:spPr>
      </p:sp>
      <p:sp>
        <p:nvSpPr>
          <p:cNvPr id="143" name="Shape 141"/>
          <p:cNvSpPr/>
          <p:nvPr/>
        </p:nvSpPr>
        <p:spPr>
          <a:xfrm>
            <a:off x="3611880" y="3881628"/>
            <a:ext cx="201168" cy="201168"/>
          </a:xfrm>
          <a:prstGeom prst="roundRect">
            <a:avLst>
              <a:gd name="adj" fmla="val 13636"/>
            </a:avLst>
          </a:prstGeom>
          <a:solidFill>
            <a:srgbClr val="006FCF"/>
          </a:solidFill>
          <a:ln/>
        </p:spPr>
      </p:sp>
      <p:sp>
        <p:nvSpPr>
          <p:cNvPr id="144" name="Shape 142"/>
          <p:cNvSpPr/>
          <p:nvPr/>
        </p:nvSpPr>
        <p:spPr>
          <a:xfrm>
            <a:off x="3854196" y="3881628"/>
            <a:ext cx="201168" cy="201168"/>
          </a:xfrm>
          <a:prstGeom prst="roundRect">
            <a:avLst>
              <a:gd name="adj" fmla="val 13636"/>
            </a:avLst>
          </a:prstGeom>
          <a:solidFill>
            <a:srgbClr val="006FCF"/>
          </a:solidFill>
          <a:ln/>
        </p:spPr>
      </p:sp>
      <p:sp>
        <p:nvSpPr>
          <p:cNvPr id="145" name="Shape 143"/>
          <p:cNvSpPr/>
          <p:nvPr/>
        </p:nvSpPr>
        <p:spPr>
          <a:xfrm>
            <a:off x="4096512" y="3881628"/>
            <a:ext cx="201168" cy="201168"/>
          </a:xfrm>
          <a:prstGeom prst="roundRect">
            <a:avLst>
              <a:gd name="adj" fmla="val 13636"/>
            </a:avLst>
          </a:prstGeom>
          <a:solidFill>
            <a:srgbClr val="006FCF"/>
          </a:solidFill>
          <a:ln/>
        </p:spPr>
      </p:sp>
      <p:sp>
        <p:nvSpPr>
          <p:cNvPr id="146" name="Shape 144"/>
          <p:cNvSpPr/>
          <p:nvPr/>
        </p:nvSpPr>
        <p:spPr>
          <a:xfrm>
            <a:off x="4338828" y="3881628"/>
            <a:ext cx="201168" cy="201168"/>
          </a:xfrm>
          <a:prstGeom prst="roundRect">
            <a:avLst>
              <a:gd name="adj" fmla="val 13636"/>
            </a:avLst>
          </a:prstGeom>
          <a:solidFill>
            <a:srgbClr val="006FCF"/>
          </a:solidFill>
          <a:ln/>
        </p:spPr>
      </p:sp>
      <p:sp>
        <p:nvSpPr>
          <p:cNvPr id="147" name="Shape 145"/>
          <p:cNvSpPr/>
          <p:nvPr/>
        </p:nvSpPr>
        <p:spPr>
          <a:xfrm>
            <a:off x="4581144" y="3881628"/>
            <a:ext cx="201168" cy="201168"/>
          </a:xfrm>
          <a:prstGeom prst="roundRect">
            <a:avLst>
              <a:gd name="adj" fmla="val 13636"/>
            </a:avLst>
          </a:prstGeom>
          <a:solidFill>
            <a:srgbClr val="006FCF"/>
          </a:solidFill>
          <a:ln/>
        </p:spPr>
      </p:sp>
      <p:sp>
        <p:nvSpPr>
          <p:cNvPr id="148" name="Shape 146"/>
          <p:cNvSpPr/>
          <p:nvPr/>
        </p:nvSpPr>
        <p:spPr>
          <a:xfrm>
            <a:off x="4823460" y="3881628"/>
            <a:ext cx="201168" cy="201168"/>
          </a:xfrm>
          <a:prstGeom prst="roundRect">
            <a:avLst>
              <a:gd name="adj" fmla="val 13636"/>
            </a:avLst>
          </a:prstGeom>
          <a:solidFill>
            <a:srgbClr val="006FCF"/>
          </a:solidFill>
          <a:ln/>
        </p:spPr>
      </p:sp>
      <p:sp>
        <p:nvSpPr>
          <p:cNvPr id="149" name="Shape 147"/>
          <p:cNvSpPr/>
          <p:nvPr/>
        </p:nvSpPr>
        <p:spPr>
          <a:xfrm>
            <a:off x="5065776" y="3881628"/>
            <a:ext cx="201168" cy="201168"/>
          </a:xfrm>
          <a:prstGeom prst="roundRect">
            <a:avLst>
              <a:gd name="adj" fmla="val 13636"/>
            </a:avLst>
          </a:prstGeom>
          <a:solidFill>
            <a:srgbClr val="006FCF"/>
          </a:solidFill>
          <a:ln/>
        </p:spPr>
      </p:sp>
      <p:sp>
        <p:nvSpPr>
          <p:cNvPr id="150" name="Shape 148"/>
          <p:cNvSpPr/>
          <p:nvPr/>
        </p:nvSpPr>
        <p:spPr>
          <a:xfrm>
            <a:off x="5308092" y="3881628"/>
            <a:ext cx="201168" cy="201168"/>
          </a:xfrm>
          <a:prstGeom prst="roundRect">
            <a:avLst>
              <a:gd name="adj" fmla="val 13636"/>
            </a:avLst>
          </a:prstGeom>
          <a:solidFill>
            <a:srgbClr val="006FCF"/>
          </a:solidFill>
          <a:ln/>
        </p:spPr>
      </p:sp>
      <p:sp>
        <p:nvSpPr>
          <p:cNvPr id="151" name="Shape 149"/>
          <p:cNvSpPr/>
          <p:nvPr/>
        </p:nvSpPr>
        <p:spPr>
          <a:xfrm>
            <a:off x="5550408" y="3881628"/>
            <a:ext cx="201168" cy="201168"/>
          </a:xfrm>
          <a:prstGeom prst="roundRect">
            <a:avLst>
              <a:gd name="adj" fmla="val 13636"/>
            </a:avLst>
          </a:prstGeom>
          <a:solidFill>
            <a:srgbClr val="006FCF"/>
          </a:solidFill>
          <a:ln/>
        </p:spPr>
      </p:sp>
      <p:sp>
        <p:nvSpPr>
          <p:cNvPr id="152" name="Shape 150"/>
          <p:cNvSpPr/>
          <p:nvPr/>
        </p:nvSpPr>
        <p:spPr>
          <a:xfrm>
            <a:off x="5792724" y="3881628"/>
            <a:ext cx="201168" cy="201168"/>
          </a:xfrm>
          <a:prstGeom prst="roundRect">
            <a:avLst>
              <a:gd name="adj" fmla="val 13636"/>
            </a:avLst>
          </a:prstGeom>
          <a:solidFill>
            <a:srgbClr val="006FCF"/>
          </a:solidFill>
          <a:ln/>
        </p:spPr>
      </p:sp>
      <p:sp>
        <p:nvSpPr>
          <p:cNvPr id="153" name="Shape 151"/>
          <p:cNvSpPr/>
          <p:nvPr/>
        </p:nvSpPr>
        <p:spPr>
          <a:xfrm>
            <a:off x="3611880" y="4123944"/>
            <a:ext cx="201168" cy="201168"/>
          </a:xfrm>
          <a:prstGeom prst="roundRect">
            <a:avLst>
              <a:gd name="adj" fmla="val 13636"/>
            </a:avLst>
          </a:prstGeom>
          <a:solidFill>
            <a:srgbClr val="006FCF"/>
          </a:solidFill>
          <a:ln/>
        </p:spPr>
      </p:sp>
      <p:sp>
        <p:nvSpPr>
          <p:cNvPr id="154" name="Shape 152"/>
          <p:cNvSpPr/>
          <p:nvPr/>
        </p:nvSpPr>
        <p:spPr>
          <a:xfrm>
            <a:off x="3854196" y="4123944"/>
            <a:ext cx="201168" cy="201168"/>
          </a:xfrm>
          <a:prstGeom prst="roundRect">
            <a:avLst>
              <a:gd name="adj" fmla="val 13636"/>
            </a:avLst>
          </a:prstGeom>
          <a:solidFill>
            <a:srgbClr val="006FCF"/>
          </a:solidFill>
          <a:ln/>
        </p:spPr>
      </p:sp>
      <p:sp>
        <p:nvSpPr>
          <p:cNvPr id="155" name="Shape 153"/>
          <p:cNvSpPr/>
          <p:nvPr/>
        </p:nvSpPr>
        <p:spPr>
          <a:xfrm>
            <a:off x="4096512" y="4123944"/>
            <a:ext cx="201168" cy="201168"/>
          </a:xfrm>
          <a:prstGeom prst="roundRect">
            <a:avLst>
              <a:gd name="adj" fmla="val 13636"/>
            </a:avLst>
          </a:prstGeom>
          <a:solidFill>
            <a:srgbClr val="006FCF"/>
          </a:solidFill>
          <a:ln/>
        </p:spPr>
      </p:sp>
      <p:sp>
        <p:nvSpPr>
          <p:cNvPr id="156" name="Shape 154"/>
          <p:cNvSpPr/>
          <p:nvPr/>
        </p:nvSpPr>
        <p:spPr>
          <a:xfrm>
            <a:off x="4338828" y="4123944"/>
            <a:ext cx="201168" cy="201168"/>
          </a:xfrm>
          <a:prstGeom prst="roundRect">
            <a:avLst>
              <a:gd name="adj" fmla="val 13636"/>
            </a:avLst>
          </a:prstGeom>
          <a:solidFill>
            <a:srgbClr val="006FCF"/>
          </a:solidFill>
          <a:ln/>
        </p:spPr>
      </p:sp>
      <p:sp>
        <p:nvSpPr>
          <p:cNvPr id="157" name="Shape 155"/>
          <p:cNvSpPr/>
          <p:nvPr/>
        </p:nvSpPr>
        <p:spPr>
          <a:xfrm>
            <a:off x="4581144" y="4123944"/>
            <a:ext cx="201168" cy="201168"/>
          </a:xfrm>
          <a:prstGeom prst="roundRect">
            <a:avLst>
              <a:gd name="adj" fmla="val 13636"/>
            </a:avLst>
          </a:prstGeom>
          <a:solidFill>
            <a:srgbClr val="006FCF"/>
          </a:solidFill>
          <a:ln/>
        </p:spPr>
      </p:sp>
      <p:sp>
        <p:nvSpPr>
          <p:cNvPr id="158" name="Shape 156"/>
          <p:cNvSpPr/>
          <p:nvPr/>
        </p:nvSpPr>
        <p:spPr>
          <a:xfrm>
            <a:off x="4823460" y="4123944"/>
            <a:ext cx="201168" cy="201168"/>
          </a:xfrm>
          <a:prstGeom prst="roundRect">
            <a:avLst>
              <a:gd name="adj" fmla="val 13636"/>
            </a:avLst>
          </a:prstGeom>
          <a:solidFill>
            <a:srgbClr val="006FCF"/>
          </a:solidFill>
          <a:ln/>
        </p:spPr>
      </p:sp>
      <p:sp>
        <p:nvSpPr>
          <p:cNvPr id="159" name="Shape 157"/>
          <p:cNvSpPr/>
          <p:nvPr/>
        </p:nvSpPr>
        <p:spPr>
          <a:xfrm>
            <a:off x="5065776" y="4123944"/>
            <a:ext cx="201168" cy="201168"/>
          </a:xfrm>
          <a:prstGeom prst="roundRect">
            <a:avLst>
              <a:gd name="adj" fmla="val 13636"/>
            </a:avLst>
          </a:prstGeom>
          <a:solidFill>
            <a:srgbClr val="006FCF"/>
          </a:solidFill>
          <a:ln/>
        </p:spPr>
      </p:sp>
      <p:sp>
        <p:nvSpPr>
          <p:cNvPr id="160" name="Shape 158"/>
          <p:cNvSpPr/>
          <p:nvPr/>
        </p:nvSpPr>
        <p:spPr>
          <a:xfrm>
            <a:off x="5308092" y="4123944"/>
            <a:ext cx="201168" cy="201168"/>
          </a:xfrm>
          <a:prstGeom prst="roundRect">
            <a:avLst>
              <a:gd name="adj" fmla="val 13636"/>
            </a:avLst>
          </a:prstGeom>
          <a:solidFill>
            <a:srgbClr val="006FCF"/>
          </a:solidFill>
          <a:ln/>
        </p:spPr>
      </p:sp>
      <p:sp>
        <p:nvSpPr>
          <p:cNvPr id="161" name="Shape 159"/>
          <p:cNvSpPr/>
          <p:nvPr/>
        </p:nvSpPr>
        <p:spPr>
          <a:xfrm>
            <a:off x="5550408" y="4123944"/>
            <a:ext cx="201168" cy="201168"/>
          </a:xfrm>
          <a:prstGeom prst="roundRect">
            <a:avLst>
              <a:gd name="adj" fmla="val 13636"/>
            </a:avLst>
          </a:prstGeom>
          <a:solidFill>
            <a:srgbClr val="006FCF"/>
          </a:solidFill>
          <a:ln/>
        </p:spPr>
      </p:sp>
      <p:sp>
        <p:nvSpPr>
          <p:cNvPr id="162" name="Shape 160"/>
          <p:cNvSpPr/>
          <p:nvPr/>
        </p:nvSpPr>
        <p:spPr>
          <a:xfrm>
            <a:off x="5792724" y="4123944"/>
            <a:ext cx="201168" cy="201168"/>
          </a:xfrm>
          <a:prstGeom prst="roundRect">
            <a:avLst>
              <a:gd name="adj" fmla="val 13636"/>
            </a:avLst>
          </a:prstGeom>
          <a:solidFill>
            <a:srgbClr val="006FCF"/>
          </a:solidFill>
          <a:ln/>
        </p:spPr>
      </p:sp>
      <p:sp>
        <p:nvSpPr>
          <p:cNvPr id="163" name="Shape 161"/>
          <p:cNvSpPr/>
          <p:nvPr/>
        </p:nvSpPr>
        <p:spPr>
          <a:xfrm>
            <a:off x="3611880" y="4366260"/>
            <a:ext cx="201168" cy="201168"/>
          </a:xfrm>
          <a:prstGeom prst="roundRect">
            <a:avLst>
              <a:gd name="adj" fmla="val 13636"/>
            </a:avLst>
          </a:prstGeom>
          <a:solidFill>
            <a:srgbClr val="006FCF"/>
          </a:solidFill>
          <a:ln/>
        </p:spPr>
      </p:sp>
      <p:sp>
        <p:nvSpPr>
          <p:cNvPr id="164" name="Shape 162"/>
          <p:cNvSpPr/>
          <p:nvPr/>
        </p:nvSpPr>
        <p:spPr>
          <a:xfrm>
            <a:off x="3854196" y="4366260"/>
            <a:ext cx="201168" cy="201168"/>
          </a:xfrm>
          <a:prstGeom prst="roundRect">
            <a:avLst>
              <a:gd name="adj" fmla="val 13636"/>
            </a:avLst>
          </a:prstGeom>
          <a:solidFill>
            <a:srgbClr val="006FCF"/>
          </a:solidFill>
          <a:ln/>
        </p:spPr>
      </p:sp>
      <p:sp>
        <p:nvSpPr>
          <p:cNvPr id="165" name="Shape 163"/>
          <p:cNvSpPr/>
          <p:nvPr/>
        </p:nvSpPr>
        <p:spPr>
          <a:xfrm>
            <a:off x="4096512" y="4366260"/>
            <a:ext cx="201168" cy="201168"/>
          </a:xfrm>
          <a:prstGeom prst="roundRect">
            <a:avLst>
              <a:gd name="adj" fmla="val 13636"/>
            </a:avLst>
          </a:prstGeom>
          <a:solidFill>
            <a:srgbClr val="006FCF"/>
          </a:solidFill>
          <a:ln/>
        </p:spPr>
      </p:sp>
      <p:sp>
        <p:nvSpPr>
          <p:cNvPr id="166" name="Shape 164"/>
          <p:cNvSpPr/>
          <p:nvPr/>
        </p:nvSpPr>
        <p:spPr>
          <a:xfrm>
            <a:off x="4338828" y="4366260"/>
            <a:ext cx="201168" cy="201168"/>
          </a:xfrm>
          <a:prstGeom prst="roundRect">
            <a:avLst>
              <a:gd name="adj" fmla="val 13636"/>
            </a:avLst>
          </a:prstGeom>
          <a:solidFill>
            <a:srgbClr val="006FCF"/>
          </a:solidFill>
          <a:ln/>
        </p:spPr>
      </p:sp>
      <p:sp>
        <p:nvSpPr>
          <p:cNvPr id="167" name="Shape 165"/>
          <p:cNvSpPr/>
          <p:nvPr/>
        </p:nvSpPr>
        <p:spPr>
          <a:xfrm>
            <a:off x="4581144" y="4366260"/>
            <a:ext cx="201168" cy="201168"/>
          </a:xfrm>
          <a:prstGeom prst="roundRect">
            <a:avLst>
              <a:gd name="adj" fmla="val 13636"/>
            </a:avLst>
          </a:prstGeom>
          <a:solidFill>
            <a:srgbClr val="006FCF"/>
          </a:solidFill>
          <a:ln/>
        </p:spPr>
      </p:sp>
      <p:sp>
        <p:nvSpPr>
          <p:cNvPr id="168" name="Shape 166"/>
          <p:cNvSpPr/>
          <p:nvPr/>
        </p:nvSpPr>
        <p:spPr>
          <a:xfrm>
            <a:off x="4823460" y="4366260"/>
            <a:ext cx="201168" cy="201168"/>
          </a:xfrm>
          <a:prstGeom prst="roundRect">
            <a:avLst>
              <a:gd name="adj" fmla="val 13636"/>
            </a:avLst>
          </a:prstGeom>
          <a:solidFill>
            <a:srgbClr val="006FCF"/>
          </a:solidFill>
          <a:ln/>
        </p:spPr>
      </p:sp>
      <p:sp>
        <p:nvSpPr>
          <p:cNvPr id="169" name="Shape 167"/>
          <p:cNvSpPr/>
          <p:nvPr/>
        </p:nvSpPr>
        <p:spPr>
          <a:xfrm>
            <a:off x="5065776" y="4366260"/>
            <a:ext cx="201168" cy="201168"/>
          </a:xfrm>
          <a:prstGeom prst="roundRect">
            <a:avLst>
              <a:gd name="adj" fmla="val 13636"/>
            </a:avLst>
          </a:prstGeom>
          <a:solidFill>
            <a:srgbClr val="006FCF"/>
          </a:solidFill>
          <a:ln/>
        </p:spPr>
      </p:sp>
      <p:sp>
        <p:nvSpPr>
          <p:cNvPr id="170" name="Shape 168"/>
          <p:cNvSpPr/>
          <p:nvPr/>
        </p:nvSpPr>
        <p:spPr>
          <a:xfrm>
            <a:off x="5308092" y="4366260"/>
            <a:ext cx="201168" cy="201168"/>
          </a:xfrm>
          <a:prstGeom prst="roundRect">
            <a:avLst>
              <a:gd name="adj" fmla="val 13636"/>
            </a:avLst>
          </a:prstGeom>
          <a:solidFill>
            <a:srgbClr val="006FCF"/>
          </a:solidFill>
          <a:ln/>
        </p:spPr>
      </p:sp>
      <p:sp>
        <p:nvSpPr>
          <p:cNvPr id="171" name="Shape 169"/>
          <p:cNvSpPr/>
          <p:nvPr/>
        </p:nvSpPr>
        <p:spPr>
          <a:xfrm>
            <a:off x="5550408" y="4366260"/>
            <a:ext cx="201168" cy="201168"/>
          </a:xfrm>
          <a:prstGeom prst="roundRect">
            <a:avLst>
              <a:gd name="adj" fmla="val 13636"/>
            </a:avLst>
          </a:prstGeom>
          <a:solidFill>
            <a:srgbClr val="006FCF"/>
          </a:solidFill>
          <a:ln/>
        </p:spPr>
      </p:sp>
      <p:sp>
        <p:nvSpPr>
          <p:cNvPr id="172" name="Shape 170"/>
          <p:cNvSpPr/>
          <p:nvPr/>
        </p:nvSpPr>
        <p:spPr>
          <a:xfrm>
            <a:off x="5792724" y="4366260"/>
            <a:ext cx="201168" cy="201168"/>
          </a:xfrm>
          <a:prstGeom prst="roundRect">
            <a:avLst>
              <a:gd name="adj" fmla="val 13636"/>
            </a:avLst>
          </a:prstGeom>
          <a:solidFill>
            <a:srgbClr val="006FCF"/>
          </a:solidFill>
          <a:ln/>
        </p:spPr>
      </p:sp>
      <p:sp>
        <p:nvSpPr>
          <p:cNvPr id="173" name="Shape 171"/>
          <p:cNvSpPr/>
          <p:nvPr/>
        </p:nvSpPr>
        <p:spPr>
          <a:xfrm>
            <a:off x="3611880" y="4608576"/>
            <a:ext cx="201168" cy="201168"/>
          </a:xfrm>
          <a:prstGeom prst="roundRect">
            <a:avLst>
              <a:gd name="adj" fmla="val 13636"/>
            </a:avLst>
          </a:prstGeom>
          <a:solidFill>
            <a:srgbClr val="006FCF"/>
          </a:solidFill>
          <a:ln/>
        </p:spPr>
      </p:sp>
      <p:sp>
        <p:nvSpPr>
          <p:cNvPr id="174" name="Shape 172"/>
          <p:cNvSpPr/>
          <p:nvPr/>
        </p:nvSpPr>
        <p:spPr>
          <a:xfrm>
            <a:off x="3854196" y="4608576"/>
            <a:ext cx="201168" cy="201168"/>
          </a:xfrm>
          <a:prstGeom prst="roundRect">
            <a:avLst>
              <a:gd name="adj" fmla="val 13636"/>
            </a:avLst>
          </a:prstGeom>
          <a:solidFill>
            <a:srgbClr val="006FCF"/>
          </a:solidFill>
          <a:ln/>
        </p:spPr>
      </p:sp>
      <p:sp>
        <p:nvSpPr>
          <p:cNvPr id="175" name="Shape 173"/>
          <p:cNvSpPr/>
          <p:nvPr/>
        </p:nvSpPr>
        <p:spPr>
          <a:xfrm>
            <a:off x="4096512" y="4608576"/>
            <a:ext cx="201168" cy="201168"/>
          </a:xfrm>
          <a:prstGeom prst="roundRect">
            <a:avLst>
              <a:gd name="adj" fmla="val 13636"/>
            </a:avLst>
          </a:prstGeom>
          <a:solidFill>
            <a:srgbClr val="006FCF"/>
          </a:solidFill>
          <a:ln/>
        </p:spPr>
      </p:sp>
      <p:sp>
        <p:nvSpPr>
          <p:cNvPr id="176" name="Shape 174"/>
          <p:cNvSpPr/>
          <p:nvPr/>
        </p:nvSpPr>
        <p:spPr>
          <a:xfrm>
            <a:off x="4338828" y="4608576"/>
            <a:ext cx="201168" cy="201168"/>
          </a:xfrm>
          <a:prstGeom prst="roundRect">
            <a:avLst>
              <a:gd name="adj" fmla="val 13636"/>
            </a:avLst>
          </a:prstGeom>
          <a:solidFill>
            <a:srgbClr val="006FCF"/>
          </a:solidFill>
          <a:ln/>
        </p:spPr>
      </p:sp>
      <p:sp>
        <p:nvSpPr>
          <p:cNvPr id="177" name="Shape 175"/>
          <p:cNvSpPr/>
          <p:nvPr/>
        </p:nvSpPr>
        <p:spPr>
          <a:xfrm>
            <a:off x="4581144" y="4608576"/>
            <a:ext cx="201168" cy="201168"/>
          </a:xfrm>
          <a:prstGeom prst="roundRect">
            <a:avLst>
              <a:gd name="adj" fmla="val 13636"/>
            </a:avLst>
          </a:prstGeom>
          <a:solidFill>
            <a:srgbClr val="006FCF"/>
          </a:solidFill>
          <a:ln/>
        </p:spPr>
      </p:sp>
      <p:sp>
        <p:nvSpPr>
          <p:cNvPr id="178" name="Shape 176"/>
          <p:cNvSpPr/>
          <p:nvPr/>
        </p:nvSpPr>
        <p:spPr>
          <a:xfrm>
            <a:off x="4823460" y="4608576"/>
            <a:ext cx="201168" cy="201168"/>
          </a:xfrm>
          <a:prstGeom prst="roundRect">
            <a:avLst>
              <a:gd name="adj" fmla="val 13636"/>
            </a:avLst>
          </a:prstGeom>
          <a:solidFill>
            <a:srgbClr val="006FCF"/>
          </a:solidFill>
          <a:ln/>
        </p:spPr>
      </p:sp>
      <p:sp>
        <p:nvSpPr>
          <p:cNvPr id="179" name="Shape 177"/>
          <p:cNvSpPr/>
          <p:nvPr/>
        </p:nvSpPr>
        <p:spPr>
          <a:xfrm>
            <a:off x="5065776" y="4608576"/>
            <a:ext cx="201168" cy="201168"/>
          </a:xfrm>
          <a:prstGeom prst="roundRect">
            <a:avLst>
              <a:gd name="adj" fmla="val 13636"/>
            </a:avLst>
          </a:prstGeom>
          <a:solidFill>
            <a:srgbClr val="006FCF"/>
          </a:solidFill>
          <a:ln/>
        </p:spPr>
      </p:sp>
      <p:sp>
        <p:nvSpPr>
          <p:cNvPr id="180" name="Shape 178"/>
          <p:cNvSpPr/>
          <p:nvPr/>
        </p:nvSpPr>
        <p:spPr>
          <a:xfrm>
            <a:off x="5308092" y="4608576"/>
            <a:ext cx="201168" cy="201168"/>
          </a:xfrm>
          <a:prstGeom prst="roundRect">
            <a:avLst>
              <a:gd name="adj" fmla="val 13636"/>
            </a:avLst>
          </a:prstGeom>
          <a:solidFill>
            <a:srgbClr val="006FCF"/>
          </a:solidFill>
          <a:ln/>
        </p:spPr>
      </p:sp>
      <p:sp>
        <p:nvSpPr>
          <p:cNvPr id="181" name="Shape 179"/>
          <p:cNvSpPr/>
          <p:nvPr/>
        </p:nvSpPr>
        <p:spPr>
          <a:xfrm>
            <a:off x="5550408" y="4608576"/>
            <a:ext cx="201168" cy="201168"/>
          </a:xfrm>
          <a:prstGeom prst="roundRect">
            <a:avLst>
              <a:gd name="adj" fmla="val 13636"/>
            </a:avLst>
          </a:prstGeom>
          <a:solidFill>
            <a:srgbClr val="006FCF"/>
          </a:solidFill>
          <a:ln/>
        </p:spPr>
      </p:sp>
      <p:sp>
        <p:nvSpPr>
          <p:cNvPr id="182" name="Shape 180"/>
          <p:cNvSpPr/>
          <p:nvPr/>
        </p:nvSpPr>
        <p:spPr>
          <a:xfrm>
            <a:off x="5792724" y="4608576"/>
            <a:ext cx="201168" cy="201168"/>
          </a:xfrm>
          <a:prstGeom prst="roundRect">
            <a:avLst>
              <a:gd name="adj" fmla="val 13636"/>
            </a:avLst>
          </a:prstGeom>
          <a:solidFill>
            <a:srgbClr val="006FCF"/>
          </a:solidFill>
          <a:ln/>
        </p:spPr>
      </p:sp>
      <p:sp>
        <p:nvSpPr>
          <p:cNvPr id="183" name="Shape 181"/>
          <p:cNvSpPr/>
          <p:nvPr/>
        </p:nvSpPr>
        <p:spPr>
          <a:xfrm>
            <a:off x="3611880" y="4850892"/>
            <a:ext cx="201168" cy="201168"/>
          </a:xfrm>
          <a:prstGeom prst="roundRect">
            <a:avLst>
              <a:gd name="adj" fmla="val 13636"/>
            </a:avLst>
          </a:prstGeom>
          <a:solidFill>
            <a:srgbClr val="006FCF"/>
          </a:solidFill>
          <a:ln/>
        </p:spPr>
      </p:sp>
      <p:sp>
        <p:nvSpPr>
          <p:cNvPr id="184" name="Shape 182"/>
          <p:cNvSpPr/>
          <p:nvPr/>
        </p:nvSpPr>
        <p:spPr>
          <a:xfrm>
            <a:off x="3854196" y="4850892"/>
            <a:ext cx="201168" cy="201168"/>
          </a:xfrm>
          <a:prstGeom prst="roundRect">
            <a:avLst>
              <a:gd name="adj" fmla="val 13636"/>
            </a:avLst>
          </a:prstGeom>
          <a:solidFill>
            <a:srgbClr val="006FCF"/>
          </a:solidFill>
          <a:ln/>
        </p:spPr>
      </p:sp>
      <p:sp>
        <p:nvSpPr>
          <p:cNvPr id="185" name="Shape 183"/>
          <p:cNvSpPr/>
          <p:nvPr/>
        </p:nvSpPr>
        <p:spPr>
          <a:xfrm>
            <a:off x="4096512" y="4850892"/>
            <a:ext cx="201168" cy="201168"/>
          </a:xfrm>
          <a:prstGeom prst="roundRect">
            <a:avLst>
              <a:gd name="adj" fmla="val 13636"/>
            </a:avLst>
          </a:prstGeom>
          <a:solidFill>
            <a:srgbClr val="006FCF"/>
          </a:solidFill>
          <a:ln/>
        </p:spPr>
      </p:sp>
      <p:sp>
        <p:nvSpPr>
          <p:cNvPr id="186" name="Shape 184"/>
          <p:cNvSpPr/>
          <p:nvPr/>
        </p:nvSpPr>
        <p:spPr>
          <a:xfrm>
            <a:off x="4338828" y="4850892"/>
            <a:ext cx="201168" cy="201168"/>
          </a:xfrm>
          <a:prstGeom prst="roundRect">
            <a:avLst>
              <a:gd name="adj" fmla="val 13636"/>
            </a:avLst>
          </a:prstGeom>
          <a:solidFill>
            <a:srgbClr val="006FCF"/>
          </a:solidFill>
          <a:ln/>
        </p:spPr>
      </p:sp>
      <p:sp>
        <p:nvSpPr>
          <p:cNvPr id="187" name="Shape 185"/>
          <p:cNvSpPr/>
          <p:nvPr/>
        </p:nvSpPr>
        <p:spPr>
          <a:xfrm>
            <a:off x="4581144" y="4850892"/>
            <a:ext cx="201168" cy="201168"/>
          </a:xfrm>
          <a:prstGeom prst="roundRect">
            <a:avLst>
              <a:gd name="adj" fmla="val 13636"/>
            </a:avLst>
          </a:prstGeom>
          <a:solidFill>
            <a:srgbClr val="006FCF"/>
          </a:solidFill>
          <a:ln/>
        </p:spPr>
      </p:sp>
      <p:sp>
        <p:nvSpPr>
          <p:cNvPr id="188" name="Shape 186"/>
          <p:cNvSpPr/>
          <p:nvPr/>
        </p:nvSpPr>
        <p:spPr>
          <a:xfrm>
            <a:off x="4823460" y="4850892"/>
            <a:ext cx="201168" cy="201168"/>
          </a:xfrm>
          <a:prstGeom prst="roundRect">
            <a:avLst>
              <a:gd name="adj" fmla="val 13636"/>
            </a:avLst>
          </a:prstGeom>
          <a:solidFill>
            <a:srgbClr val="006FCF"/>
          </a:solidFill>
          <a:ln/>
        </p:spPr>
      </p:sp>
      <p:sp>
        <p:nvSpPr>
          <p:cNvPr id="189" name="Shape 187"/>
          <p:cNvSpPr/>
          <p:nvPr/>
        </p:nvSpPr>
        <p:spPr>
          <a:xfrm>
            <a:off x="5065776" y="4850892"/>
            <a:ext cx="201168" cy="201168"/>
          </a:xfrm>
          <a:prstGeom prst="roundRect">
            <a:avLst>
              <a:gd name="adj" fmla="val 13636"/>
            </a:avLst>
          </a:prstGeom>
          <a:solidFill>
            <a:srgbClr val="006FCF"/>
          </a:solidFill>
          <a:ln/>
        </p:spPr>
      </p:sp>
      <p:sp>
        <p:nvSpPr>
          <p:cNvPr id="190" name="Shape 188"/>
          <p:cNvSpPr/>
          <p:nvPr/>
        </p:nvSpPr>
        <p:spPr>
          <a:xfrm>
            <a:off x="5308092" y="4850892"/>
            <a:ext cx="201168" cy="201168"/>
          </a:xfrm>
          <a:prstGeom prst="roundRect">
            <a:avLst>
              <a:gd name="adj" fmla="val 13636"/>
            </a:avLst>
          </a:prstGeom>
          <a:solidFill>
            <a:srgbClr val="006FCF"/>
          </a:solidFill>
          <a:ln/>
        </p:spPr>
      </p:sp>
      <p:sp>
        <p:nvSpPr>
          <p:cNvPr id="191" name="Shape 189"/>
          <p:cNvSpPr/>
          <p:nvPr/>
        </p:nvSpPr>
        <p:spPr>
          <a:xfrm>
            <a:off x="5550408" y="4850892"/>
            <a:ext cx="201168" cy="201168"/>
          </a:xfrm>
          <a:prstGeom prst="roundRect">
            <a:avLst>
              <a:gd name="adj" fmla="val 13636"/>
            </a:avLst>
          </a:prstGeom>
          <a:solidFill>
            <a:srgbClr val="006FCF"/>
          </a:solidFill>
          <a:ln/>
        </p:spPr>
      </p:sp>
      <p:sp>
        <p:nvSpPr>
          <p:cNvPr id="192" name="Shape 190"/>
          <p:cNvSpPr/>
          <p:nvPr/>
        </p:nvSpPr>
        <p:spPr>
          <a:xfrm>
            <a:off x="5792724" y="4850892"/>
            <a:ext cx="201168" cy="201168"/>
          </a:xfrm>
          <a:prstGeom prst="roundRect">
            <a:avLst>
              <a:gd name="adj" fmla="val 13636"/>
            </a:avLst>
          </a:prstGeom>
          <a:solidFill>
            <a:srgbClr val="006FCF"/>
          </a:solidFill>
          <a:ln/>
        </p:spPr>
      </p:sp>
      <p:sp>
        <p:nvSpPr>
          <p:cNvPr id="193" name="Shape 191"/>
          <p:cNvSpPr/>
          <p:nvPr/>
        </p:nvSpPr>
        <p:spPr>
          <a:xfrm>
            <a:off x="3611880" y="5093208"/>
            <a:ext cx="201168" cy="201168"/>
          </a:xfrm>
          <a:prstGeom prst="roundRect">
            <a:avLst>
              <a:gd name="adj" fmla="val 13636"/>
            </a:avLst>
          </a:prstGeom>
          <a:solidFill>
            <a:srgbClr val="006FCF"/>
          </a:solidFill>
          <a:ln/>
        </p:spPr>
      </p:sp>
      <p:sp>
        <p:nvSpPr>
          <p:cNvPr id="194" name="Shape 192"/>
          <p:cNvSpPr/>
          <p:nvPr/>
        </p:nvSpPr>
        <p:spPr>
          <a:xfrm>
            <a:off x="3854196" y="5093208"/>
            <a:ext cx="201168" cy="201168"/>
          </a:xfrm>
          <a:prstGeom prst="roundRect">
            <a:avLst>
              <a:gd name="adj" fmla="val 13636"/>
            </a:avLst>
          </a:prstGeom>
          <a:solidFill>
            <a:srgbClr val="006FCF"/>
          </a:solidFill>
          <a:ln/>
        </p:spPr>
      </p:sp>
      <p:sp>
        <p:nvSpPr>
          <p:cNvPr id="195" name="Shape 193"/>
          <p:cNvSpPr/>
          <p:nvPr/>
        </p:nvSpPr>
        <p:spPr>
          <a:xfrm>
            <a:off x="4096512" y="5093208"/>
            <a:ext cx="201168" cy="201168"/>
          </a:xfrm>
          <a:prstGeom prst="roundRect">
            <a:avLst>
              <a:gd name="adj" fmla="val 13636"/>
            </a:avLst>
          </a:prstGeom>
          <a:solidFill>
            <a:srgbClr val="006FCF"/>
          </a:solidFill>
          <a:ln/>
        </p:spPr>
      </p:sp>
      <p:sp>
        <p:nvSpPr>
          <p:cNvPr id="196" name="Shape 194"/>
          <p:cNvSpPr/>
          <p:nvPr/>
        </p:nvSpPr>
        <p:spPr>
          <a:xfrm>
            <a:off x="4338828" y="5093208"/>
            <a:ext cx="201168" cy="201168"/>
          </a:xfrm>
          <a:prstGeom prst="roundRect">
            <a:avLst>
              <a:gd name="adj" fmla="val 13636"/>
            </a:avLst>
          </a:prstGeom>
          <a:solidFill>
            <a:srgbClr val="006FCF"/>
          </a:solidFill>
          <a:ln/>
        </p:spPr>
      </p:sp>
      <p:sp>
        <p:nvSpPr>
          <p:cNvPr id="197" name="Shape 195"/>
          <p:cNvSpPr/>
          <p:nvPr/>
        </p:nvSpPr>
        <p:spPr>
          <a:xfrm>
            <a:off x="4581144" y="5093208"/>
            <a:ext cx="201168" cy="201168"/>
          </a:xfrm>
          <a:prstGeom prst="roundRect">
            <a:avLst>
              <a:gd name="adj" fmla="val 13636"/>
            </a:avLst>
          </a:prstGeom>
          <a:solidFill>
            <a:srgbClr val="006FCF"/>
          </a:solidFill>
          <a:ln/>
        </p:spPr>
      </p:sp>
      <p:sp>
        <p:nvSpPr>
          <p:cNvPr id="198" name="Shape 196"/>
          <p:cNvSpPr/>
          <p:nvPr/>
        </p:nvSpPr>
        <p:spPr>
          <a:xfrm>
            <a:off x="4823460" y="5093208"/>
            <a:ext cx="201168" cy="201168"/>
          </a:xfrm>
          <a:prstGeom prst="roundRect">
            <a:avLst>
              <a:gd name="adj" fmla="val 13636"/>
            </a:avLst>
          </a:prstGeom>
          <a:solidFill>
            <a:srgbClr val="006FCF"/>
          </a:solidFill>
          <a:ln/>
        </p:spPr>
      </p:sp>
      <p:sp>
        <p:nvSpPr>
          <p:cNvPr id="199" name="Shape 197"/>
          <p:cNvSpPr/>
          <p:nvPr/>
        </p:nvSpPr>
        <p:spPr>
          <a:xfrm>
            <a:off x="5065776" y="5093208"/>
            <a:ext cx="201168" cy="201168"/>
          </a:xfrm>
          <a:prstGeom prst="roundRect">
            <a:avLst>
              <a:gd name="adj" fmla="val 13636"/>
            </a:avLst>
          </a:prstGeom>
          <a:solidFill>
            <a:srgbClr val="006FCF"/>
          </a:solidFill>
          <a:ln/>
        </p:spPr>
      </p:sp>
      <p:sp>
        <p:nvSpPr>
          <p:cNvPr id="200" name="Shape 198"/>
          <p:cNvSpPr/>
          <p:nvPr/>
        </p:nvSpPr>
        <p:spPr>
          <a:xfrm>
            <a:off x="5308092" y="5093208"/>
            <a:ext cx="201168" cy="201168"/>
          </a:xfrm>
          <a:prstGeom prst="roundRect">
            <a:avLst>
              <a:gd name="adj" fmla="val 13636"/>
            </a:avLst>
          </a:prstGeom>
          <a:solidFill>
            <a:srgbClr val="006FCF"/>
          </a:solidFill>
          <a:ln/>
        </p:spPr>
      </p:sp>
      <p:sp>
        <p:nvSpPr>
          <p:cNvPr id="201" name="Shape 199"/>
          <p:cNvSpPr/>
          <p:nvPr/>
        </p:nvSpPr>
        <p:spPr>
          <a:xfrm>
            <a:off x="5550408" y="5093208"/>
            <a:ext cx="201168" cy="201168"/>
          </a:xfrm>
          <a:prstGeom prst="roundRect">
            <a:avLst>
              <a:gd name="adj" fmla="val 13636"/>
            </a:avLst>
          </a:prstGeom>
          <a:solidFill>
            <a:srgbClr val="006FCF"/>
          </a:solidFill>
          <a:ln/>
        </p:spPr>
      </p:sp>
      <p:sp>
        <p:nvSpPr>
          <p:cNvPr id="202" name="Shape 200"/>
          <p:cNvSpPr/>
          <p:nvPr/>
        </p:nvSpPr>
        <p:spPr>
          <a:xfrm>
            <a:off x="5792724" y="5093208"/>
            <a:ext cx="201168" cy="201168"/>
          </a:xfrm>
          <a:prstGeom prst="roundRect">
            <a:avLst>
              <a:gd name="adj" fmla="val 13636"/>
            </a:avLst>
          </a:prstGeom>
          <a:solidFill>
            <a:srgbClr val="006FCF"/>
          </a:solidFill>
          <a:ln/>
        </p:spPr>
      </p:sp>
      <p:sp>
        <p:nvSpPr>
          <p:cNvPr id="203" name="Shape 201"/>
          <p:cNvSpPr/>
          <p:nvPr/>
        </p:nvSpPr>
        <p:spPr>
          <a:xfrm>
            <a:off x="3611880" y="5335524"/>
            <a:ext cx="201168" cy="201168"/>
          </a:xfrm>
          <a:prstGeom prst="roundRect">
            <a:avLst>
              <a:gd name="adj" fmla="val 13636"/>
            </a:avLst>
          </a:prstGeom>
          <a:solidFill>
            <a:srgbClr val="006FCF"/>
          </a:solidFill>
          <a:ln/>
        </p:spPr>
      </p:sp>
      <p:sp>
        <p:nvSpPr>
          <p:cNvPr id="204" name="Shape 202"/>
          <p:cNvSpPr/>
          <p:nvPr/>
        </p:nvSpPr>
        <p:spPr>
          <a:xfrm>
            <a:off x="3854196" y="5335524"/>
            <a:ext cx="201168" cy="201168"/>
          </a:xfrm>
          <a:prstGeom prst="roundRect">
            <a:avLst>
              <a:gd name="adj" fmla="val 13636"/>
            </a:avLst>
          </a:prstGeom>
          <a:solidFill>
            <a:srgbClr val="006FCF"/>
          </a:solidFill>
          <a:ln/>
        </p:spPr>
      </p:sp>
      <p:sp>
        <p:nvSpPr>
          <p:cNvPr id="205" name="Shape 203"/>
          <p:cNvSpPr/>
          <p:nvPr/>
        </p:nvSpPr>
        <p:spPr>
          <a:xfrm>
            <a:off x="4096512" y="5335524"/>
            <a:ext cx="201168" cy="201168"/>
          </a:xfrm>
          <a:prstGeom prst="roundRect">
            <a:avLst>
              <a:gd name="adj" fmla="val 13636"/>
            </a:avLst>
          </a:prstGeom>
          <a:solidFill>
            <a:srgbClr val="006FCF"/>
          </a:solidFill>
          <a:ln/>
        </p:spPr>
      </p:sp>
      <p:sp>
        <p:nvSpPr>
          <p:cNvPr id="206" name="Shape 204"/>
          <p:cNvSpPr/>
          <p:nvPr/>
        </p:nvSpPr>
        <p:spPr>
          <a:xfrm>
            <a:off x="4338828" y="5335524"/>
            <a:ext cx="201168" cy="201168"/>
          </a:xfrm>
          <a:prstGeom prst="roundRect">
            <a:avLst>
              <a:gd name="adj" fmla="val 13636"/>
            </a:avLst>
          </a:prstGeom>
          <a:solidFill>
            <a:srgbClr val="006FCF"/>
          </a:solidFill>
          <a:ln/>
        </p:spPr>
      </p:sp>
      <p:sp>
        <p:nvSpPr>
          <p:cNvPr id="207" name="Shape 205"/>
          <p:cNvSpPr/>
          <p:nvPr/>
        </p:nvSpPr>
        <p:spPr>
          <a:xfrm>
            <a:off x="4581144" y="5335524"/>
            <a:ext cx="201168" cy="201168"/>
          </a:xfrm>
          <a:prstGeom prst="roundRect">
            <a:avLst>
              <a:gd name="adj" fmla="val 13636"/>
            </a:avLst>
          </a:prstGeom>
          <a:solidFill>
            <a:srgbClr val="006FCF"/>
          </a:solidFill>
          <a:ln/>
        </p:spPr>
      </p:sp>
      <p:sp>
        <p:nvSpPr>
          <p:cNvPr id="208" name="Shape 206"/>
          <p:cNvSpPr/>
          <p:nvPr/>
        </p:nvSpPr>
        <p:spPr>
          <a:xfrm>
            <a:off x="4823460" y="5335524"/>
            <a:ext cx="201168" cy="201168"/>
          </a:xfrm>
          <a:prstGeom prst="roundRect">
            <a:avLst>
              <a:gd name="adj" fmla="val 13636"/>
            </a:avLst>
          </a:prstGeom>
          <a:solidFill>
            <a:srgbClr val="006FCF"/>
          </a:solidFill>
          <a:ln/>
        </p:spPr>
      </p:sp>
      <p:sp>
        <p:nvSpPr>
          <p:cNvPr id="209" name="Shape 207"/>
          <p:cNvSpPr/>
          <p:nvPr/>
        </p:nvSpPr>
        <p:spPr>
          <a:xfrm>
            <a:off x="5065776" y="5335524"/>
            <a:ext cx="201168" cy="201168"/>
          </a:xfrm>
          <a:prstGeom prst="roundRect">
            <a:avLst>
              <a:gd name="adj" fmla="val 13636"/>
            </a:avLst>
          </a:prstGeom>
          <a:solidFill>
            <a:srgbClr val="006FCF"/>
          </a:solidFill>
          <a:ln/>
        </p:spPr>
      </p:sp>
      <p:sp>
        <p:nvSpPr>
          <p:cNvPr id="210" name="Shape 208"/>
          <p:cNvSpPr/>
          <p:nvPr/>
        </p:nvSpPr>
        <p:spPr>
          <a:xfrm>
            <a:off x="5308092" y="5335524"/>
            <a:ext cx="201168" cy="201168"/>
          </a:xfrm>
          <a:prstGeom prst="roundRect">
            <a:avLst>
              <a:gd name="adj" fmla="val 13636"/>
            </a:avLst>
          </a:prstGeom>
          <a:solidFill>
            <a:srgbClr val="C9D2DC"/>
          </a:solidFill>
          <a:ln/>
        </p:spPr>
      </p:sp>
      <p:sp>
        <p:nvSpPr>
          <p:cNvPr id="211" name="Shape 209"/>
          <p:cNvSpPr/>
          <p:nvPr/>
        </p:nvSpPr>
        <p:spPr>
          <a:xfrm>
            <a:off x="5550408" y="5335524"/>
            <a:ext cx="201168" cy="201168"/>
          </a:xfrm>
          <a:prstGeom prst="roundRect">
            <a:avLst>
              <a:gd name="adj" fmla="val 13636"/>
            </a:avLst>
          </a:prstGeom>
          <a:solidFill>
            <a:srgbClr val="C9D2DC"/>
          </a:solidFill>
          <a:ln/>
        </p:spPr>
      </p:sp>
      <p:sp>
        <p:nvSpPr>
          <p:cNvPr id="212" name="Shape 210"/>
          <p:cNvSpPr/>
          <p:nvPr/>
        </p:nvSpPr>
        <p:spPr>
          <a:xfrm>
            <a:off x="5792724" y="5335524"/>
            <a:ext cx="201168" cy="201168"/>
          </a:xfrm>
          <a:prstGeom prst="roundRect">
            <a:avLst>
              <a:gd name="adj" fmla="val 13636"/>
            </a:avLst>
          </a:prstGeom>
          <a:solidFill>
            <a:srgbClr val="C9D2DC"/>
          </a:solidFill>
          <a:ln/>
        </p:spPr>
      </p:sp>
      <p:sp>
        <p:nvSpPr>
          <p:cNvPr id="213" name="Text 211"/>
          <p:cNvSpPr txBox="1"/>
          <p:nvPr/>
        </p:nvSpPr>
        <p:spPr>
          <a:xfrm>
            <a:off x="3611880" y="5596128"/>
            <a:ext cx="2377440" cy="274320"/>
          </a:xfrm>
          <a:prstGeom prst="rect">
            <a:avLst/>
          </a:prstGeom>
          <a:noFill/>
          <a:ln/>
        </p:spPr>
        <p:txBody>
          <a:bodyPr wrap="square" lIns="0" tIns="0" rIns="0" bIns="0" rtlCol="0" anchor="ctr"/>
          <a:lstStyle/>
          <a:p>
            <a:pPr indent="0" marL="0">
              <a:buNone/>
            </a:pPr>
            <a:r>
              <a:rPr lang="en-US" sz="1000" i="1" dirty="0">
                <a:solidFill>
                  <a:srgbClr val="8C959E"/>
                </a:solidFill>
                <a:latin typeface="Calibri" pitchFamily="34" charset="0"/>
                <a:ea typeface="Calibri" pitchFamily="34" charset="-122"/>
                <a:cs typeface="Calibri" pitchFamily="34" charset="-120"/>
              </a:rPr>
              <a:t>NIST corpus, C, C++ and Java</a:t>
            </a:r>
            <a:endParaRPr lang="en-US" sz="1000" dirty="0"/>
          </a:p>
        </p:txBody>
      </p:sp>
      <p:sp>
        <p:nvSpPr>
          <p:cNvPr id="214" name="Shape 212"/>
          <p:cNvSpPr/>
          <p:nvPr/>
        </p:nvSpPr>
        <p:spPr>
          <a:xfrm>
            <a:off x="685800" y="5971032"/>
            <a:ext cx="173736" cy="173736"/>
          </a:xfrm>
          <a:prstGeom prst="roundRect">
            <a:avLst>
              <a:gd name="adj" fmla="val 15789"/>
            </a:avLst>
          </a:prstGeom>
          <a:solidFill>
            <a:srgbClr val="006FCF"/>
          </a:solidFill>
          <a:ln/>
        </p:spPr>
      </p:sp>
      <p:sp>
        <p:nvSpPr>
          <p:cNvPr id="215" name="Text 213"/>
          <p:cNvSpPr txBox="1"/>
          <p:nvPr/>
        </p:nvSpPr>
        <p:spPr>
          <a:xfrm>
            <a:off x="941832" y="5916168"/>
            <a:ext cx="1005840" cy="274320"/>
          </a:xfrm>
          <a:prstGeom prst="rect">
            <a:avLst/>
          </a:prstGeom>
          <a:noFill/>
          <a:ln/>
        </p:spPr>
        <p:txBody>
          <a:bodyPr wrap="square" lIns="0" tIns="0" rIns="0" bIns="0" rtlCol="0" anchor="ctr"/>
          <a:lstStyle/>
          <a:p>
            <a:pPr indent="0" marL="0">
              <a:buNone/>
            </a:pPr>
            <a:r>
              <a:rPr lang="en-US" sz="1050" dirty="0">
                <a:solidFill>
                  <a:srgbClr val="53565A"/>
                </a:solidFill>
                <a:latin typeface="Calibri" pitchFamily="34" charset="0"/>
                <a:ea typeface="Calibri" pitchFamily="34" charset="-122"/>
                <a:cs typeface="Calibri" pitchFamily="34" charset="-120"/>
              </a:rPr>
              <a:t>Detected</a:t>
            </a:r>
            <a:endParaRPr lang="en-US" sz="1050" dirty="0"/>
          </a:p>
        </p:txBody>
      </p:sp>
      <p:sp>
        <p:nvSpPr>
          <p:cNvPr id="216" name="Shape 214"/>
          <p:cNvSpPr/>
          <p:nvPr/>
        </p:nvSpPr>
        <p:spPr>
          <a:xfrm>
            <a:off x="1920240" y="5971032"/>
            <a:ext cx="173736" cy="173736"/>
          </a:xfrm>
          <a:prstGeom prst="roundRect">
            <a:avLst>
              <a:gd name="adj" fmla="val 15789"/>
            </a:avLst>
          </a:prstGeom>
          <a:solidFill>
            <a:srgbClr val="C9D2DC"/>
          </a:solidFill>
          <a:ln/>
        </p:spPr>
      </p:sp>
      <p:sp>
        <p:nvSpPr>
          <p:cNvPr id="217" name="Text 215"/>
          <p:cNvSpPr txBox="1"/>
          <p:nvPr/>
        </p:nvSpPr>
        <p:spPr>
          <a:xfrm>
            <a:off x="2176272" y="5916168"/>
            <a:ext cx="1005840" cy="274320"/>
          </a:xfrm>
          <a:prstGeom prst="rect">
            <a:avLst/>
          </a:prstGeom>
          <a:noFill/>
          <a:ln/>
        </p:spPr>
        <p:txBody>
          <a:bodyPr wrap="square" lIns="0" tIns="0" rIns="0" bIns="0" rtlCol="0" anchor="ctr"/>
          <a:lstStyle/>
          <a:p>
            <a:pPr indent="0" marL="0">
              <a:buNone/>
            </a:pPr>
            <a:r>
              <a:rPr lang="en-US" sz="1050" dirty="0">
                <a:solidFill>
                  <a:srgbClr val="53565A"/>
                </a:solidFill>
                <a:latin typeface="Calibri" pitchFamily="34" charset="0"/>
                <a:ea typeface="Calibri" pitchFamily="34" charset="-122"/>
                <a:cs typeface="Calibri" pitchFamily="34" charset="-120"/>
              </a:rPr>
              <a:t>Missed</a:t>
            </a:r>
            <a:endParaRPr lang="en-US" sz="1050" dirty="0"/>
          </a:p>
        </p:txBody>
      </p:sp>
      <p:sp>
        <p:nvSpPr>
          <p:cNvPr id="218" name="Text 216"/>
          <p:cNvSpPr txBox="1"/>
          <p:nvPr/>
        </p:nvSpPr>
        <p:spPr>
          <a:xfrm>
            <a:off x="3611880" y="5916168"/>
            <a:ext cx="2468880" cy="274320"/>
          </a:xfrm>
          <a:prstGeom prst="rect">
            <a:avLst/>
          </a:prstGeom>
          <a:noFill/>
          <a:ln/>
        </p:spPr>
        <p:txBody>
          <a:bodyPr wrap="square" lIns="0" tIns="0" rIns="0" bIns="0" rtlCol="0" anchor="ctr"/>
          <a:lstStyle/>
          <a:p>
            <a:pPr indent="0" marL="0">
              <a:buNone/>
            </a:pPr>
            <a:r>
              <a:rPr lang="en-US" sz="1050" i="1" dirty="0">
                <a:solidFill>
                  <a:srgbClr val="8C959E"/>
                </a:solidFill>
                <a:latin typeface="Calibri" pitchFamily="34" charset="0"/>
                <a:ea typeface="Calibri" pitchFamily="34" charset="-122"/>
                <a:cs typeface="Calibri" pitchFamily="34" charset="-120"/>
              </a:rPr>
              <a:t>Each square is one case in a hundred.</a:t>
            </a:r>
            <a:endParaRPr lang="en-US" sz="1050" dirty="0"/>
          </a:p>
        </p:txBody>
      </p:sp>
      <p:sp>
        <p:nvSpPr>
          <p:cNvPr id="219" name="Shape 217"/>
          <p:cNvSpPr/>
          <p:nvPr/>
        </p:nvSpPr>
        <p:spPr>
          <a:xfrm>
            <a:off x="6675120" y="1783080"/>
            <a:ext cx="4965192" cy="1298448"/>
          </a:xfrm>
          <a:prstGeom prst="roundRect">
            <a:avLst>
              <a:gd name="adj" fmla="val 5634"/>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220" name="Text 218"/>
          <p:cNvSpPr txBox="1"/>
          <p:nvPr/>
        </p:nvSpPr>
        <p:spPr>
          <a:xfrm>
            <a:off x="6949440" y="1965960"/>
            <a:ext cx="4480560" cy="292608"/>
          </a:xfrm>
          <a:prstGeom prst="rect">
            <a:avLst/>
          </a:prstGeom>
          <a:noFill/>
          <a:ln/>
        </p:spPr>
        <p:txBody>
          <a:bodyPr wrap="square" lIns="0" tIns="0" rIns="0" bIns="0" rtlCol="0" anchor="ctr"/>
          <a:lstStyle/>
          <a:p>
            <a:pPr indent="0" marL="0">
              <a:buNone/>
            </a:pPr>
            <a:r>
              <a:rPr lang="en-US" sz="1450" b="1" dirty="0">
                <a:solidFill>
                  <a:srgbClr val="1B2A44"/>
                </a:solidFill>
                <a:latin typeface="Cambria" pitchFamily="34" charset="0"/>
                <a:ea typeface="Cambria" pitchFamily="34" charset="-122"/>
                <a:cs typeface="Cambria" pitchFamily="34" charset="-120"/>
              </a:rPr>
              <a:t>Two suites, two different shapes of test</a:t>
            </a:r>
            <a:endParaRPr lang="en-US" sz="1450" dirty="0"/>
          </a:p>
        </p:txBody>
      </p:sp>
      <p:sp>
        <p:nvSpPr>
          <p:cNvPr id="221" name="Text 219"/>
          <p:cNvSpPr txBox="1"/>
          <p:nvPr/>
        </p:nvSpPr>
        <p:spPr>
          <a:xfrm>
            <a:off x="6949440" y="2295144"/>
            <a:ext cx="4434840" cy="713232"/>
          </a:xfrm>
          <a:prstGeom prst="rect">
            <a:avLst/>
          </a:prstGeom>
          <a:noFill/>
          <a:ln/>
        </p:spPr>
        <p:txBody>
          <a:bodyPr wrap="square" lIns="0" tIns="0" rIns="0" bIns="0" rtlCol="0" anchor="ctr"/>
          <a:lstStyle/>
          <a:p>
            <a:pPr indent="0" marL="0">
              <a:lnSpc>
                <a:spcPct val="115000"/>
              </a:lnSpc>
              <a:buNone/>
            </a:pPr>
            <a:r>
              <a:rPr lang="en-US" sz="1100" dirty="0">
                <a:solidFill>
                  <a:srgbClr val="53565A"/>
                </a:solidFill>
                <a:latin typeface="Calibri" pitchFamily="34" charset="0"/>
                <a:ea typeface="Calibri" pitchFamily="34" charset="-122"/>
                <a:cs typeface="Calibri" pitchFamily="34" charset="-120"/>
              </a:rPr>
              <a:t>OWASP Benchmark exercises Java web application classes such as injection and access control. Juliet is the NIST maintained corpus spanning a wide range of defect classes across C, C++ and Java.</a:t>
            </a:r>
            <a:endParaRPr lang="en-US" sz="1100" dirty="0"/>
          </a:p>
        </p:txBody>
      </p:sp>
      <p:sp>
        <p:nvSpPr>
          <p:cNvPr id="222" name="Shape 220"/>
          <p:cNvSpPr/>
          <p:nvPr/>
        </p:nvSpPr>
        <p:spPr>
          <a:xfrm>
            <a:off x="6675120" y="3227832"/>
            <a:ext cx="4965192" cy="1298448"/>
          </a:xfrm>
          <a:prstGeom prst="roundRect">
            <a:avLst>
              <a:gd name="adj" fmla="val 5634"/>
            </a:avLst>
          </a:prstGeom>
          <a:solidFill>
            <a:srgbClr val="FFFFFF"/>
          </a:solidFill>
          <a:ln w="12700">
            <a:solidFill>
              <a:srgbClr val="DCE3EC"/>
            </a:solidFill>
            <a:prstDash val="solid"/>
          </a:ln>
          <a:effectLst>
            <a:outerShdw sx="100000" sy="100000" kx="0" ky="0" algn="bl" rotWithShape="0" blurRad="152400" dist="25400" dir="5400000">
              <a:srgbClr val="8FA0B8">
                <a:alpha val="20000"/>
              </a:srgbClr>
            </a:outerShdw>
          </a:effectLst>
        </p:spPr>
      </p:sp>
      <p:sp>
        <p:nvSpPr>
          <p:cNvPr id="223" name="Text 221"/>
          <p:cNvSpPr txBox="1"/>
          <p:nvPr/>
        </p:nvSpPr>
        <p:spPr>
          <a:xfrm>
            <a:off x="6949440" y="3410712"/>
            <a:ext cx="4480560" cy="292608"/>
          </a:xfrm>
          <a:prstGeom prst="rect">
            <a:avLst/>
          </a:prstGeom>
          <a:noFill/>
          <a:ln/>
        </p:spPr>
        <p:txBody>
          <a:bodyPr wrap="square" lIns="0" tIns="0" rIns="0" bIns="0" rtlCol="0" anchor="ctr"/>
          <a:lstStyle/>
          <a:p>
            <a:pPr indent="0" marL="0">
              <a:buNone/>
            </a:pPr>
            <a:r>
              <a:rPr lang="en-US" sz="1450" b="1" dirty="0">
                <a:solidFill>
                  <a:srgbClr val="1B2A44"/>
                </a:solidFill>
                <a:latin typeface="Cambria" pitchFamily="34" charset="0"/>
                <a:ea typeface="Cambria" pitchFamily="34" charset="-122"/>
                <a:cs typeface="Cambria" pitchFamily="34" charset="-120"/>
              </a:rPr>
              <a:t>Misses and false alarms, measured together</a:t>
            </a:r>
            <a:endParaRPr lang="en-US" sz="1450" dirty="0"/>
          </a:p>
        </p:txBody>
      </p:sp>
      <p:sp>
        <p:nvSpPr>
          <p:cNvPr id="224" name="Text 222"/>
          <p:cNvSpPr txBox="1"/>
          <p:nvPr/>
        </p:nvSpPr>
        <p:spPr>
          <a:xfrm>
            <a:off x="6949440" y="3739896"/>
            <a:ext cx="4434840" cy="713232"/>
          </a:xfrm>
          <a:prstGeom prst="rect">
            <a:avLst/>
          </a:prstGeom>
          <a:noFill/>
          <a:ln/>
        </p:spPr>
        <p:txBody>
          <a:bodyPr wrap="square" lIns="0" tIns="0" rIns="0" bIns="0" rtlCol="0" anchor="ctr"/>
          <a:lstStyle/>
          <a:p>
            <a:pPr indent="0" marL="0">
              <a:lnSpc>
                <a:spcPct val="115000"/>
              </a:lnSpc>
              <a:buNone/>
            </a:pPr>
            <a:r>
              <a:rPr lang="en-US" sz="1100" dirty="0">
                <a:solidFill>
                  <a:srgbClr val="53565A"/>
                </a:solidFill>
                <a:latin typeface="Calibri" pitchFamily="34" charset="0"/>
                <a:ea typeface="Calibri" pitchFamily="34" charset="-122"/>
                <a:cs typeface="Calibri" pitchFamily="34" charset="-120"/>
              </a:rPr>
              <a:t>Both suites pair a vulnerable case with a safe variant of the same code, so a single run scores what was missed and what was flagged in error. The harness classified both sides correctly.</a:t>
            </a:r>
            <a:endParaRPr lang="en-US" sz="1100" dirty="0"/>
          </a:p>
        </p:txBody>
      </p:sp>
      <p:sp>
        <p:nvSpPr>
          <p:cNvPr id="225" name="Shape 223"/>
          <p:cNvSpPr/>
          <p:nvPr/>
        </p:nvSpPr>
        <p:spPr>
          <a:xfrm>
            <a:off x="6675120" y="4672584"/>
            <a:ext cx="4965192" cy="1298448"/>
          </a:xfrm>
          <a:prstGeom prst="roundRect">
            <a:avLst>
              <a:gd name="adj" fmla="val 5634"/>
            </a:avLst>
          </a:prstGeom>
          <a:solidFill>
            <a:srgbClr val="EAF2FB"/>
          </a:solidFill>
          <a:ln w="12700">
            <a:solidFill>
              <a:srgbClr val="C6DDF3"/>
            </a:solidFill>
            <a:prstDash val="solid"/>
          </a:ln>
          <a:effectLst>
            <a:outerShdw sx="100000" sy="100000" kx="0" ky="0" algn="bl" rotWithShape="0" blurRad="152400" dist="25400" dir="5400000">
              <a:srgbClr val="8FA0B8">
                <a:alpha val="20000"/>
              </a:srgbClr>
            </a:outerShdw>
          </a:effectLst>
        </p:spPr>
      </p:sp>
      <p:sp>
        <p:nvSpPr>
          <p:cNvPr id="226" name="Text 224"/>
          <p:cNvSpPr txBox="1"/>
          <p:nvPr/>
        </p:nvSpPr>
        <p:spPr>
          <a:xfrm>
            <a:off x="6949440" y="4855464"/>
            <a:ext cx="4480560" cy="292608"/>
          </a:xfrm>
          <a:prstGeom prst="rect">
            <a:avLst/>
          </a:prstGeom>
          <a:noFill/>
          <a:ln/>
        </p:spPr>
        <p:txBody>
          <a:bodyPr wrap="square" lIns="0" tIns="0" rIns="0" bIns="0" rtlCol="0" anchor="ctr"/>
          <a:lstStyle/>
          <a:p>
            <a:pPr indent="0" marL="0">
              <a:buNone/>
            </a:pPr>
            <a:r>
              <a:rPr lang="en-US" sz="1450" b="1" dirty="0">
                <a:solidFill>
                  <a:srgbClr val="00175A"/>
                </a:solidFill>
                <a:latin typeface="Cambria" pitchFamily="34" charset="0"/>
                <a:ea typeface="Cambria" pitchFamily="34" charset="-122"/>
                <a:cs typeface="Cambria" pitchFamily="34" charset="-120"/>
              </a:rPr>
              <a:t>Nothing invented along the way</a:t>
            </a:r>
            <a:endParaRPr lang="en-US" sz="1450" dirty="0"/>
          </a:p>
        </p:txBody>
      </p:sp>
      <p:sp>
        <p:nvSpPr>
          <p:cNvPr id="227" name="Text 225"/>
          <p:cNvSpPr txBox="1"/>
          <p:nvPr/>
        </p:nvSpPr>
        <p:spPr>
          <a:xfrm>
            <a:off x="6949440" y="5184648"/>
            <a:ext cx="4434840" cy="713232"/>
          </a:xfrm>
          <a:prstGeom prst="rect">
            <a:avLst/>
          </a:prstGeom>
          <a:noFill/>
          <a:ln/>
        </p:spPr>
        <p:txBody>
          <a:bodyPr wrap="square" lIns="0" tIns="0" rIns="0" bIns="0" rtlCol="0" anchor="ctr"/>
          <a:lstStyle/>
          <a:p>
            <a:pPr indent="0" marL="0">
              <a:lnSpc>
                <a:spcPct val="115000"/>
              </a:lnSpc>
              <a:buNone/>
            </a:pPr>
            <a:r>
              <a:rPr lang="en-US" sz="1100" dirty="0">
                <a:solidFill>
                  <a:srgbClr val="53565A"/>
                </a:solidFill>
                <a:latin typeface="Calibri" pitchFamily="34" charset="0"/>
                <a:ea typeface="Calibri" pitchFamily="34" charset="-122"/>
                <a:cs typeface="Calibri" pitchFamily="34" charset="-120"/>
              </a:rPr>
              <a:t>Every verdict was scored against the case’s published answer. The harness did not report vulnerabilities the corpus does not contain, and did not fabricate reasoning to support a call.</a:t>
            </a:r>
            <a:endParaRPr lang="en-US" sz="1100" dirty="0"/>
          </a:p>
        </p:txBody>
      </p:sp>
      <p:sp>
        <p:nvSpPr>
          <p:cNvPr id="228" name="Shape 226"/>
          <p:cNvSpPr/>
          <p:nvPr/>
        </p:nvSpPr>
        <p:spPr>
          <a:xfrm>
            <a:off x="6675120" y="6144768"/>
            <a:ext cx="4965192" cy="548640"/>
          </a:xfrm>
          <a:prstGeom prst="roundRect">
            <a:avLst>
              <a:gd name="adj" fmla="val 13333"/>
            </a:avLst>
          </a:prstGeom>
          <a:solidFill>
            <a:srgbClr val="00175A"/>
          </a:solidFill>
          <a:ln/>
          <a:effectLst>
            <a:outerShdw sx="100000" sy="100000" kx="0" ky="0" algn="bl" rotWithShape="0" blurRad="152400" dist="25400" dir="5400000">
              <a:srgbClr val="8FA0B8">
                <a:alpha val="20000"/>
              </a:srgbClr>
            </a:outerShdw>
          </a:effectLst>
        </p:spPr>
      </p:sp>
      <p:sp>
        <p:nvSpPr>
          <p:cNvPr id="229" name="Text 227"/>
          <p:cNvSpPr txBox="1"/>
          <p:nvPr/>
        </p:nvSpPr>
        <p:spPr>
          <a:xfrm>
            <a:off x="6903720" y="6144768"/>
            <a:ext cx="4526280" cy="54864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Calibri" pitchFamily="34" charset="0"/>
                <a:ea typeface="Calibri" pitchFamily="34" charset="-122"/>
                <a:cs typeface="Calibri" pitchFamily="34" charset="-120"/>
              </a:rPr>
              <a:t>Synthetic suites with known answers. The field results that follow are the same standard on real code.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
    <p:bg>
      <p:bgPr>
        <a:solidFill>
          <a:srgbClr val="000C24"/>
        </a:solidFill>
      </p:bgPr>
    </p:bg>
    <p:spTree>
      <p:nvGrpSpPr>
        <p:cNvPr id="1" name=""/>
        <p:cNvGrpSpPr/>
        <p:nvPr/>
      </p:nvGrpSpPr>
      <p:grpSpPr>
        <a:xfrm>
          <a:off x="0" y="0"/>
          <a:ext cx="0" cy="0"/>
          <a:chOff x="0" y="0"/>
          <a:chExt cx="0" cy="0"/>
        </a:xfrm>
      </p:grpSpPr>
      <p:sp>
        <p:nvSpPr>
          <p:cNvPr id="2" name="Text 0"/>
          <p:cNvSpPr txBox="1"/>
          <p:nvPr/>
        </p:nvSpPr>
        <p:spPr>
          <a:xfrm>
            <a:off x="548640" y="822960"/>
            <a:ext cx="11094415" cy="274320"/>
          </a:xfrm>
          <a:prstGeom prst="rect">
            <a:avLst/>
          </a:prstGeom>
          <a:noFill/>
          <a:ln/>
        </p:spPr>
        <p:txBody>
          <a:bodyPr wrap="square" lIns="0" tIns="0" rIns="0" bIns="0" rtlCol="0" anchor="ctr"/>
          <a:lstStyle/>
          <a:p>
            <a:pPr indent="0" marL="0">
              <a:buNone/>
            </a:pPr>
            <a:r>
              <a:rPr lang="en-US" sz="1150" b="1" spc="250" kern="0" dirty="0">
                <a:solidFill>
                  <a:srgbClr val="9BCAEB"/>
                </a:solidFill>
                <a:latin typeface="Calibri" pitchFamily="34" charset="0"/>
                <a:ea typeface="Calibri" pitchFamily="34" charset="-122"/>
                <a:cs typeface="Calibri" pitchFamily="34" charset="-120"/>
              </a:rPr>
              <a:t>SECURITY ARCHITECTURE &amp; EMERGING TECHNOLOGY</a:t>
            </a:r>
            <a:endParaRPr lang="en-US" sz="1150" dirty="0"/>
          </a:p>
        </p:txBody>
      </p:sp>
      <p:sp>
        <p:nvSpPr>
          <p:cNvPr id="3" name="Text 1"/>
          <p:cNvSpPr txBox="1"/>
          <p:nvPr/>
        </p:nvSpPr>
        <p:spPr>
          <a:xfrm>
            <a:off x="548640" y="1325880"/>
            <a:ext cx="10058400" cy="1371600"/>
          </a:xfrm>
          <a:prstGeom prst="rect">
            <a:avLst/>
          </a:prstGeom>
          <a:noFill/>
          <a:ln/>
        </p:spPr>
        <p:txBody>
          <a:bodyPr wrap="square" lIns="0" tIns="0" rIns="0" bIns="0" rtlCol="0" anchor="ctr"/>
          <a:lstStyle/>
          <a:p>
            <a:pPr indent="0" marL="0">
              <a:lnSpc>
                <a:spcPts val="4800"/>
              </a:lnSpc>
              <a:buNone/>
            </a:pPr>
            <a:r>
              <a:rPr lang="en-US" sz="4200" b="1" dirty="0">
                <a:solidFill>
                  <a:srgbClr val="FFFFFF"/>
                </a:solidFill>
                <a:latin typeface="Cambria" pitchFamily="34" charset="0"/>
                <a:ea typeface="Cambria" pitchFamily="34" charset="-122"/>
                <a:cs typeface="Cambria" pitchFamily="34" charset="-120"/>
              </a:rPr>
              <a:t>Three proved defects. Three real projects.</a:t>
            </a:r>
            <a:endParaRPr lang="en-US" sz="4200" dirty="0"/>
          </a:p>
        </p:txBody>
      </p:sp>
      <p:sp>
        <p:nvSpPr>
          <p:cNvPr id="4" name="Text 2"/>
          <p:cNvSpPr txBox="1"/>
          <p:nvPr/>
        </p:nvSpPr>
        <p:spPr>
          <a:xfrm>
            <a:off x="548640" y="2788920"/>
            <a:ext cx="8046720" cy="914400"/>
          </a:xfrm>
          <a:prstGeom prst="rect">
            <a:avLst/>
          </a:prstGeom>
          <a:noFill/>
          <a:ln/>
        </p:spPr>
        <p:txBody>
          <a:bodyPr wrap="square" lIns="0" tIns="0" rIns="0" bIns="0" rtlCol="0" anchor="ctr"/>
          <a:lstStyle/>
          <a:p>
            <a:pPr indent="0" marL="0">
              <a:lnSpc>
                <a:spcPts val="2200"/>
              </a:lnSpc>
              <a:buNone/>
            </a:pPr>
            <a:r>
              <a:rPr lang="en-US" sz="1500" dirty="0">
                <a:solidFill>
                  <a:srgbClr val="9BCAEB"/>
                </a:solidFill>
                <a:latin typeface="Calibri" pitchFamily="34" charset="0"/>
                <a:ea typeface="Calibri" pitchFamily="34" charset="-122"/>
                <a:cs typeface="Calibri" pitchFamily="34" charset="-120"/>
              </a:rPr>
              <a:t>First field results from our new security harness. Every finding in this brief has been proved by running the code, by a memory checker, or against the project's current published release.</a:t>
            </a:r>
            <a:endParaRPr lang="en-US" sz="1500" dirty="0"/>
          </a:p>
        </p:txBody>
      </p:sp>
      <p:sp>
        <p:nvSpPr>
          <p:cNvPr id="5" name="Text 3"/>
          <p:cNvSpPr txBox="1"/>
          <p:nvPr/>
        </p:nvSpPr>
        <p:spPr>
          <a:xfrm>
            <a:off x="548640" y="4343400"/>
            <a:ext cx="2560320" cy="685800"/>
          </a:xfrm>
          <a:prstGeom prst="rect">
            <a:avLst/>
          </a:prstGeom>
          <a:noFill/>
          <a:ln/>
        </p:spPr>
        <p:txBody>
          <a:bodyPr wrap="square" lIns="0" tIns="0" rIns="0" bIns="0" rtlCol="0" anchor="ctr"/>
          <a:lstStyle/>
          <a:p>
            <a:pPr indent="0" marL="0">
              <a:buNone/>
            </a:pPr>
            <a:r>
              <a:rPr lang="en-US" sz="4000" b="1" dirty="0">
                <a:solidFill>
                  <a:srgbClr val="7FC3F5"/>
                </a:solidFill>
                <a:latin typeface="Cambria" pitchFamily="34" charset="0"/>
                <a:ea typeface="Cambria" pitchFamily="34" charset="-122"/>
                <a:cs typeface="Cambria" pitchFamily="34" charset="-120"/>
              </a:rPr>
              <a:t>3</a:t>
            </a:r>
            <a:endParaRPr lang="en-US" sz="4000" dirty="0"/>
          </a:p>
        </p:txBody>
      </p:sp>
      <p:sp>
        <p:nvSpPr>
          <p:cNvPr id="6" name="Text 4"/>
          <p:cNvSpPr txBox="1"/>
          <p:nvPr/>
        </p:nvSpPr>
        <p:spPr>
          <a:xfrm>
            <a:off x="548640" y="5029200"/>
            <a:ext cx="2560320" cy="320040"/>
          </a:xfrm>
          <a:prstGeom prst="rect">
            <a:avLst/>
          </a:prstGeom>
          <a:noFill/>
          <a:ln/>
        </p:spPr>
        <p:txBody>
          <a:bodyPr wrap="square" lIns="0" tIns="0" rIns="0" bIns="0" rtlCol="0" anchor="ctr"/>
          <a:lstStyle/>
          <a:p>
            <a:pPr indent="0" marL="0">
              <a:buNone/>
            </a:pPr>
            <a:r>
              <a:rPr lang="en-US" sz="1200" dirty="0">
                <a:solidFill>
                  <a:srgbClr val="9BCAEB"/>
                </a:solidFill>
                <a:latin typeface="Calibri" pitchFamily="34" charset="0"/>
                <a:ea typeface="Calibri" pitchFamily="34" charset="-122"/>
                <a:cs typeface="Calibri" pitchFamily="34" charset="-120"/>
              </a:rPr>
              <a:t>defects proved</a:t>
            </a:r>
            <a:endParaRPr lang="en-US" sz="1200" dirty="0"/>
          </a:p>
        </p:txBody>
      </p:sp>
      <p:sp>
        <p:nvSpPr>
          <p:cNvPr id="7" name="Text 5"/>
          <p:cNvSpPr txBox="1"/>
          <p:nvPr/>
        </p:nvSpPr>
        <p:spPr>
          <a:xfrm>
            <a:off x="3319272" y="4343400"/>
            <a:ext cx="256032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8" name="Text 6"/>
          <p:cNvSpPr txBox="1"/>
          <p:nvPr/>
        </p:nvSpPr>
        <p:spPr>
          <a:xfrm>
            <a:off x="3319272" y="5029200"/>
            <a:ext cx="2560320" cy="320040"/>
          </a:xfrm>
          <a:prstGeom prst="rect">
            <a:avLst/>
          </a:prstGeom>
          <a:noFill/>
          <a:ln/>
        </p:spPr>
        <p:txBody>
          <a:bodyPr wrap="square" lIns="0" tIns="0" rIns="0" bIns="0" rtlCol="0" anchor="ctr"/>
          <a:lstStyle/>
          <a:p>
            <a:pPr indent="0" marL="0">
              <a:buNone/>
            </a:pPr>
            <a:r>
              <a:rPr lang="en-US" sz="1200" dirty="0">
                <a:solidFill>
                  <a:srgbClr val="9BCAEB"/>
                </a:solidFill>
                <a:latin typeface="Calibri" pitchFamily="34" charset="0"/>
                <a:ea typeface="Calibri" pitchFamily="34" charset="-122"/>
                <a:cs typeface="Calibri" pitchFamily="34" charset="-120"/>
              </a:rPr>
              <a:t>widely used projects</a:t>
            </a:r>
            <a:endParaRPr lang="en-US" sz="1200" dirty="0"/>
          </a:p>
        </p:txBody>
      </p:sp>
      <p:sp>
        <p:nvSpPr>
          <p:cNvPr id="9" name="Text 7"/>
          <p:cNvSpPr txBox="1"/>
          <p:nvPr/>
        </p:nvSpPr>
        <p:spPr>
          <a:xfrm>
            <a:off x="6089904" y="4343400"/>
            <a:ext cx="256032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5 yrs</a:t>
            </a:r>
            <a:endParaRPr lang="en-US" sz="4000" dirty="0"/>
          </a:p>
        </p:txBody>
      </p:sp>
      <p:sp>
        <p:nvSpPr>
          <p:cNvPr id="10" name="Text 8"/>
          <p:cNvSpPr txBox="1"/>
          <p:nvPr/>
        </p:nvSpPr>
        <p:spPr>
          <a:xfrm>
            <a:off x="6089904" y="5029200"/>
            <a:ext cx="2560320" cy="320040"/>
          </a:xfrm>
          <a:prstGeom prst="rect">
            <a:avLst/>
          </a:prstGeom>
          <a:noFill/>
          <a:ln/>
        </p:spPr>
        <p:txBody>
          <a:bodyPr wrap="square" lIns="0" tIns="0" rIns="0" bIns="0" rtlCol="0" anchor="ctr"/>
          <a:lstStyle/>
          <a:p>
            <a:pPr indent="0" marL="0">
              <a:buNone/>
            </a:pPr>
            <a:r>
              <a:rPr lang="en-US" sz="1200" dirty="0">
                <a:solidFill>
                  <a:srgbClr val="9BCAEB"/>
                </a:solidFill>
                <a:latin typeface="Calibri" pitchFamily="34" charset="0"/>
                <a:ea typeface="Calibri" pitchFamily="34" charset="-122"/>
                <a:cs typeface="Calibri" pitchFamily="34" charset="-120"/>
              </a:rPr>
              <a:t>longest one went unseen</a:t>
            </a:r>
            <a:endParaRPr lang="en-US" sz="1200" dirty="0"/>
          </a:p>
        </p:txBody>
      </p:sp>
      <p:sp>
        <p:nvSpPr>
          <p:cNvPr id="11" name="Text 9"/>
          <p:cNvSpPr txBox="1"/>
          <p:nvPr/>
        </p:nvSpPr>
        <p:spPr>
          <a:xfrm>
            <a:off x="8860536" y="4343400"/>
            <a:ext cx="256032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 wk</a:t>
            </a:r>
            <a:endParaRPr lang="en-US" sz="4000" dirty="0"/>
          </a:p>
        </p:txBody>
      </p:sp>
      <p:sp>
        <p:nvSpPr>
          <p:cNvPr id="12" name="Text 10"/>
          <p:cNvSpPr txBox="1"/>
          <p:nvPr/>
        </p:nvSpPr>
        <p:spPr>
          <a:xfrm>
            <a:off x="8860536" y="5029200"/>
            <a:ext cx="2560320" cy="320040"/>
          </a:xfrm>
          <a:prstGeom prst="rect">
            <a:avLst/>
          </a:prstGeom>
          <a:noFill/>
          <a:ln/>
        </p:spPr>
        <p:txBody>
          <a:bodyPr wrap="square" lIns="0" tIns="0" rIns="0" bIns="0" rtlCol="0" anchor="ctr"/>
          <a:lstStyle/>
          <a:p>
            <a:pPr indent="0" marL="0">
              <a:buNone/>
            </a:pPr>
            <a:r>
              <a:rPr lang="en-US" sz="1200" dirty="0">
                <a:solidFill>
                  <a:srgbClr val="9BCAEB"/>
                </a:solidFill>
                <a:latin typeface="Calibri" pitchFamily="34" charset="0"/>
                <a:ea typeface="Calibri" pitchFamily="34" charset="-122"/>
                <a:cs typeface="Calibri" pitchFamily="34" charset="-120"/>
              </a:rPr>
              <a:t>elapsed to find them</a:t>
            </a:r>
            <a:endParaRPr lang="en-US" sz="1200" dirty="0"/>
          </a:p>
        </p:txBody>
      </p:sp>
      <p:sp>
        <p:nvSpPr>
          <p:cNvPr id="13" name="Text 11"/>
          <p:cNvSpPr txBox="1"/>
          <p:nvPr/>
        </p:nvSpPr>
        <p:spPr>
          <a:xfrm>
            <a:off x="548640" y="6035040"/>
            <a:ext cx="11094415" cy="274320"/>
          </a:xfrm>
          <a:prstGeom prst="rect">
            <a:avLst/>
          </a:prstGeom>
          <a:noFill/>
          <a:ln/>
        </p:spPr>
        <p:txBody>
          <a:bodyPr wrap="square" lIns="0" tIns="0" rIns="0" bIns="0" rtlCol="0" anchor="ctr"/>
          <a:lstStyle/>
          <a:p>
            <a:pPr indent="0" marL="0">
              <a:buNone/>
            </a:pPr>
            <a:r>
              <a:rPr lang="en-US" sz="1100" dirty="0">
                <a:solidFill>
                  <a:srgbClr val="7D93AE"/>
                </a:solidFill>
                <a:latin typeface="Calibri" pitchFamily="34" charset="0"/>
                <a:ea typeface="Calibri" pitchFamily="34" charset="-122"/>
                <a:cs typeface="Calibri" pitchFamily="34" charset="-120"/>
              </a:rPr>
              <a:t>23 August 2026   |   Internal. Not for external distribution.</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1094415" cy="256032"/>
          </a:xfrm>
          <a:prstGeom prst="rect">
            <a:avLst/>
          </a:prstGeom>
          <a:noFill/>
          <a:ln/>
        </p:spPr>
        <p:txBody>
          <a:bodyPr wrap="square" lIns="0" tIns="0" rIns="0" bIns="0" rtlCol="0" anchor="ctr"/>
          <a:lstStyle/>
          <a:p>
            <a:pPr indent="0" marL="0">
              <a:buNone/>
            </a:pPr>
            <a:r>
              <a:rPr lang="en-US" sz="1100" b="1" spc="200" kern="0" dirty="0">
                <a:solidFill>
                  <a:srgbClr val="53565A"/>
                </a:solidFill>
                <a:latin typeface="Calibri" pitchFamily="34" charset="0"/>
                <a:ea typeface="Calibri" pitchFamily="34" charset="-122"/>
                <a:cs typeface="Calibri" pitchFamily="34" charset="-120"/>
              </a:rPr>
              <a:t>EXECUTIVE SUMMARY</a:t>
            </a:r>
            <a:endParaRPr lang="en-US" sz="1100" dirty="0"/>
          </a:p>
        </p:txBody>
      </p:sp>
      <p:sp>
        <p:nvSpPr>
          <p:cNvPr id="3" name="Text 1"/>
          <p:cNvSpPr txBox="1"/>
          <p:nvPr/>
        </p:nvSpPr>
        <p:spPr>
          <a:xfrm>
            <a:off x="548640" y="603504"/>
            <a:ext cx="11094415" cy="566928"/>
          </a:xfrm>
          <a:prstGeom prst="rect">
            <a:avLst/>
          </a:prstGeom>
          <a:noFill/>
          <a:ln/>
        </p:spPr>
        <p:txBody>
          <a:bodyPr wrap="square" lIns="0" tIns="0" rIns="0" bIns="0" rtlCol="0" anchor="ctr"/>
          <a:lstStyle/>
          <a:p>
            <a:pPr indent="0" marL="0">
              <a:buNone/>
            </a:pPr>
            <a:r>
              <a:rPr lang="en-US" sz="3200" b="1" dirty="0">
                <a:solidFill>
                  <a:srgbClr val="00175A"/>
                </a:solidFill>
                <a:latin typeface="Cambria" pitchFamily="34" charset="0"/>
                <a:ea typeface="Cambria" pitchFamily="34" charset="-122"/>
                <a:cs typeface="Cambria" pitchFamily="34" charset="-120"/>
              </a:rPr>
              <a:t>The short version</a:t>
            </a:r>
            <a:endParaRPr lang="en-US" sz="3200" dirty="0"/>
          </a:p>
        </p:txBody>
      </p:sp>
      <p:sp>
        <p:nvSpPr>
          <p:cNvPr id="4" name="Shape 2"/>
          <p:cNvSpPr/>
          <p:nvPr/>
        </p:nvSpPr>
        <p:spPr>
          <a:xfrm>
            <a:off x="548640" y="1371600"/>
            <a:ext cx="2615184" cy="1463040"/>
          </a:xfrm>
          <a:prstGeom prst="roundRect">
            <a:avLst>
              <a:gd name="adj" fmla="val 5000"/>
            </a:avLst>
          </a:prstGeom>
          <a:solidFill>
            <a:srgbClr val="F4F7FA"/>
          </a:solidFill>
          <a:ln w="12700">
            <a:solidFill>
              <a:srgbClr val="DCEAF8"/>
            </a:solidFill>
            <a:prstDash val="solid"/>
          </a:ln>
          <a:effectLst>
            <a:outerShdw sx="100000" sy="100000" kx="0" ky="0" algn="bl" rotWithShape="0" blurRad="127000" dist="25400" dir="5400000">
              <a:srgbClr val="00175A">
                <a:alpha val="10000"/>
              </a:srgbClr>
            </a:outerShdw>
          </a:effectLst>
        </p:spPr>
      </p:sp>
      <p:sp>
        <p:nvSpPr>
          <p:cNvPr id="5" name="Text 3"/>
          <p:cNvSpPr txBox="1"/>
          <p:nvPr/>
        </p:nvSpPr>
        <p:spPr>
          <a:xfrm>
            <a:off x="749808" y="1481328"/>
            <a:ext cx="2194560" cy="640080"/>
          </a:xfrm>
          <a:prstGeom prst="rect">
            <a:avLst/>
          </a:prstGeom>
          <a:noFill/>
          <a:ln/>
        </p:spPr>
        <p:txBody>
          <a:bodyPr wrap="square" lIns="0" tIns="0" rIns="0" bIns="0" rtlCol="0" anchor="ctr"/>
          <a:lstStyle/>
          <a:p>
            <a:pPr indent="0" marL="0">
              <a:buNone/>
            </a:pPr>
            <a:r>
              <a:rPr lang="en-US" sz="3600" b="1" dirty="0">
                <a:solidFill>
                  <a:srgbClr val="006FCF"/>
                </a:solidFill>
                <a:latin typeface="Cambria" pitchFamily="34" charset="0"/>
                <a:ea typeface="Cambria" pitchFamily="34" charset="-122"/>
                <a:cs typeface="Cambria" pitchFamily="34" charset="-120"/>
              </a:rPr>
              <a:t>3</a:t>
            </a:r>
            <a:endParaRPr lang="en-US" sz="3600" dirty="0"/>
          </a:p>
        </p:txBody>
      </p:sp>
      <p:sp>
        <p:nvSpPr>
          <p:cNvPr id="6" name="Text 4"/>
          <p:cNvSpPr txBox="1"/>
          <p:nvPr/>
        </p:nvSpPr>
        <p:spPr>
          <a:xfrm>
            <a:off x="749808" y="2148840"/>
            <a:ext cx="2240280" cy="548640"/>
          </a:xfrm>
          <a:prstGeom prst="rect">
            <a:avLst/>
          </a:prstGeom>
          <a:noFill/>
          <a:ln/>
        </p:spPr>
        <p:txBody>
          <a:bodyPr wrap="square" lIns="0" tIns="0" rIns="0" bIns="0" rtlCol="0" anchor="ctr"/>
          <a:lstStyle/>
          <a:p>
            <a:pPr indent="0" marL="0">
              <a:buNone/>
            </a:pPr>
            <a:r>
              <a:rPr lang="en-US" sz="1200" dirty="0">
                <a:solidFill>
                  <a:srgbClr val="53565A"/>
                </a:solidFill>
                <a:latin typeface="Calibri" pitchFamily="34" charset="0"/>
                <a:ea typeface="Calibri" pitchFamily="34" charset="-122"/>
                <a:cs typeface="Calibri" pitchFamily="34" charset="-120"/>
              </a:rPr>
              <a:t>defects proved by evidence</a:t>
            </a:r>
            <a:endParaRPr lang="en-US" sz="1200" dirty="0"/>
          </a:p>
        </p:txBody>
      </p:sp>
      <p:sp>
        <p:nvSpPr>
          <p:cNvPr id="7" name="Shape 5"/>
          <p:cNvSpPr/>
          <p:nvPr/>
        </p:nvSpPr>
        <p:spPr>
          <a:xfrm>
            <a:off x="3346704" y="1371600"/>
            <a:ext cx="2615184" cy="1463040"/>
          </a:xfrm>
          <a:prstGeom prst="roundRect">
            <a:avLst>
              <a:gd name="adj" fmla="val 5000"/>
            </a:avLst>
          </a:prstGeom>
          <a:solidFill>
            <a:srgbClr val="F4F7FA"/>
          </a:solidFill>
          <a:ln w="12700">
            <a:solidFill>
              <a:srgbClr val="DCEAF8"/>
            </a:solidFill>
            <a:prstDash val="solid"/>
          </a:ln>
          <a:effectLst>
            <a:outerShdw sx="100000" sy="100000" kx="0" ky="0" algn="bl" rotWithShape="0" blurRad="127000" dist="25400" dir="5400000">
              <a:srgbClr val="00175A">
                <a:alpha val="10000"/>
              </a:srgbClr>
            </a:outerShdw>
          </a:effectLst>
        </p:spPr>
      </p:sp>
      <p:sp>
        <p:nvSpPr>
          <p:cNvPr id="8" name="Text 6"/>
          <p:cNvSpPr txBox="1"/>
          <p:nvPr/>
        </p:nvSpPr>
        <p:spPr>
          <a:xfrm>
            <a:off x="3547872" y="1481328"/>
            <a:ext cx="2194560" cy="640080"/>
          </a:xfrm>
          <a:prstGeom prst="rect">
            <a:avLst/>
          </a:prstGeom>
          <a:noFill/>
          <a:ln/>
        </p:spPr>
        <p:txBody>
          <a:bodyPr wrap="square" lIns="0" tIns="0" rIns="0" bIns="0" rtlCol="0" anchor="ctr"/>
          <a:lstStyle/>
          <a:p>
            <a:pPr indent="0" marL="0">
              <a:buNone/>
            </a:pPr>
            <a:r>
              <a:rPr lang="en-US" sz="3600" b="1" dirty="0">
                <a:solidFill>
                  <a:srgbClr val="00175A"/>
                </a:solidFill>
                <a:latin typeface="Cambria" pitchFamily="34" charset="0"/>
                <a:ea typeface="Cambria" pitchFamily="34" charset="-122"/>
                <a:cs typeface="Cambria" pitchFamily="34" charset="-120"/>
              </a:rPr>
              <a:t>3</a:t>
            </a:r>
            <a:endParaRPr lang="en-US" sz="3600" dirty="0"/>
          </a:p>
        </p:txBody>
      </p:sp>
      <p:sp>
        <p:nvSpPr>
          <p:cNvPr id="9" name="Text 7"/>
          <p:cNvSpPr txBox="1"/>
          <p:nvPr/>
        </p:nvSpPr>
        <p:spPr>
          <a:xfrm>
            <a:off x="3547872" y="2148840"/>
            <a:ext cx="2240280" cy="548640"/>
          </a:xfrm>
          <a:prstGeom prst="rect">
            <a:avLst/>
          </a:prstGeom>
          <a:noFill/>
          <a:ln/>
        </p:spPr>
        <p:txBody>
          <a:bodyPr wrap="square" lIns="0" tIns="0" rIns="0" bIns="0" rtlCol="0" anchor="ctr"/>
          <a:lstStyle/>
          <a:p>
            <a:pPr indent="0" marL="0">
              <a:buNone/>
            </a:pPr>
            <a:r>
              <a:rPr lang="en-US" sz="1200" dirty="0">
                <a:solidFill>
                  <a:srgbClr val="53565A"/>
                </a:solidFill>
                <a:latin typeface="Calibri" pitchFamily="34" charset="0"/>
                <a:ea typeface="Calibri" pitchFamily="34" charset="-122"/>
                <a:cs typeface="Calibri" pitchFamily="34" charset="-120"/>
              </a:rPr>
              <a:t>projects, all widely deployed</a:t>
            </a:r>
            <a:endParaRPr lang="en-US" sz="1200" dirty="0"/>
          </a:p>
        </p:txBody>
      </p:sp>
      <p:sp>
        <p:nvSpPr>
          <p:cNvPr id="10" name="Shape 8"/>
          <p:cNvSpPr/>
          <p:nvPr/>
        </p:nvSpPr>
        <p:spPr>
          <a:xfrm>
            <a:off x="6144768" y="1371600"/>
            <a:ext cx="2615184" cy="1463040"/>
          </a:xfrm>
          <a:prstGeom prst="roundRect">
            <a:avLst>
              <a:gd name="adj" fmla="val 5000"/>
            </a:avLst>
          </a:prstGeom>
          <a:solidFill>
            <a:srgbClr val="F4F7FA"/>
          </a:solidFill>
          <a:ln w="12700">
            <a:solidFill>
              <a:srgbClr val="DCEAF8"/>
            </a:solidFill>
            <a:prstDash val="solid"/>
          </a:ln>
          <a:effectLst>
            <a:outerShdw sx="100000" sy="100000" kx="0" ky="0" algn="bl" rotWithShape="0" blurRad="127000" dist="25400" dir="5400000">
              <a:srgbClr val="00175A">
                <a:alpha val="10000"/>
              </a:srgbClr>
            </a:outerShdw>
          </a:effectLst>
        </p:spPr>
      </p:sp>
      <p:sp>
        <p:nvSpPr>
          <p:cNvPr id="11" name="Text 9"/>
          <p:cNvSpPr txBox="1"/>
          <p:nvPr/>
        </p:nvSpPr>
        <p:spPr>
          <a:xfrm>
            <a:off x="6345936" y="1481328"/>
            <a:ext cx="2194560" cy="640080"/>
          </a:xfrm>
          <a:prstGeom prst="rect">
            <a:avLst/>
          </a:prstGeom>
          <a:noFill/>
          <a:ln/>
        </p:spPr>
        <p:txBody>
          <a:bodyPr wrap="square" lIns="0" tIns="0" rIns="0" bIns="0" rtlCol="0" anchor="ctr"/>
          <a:lstStyle/>
          <a:p>
            <a:pPr indent="0" marL="0">
              <a:buNone/>
            </a:pPr>
            <a:r>
              <a:rPr lang="en-US" sz="3600" b="1" dirty="0">
                <a:solidFill>
                  <a:srgbClr val="00175A"/>
                </a:solidFill>
                <a:latin typeface="Cambria" pitchFamily="34" charset="0"/>
                <a:ea typeface="Cambria" pitchFamily="34" charset="-122"/>
                <a:cs typeface="Cambria" pitchFamily="34" charset="-120"/>
              </a:rPr>
              <a:t>5 yrs</a:t>
            </a:r>
            <a:endParaRPr lang="en-US" sz="3600" dirty="0"/>
          </a:p>
        </p:txBody>
      </p:sp>
      <p:sp>
        <p:nvSpPr>
          <p:cNvPr id="12" name="Text 10"/>
          <p:cNvSpPr txBox="1"/>
          <p:nvPr/>
        </p:nvSpPr>
        <p:spPr>
          <a:xfrm>
            <a:off x="6345936" y="2148840"/>
            <a:ext cx="2240280" cy="548640"/>
          </a:xfrm>
          <a:prstGeom prst="rect">
            <a:avLst/>
          </a:prstGeom>
          <a:noFill/>
          <a:ln/>
        </p:spPr>
        <p:txBody>
          <a:bodyPr wrap="square" lIns="0" tIns="0" rIns="0" bIns="0" rtlCol="0" anchor="ctr"/>
          <a:lstStyle/>
          <a:p>
            <a:pPr indent="0" marL="0">
              <a:buNone/>
            </a:pPr>
            <a:r>
              <a:rPr lang="en-US" sz="1200" dirty="0">
                <a:solidFill>
                  <a:srgbClr val="53565A"/>
                </a:solidFill>
                <a:latin typeface="Calibri" pitchFamily="34" charset="0"/>
                <a:ea typeface="Calibri" pitchFamily="34" charset="-122"/>
                <a:cs typeface="Calibri" pitchFamily="34" charset="-120"/>
              </a:rPr>
              <a:t>longest a defect went unseen</a:t>
            </a:r>
            <a:endParaRPr lang="en-US" sz="1200" dirty="0"/>
          </a:p>
        </p:txBody>
      </p:sp>
      <p:sp>
        <p:nvSpPr>
          <p:cNvPr id="13" name="Shape 11"/>
          <p:cNvSpPr/>
          <p:nvPr/>
        </p:nvSpPr>
        <p:spPr>
          <a:xfrm>
            <a:off x="8942832" y="1371600"/>
            <a:ext cx="2615184" cy="1463040"/>
          </a:xfrm>
          <a:prstGeom prst="roundRect">
            <a:avLst>
              <a:gd name="adj" fmla="val 5000"/>
            </a:avLst>
          </a:prstGeom>
          <a:solidFill>
            <a:srgbClr val="F4F7FA"/>
          </a:solidFill>
          <a:ln w="12700">
            <a:solidFill>
              <a:srgbClr val="DCEAF8"/>
            </a:solidFill>
            <a:prstDash val="solid"/>
          </a:ln>
          <a:effectLst>
            <a:outerShdw sx="100000" sy="100000" kx="0" ky="0" algn="bl" rotWithShape="0" blurRad="127000" dist="25400" dir="5400000">
              <a:srgbClr val="00175A">
                <a:alpha val="10000"/>
              </a:srgbClr>
            </a:outerShdw>
          </a:effectLst>
        </p:spPr>
      </p:sp>
      <p:sp>
        <p:nvSpPr>
          <p:cNvPr id="14" name="Text 12"/>
          <p:cNvSpPr txBox="1"/>
          <p:nvPr/>
        </p:nvSpPr>
        <p:spPr>
          <a:xfrm>
            <a:off x="9144000" y="1481328"/>
            <a:ext cx="2194560" cy="640080"/>
          </a:xfrm>
          <a:prstGeom prst="rect">
            <a:avLst/>
          </a:prstGeom>
          <a:noFill/>
          <a:ln/>
        </p:spPr>
        <p:txBody>
          <a:bodyPr wrap="square" lIns="0" tIns="0" rIns="0" bIns="0" rtlCol="0" anchor="ctr"/>
          <a:lstStyle/>
          <a:p>
            <a:pPr indent="0" marL="0">
              <a:buNone/>
            </a:pPr>
            <a:r>
              <a:rPr lang="en-US" sz="3600" b="1" dirty="0">
                <a:solidFill>
                  <a:srgbClr val="006FCF"/>
                </a:solidFill>
                <a:latin typeface="Cambria" pitchFamily="34" charset="0"/>
                <a:ea typeface="Cambria" pitchFamily="34" charset="-122"/>
                <a:cs typeface="Cambria" pitchFamily="34" charset="-120"/>
              </a:rPr>
              <a:t>100%</a:t>
            </a:r>
            <a:endParaRPr lang="en-US" sz="3600" dirty="0"/>
          </a:p>
        </p:txBody>
      </p:sp>
      <p:sp>
        <p:nvSpPr>
          <p:cNvPr id="15" name="Text 13"/>
          <p:cNvSpPr txBox="1"/>
          <p:nvPr/>
        </p:nvSpPr>
        <p:spPr>
          <a:xfrm>
            <a:off x="9144000" y="2148840"/>
            <a:ext cx="2240280" cy="548640"/>
          </a:xfrm>
          <a:prstGeom prst="rect">
            <a:avLst/>
          </a:prstGeom>
          <a:noFill/>
          <a:ln/>
        </p:spPr>
        <p:txBody>
          <a:bodyPr wrap="square" lIns="0" tIns="0" rIns="0" bIns="0" rtlCol="0" anchor="ctr"/>
          <a:lstStyle/>
          <a:p>
            <a:pPr indent="0" marL="0">
              <a:buNone/>
            </a:pPr>
            <a:r>
              <a:rPr lang="en-US" sz="1200" dirty="0">
                <a:solidFill>
                  <a:srgbClr val="53565A"/>
                </a:solidFill>
                <a:latin typeface="Calibri" pitchFamily="34" charset="0"/>
                <a:ea typeface="Calibri" pitchFamily="34" charset="-122"/>
                <a:cs typeface="Calibri" pitchFamily="34" charset="-120"/>
              </a:rPr>
              <a:t>unrepaired in current releases</a:t>
            </a:r>
            <a:endParaRPr lang="en-US" sz="1200" dirty="0"/>
          </a:p>
        </p:txBody>
      </p:sp>
      <p:sp>
        <p:nvSpPr>
          <p:cNvPr id="16" name="Shape 14"/>
          <p:cNvSpPr/>
          <p:nvPr/>
        </p:nvSpPr>
        <p:spPr>
          <a:xfrm>
            <a:off x="548640" y="3108960"/>
            <a:ext cx="5394960" cy="1371600"/>
          </a:xfrm>
          <a:prstGeom prst="roundRect">
            <a:avLst>
              <a:gd name="adj" fmla="val 5333"/>
            </a:avLst>
          </a:prstGeom>
          <a:solidFill>
            <a:srgbClr val="F4F7FA"/>
          </a:solidFill>
          <a:ln w="12700">
            <a:solidFill>
              <a:srgbClr val="DCEAF8"/>
            </a:solidFill>
            <a:prstDash val="solid"/>
          </a:ln>
          <a:effectLst>
            <a:outerShdw sx="100000" sy="100000" kx="0" ky="0" algn="bl" rotWithShape="0" blurRad="127000" dist="25400" dir="5400000">
              <a:srgbClr val="00175A">
                <a:alpha val="10000"/>
              </a:srgbClr>
            </a:outerShdw>
          </a:effectLst>
        </p:spPr>
      </p:sp>
      <p:sp>
        <p:nvSpPr>
          <p:cNvPr id="17" name="Shape 15"/>
          <p:cNvSpPr/>
          <p:nvPr/>
        </p:nvSpPr>
        <p:spPr>
          <a:xfrm>
            <a:off x="822960" y="3364992"/>
            <a:ext cx="420624" cy="420624"/>
          </a:xfrm>
          <a:prstGeom prst="ellipse">
            <a:avLst/>
          </a:prstGeom>
          <a:solidFill>
            <a:srgbClr val="00175A"/>
          </a:solidFill>
          <a:ln w="12700">
            <a:solidFill>
              <a:srgbClr val="00175A"/>
            </a:solidFill>
            <a:prstDash val="solid"/>
          </a:ln>
        </p:spPr>
      </p:sp>
      <p:sp>
        <p:nvSpPr>
          <p:cNvPr id="18" name="Text 16"/>
          <p:cNvSpPr txBox="1"/>
          <p:nvPr/>
        </p:nvSpPr>
        <p:spPr>
          <a:xfrm>
            <a:off x="822960" y="3364992"/>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9" name="Text 17"/>
          <p:cNvSpPr txBox="1"/>
          <p:nvPr/>
        </p:nvSpPr>
        <p:spPr>
          <a:xfrm>
            <a:off x="1417320" y="3310128"/>
            <a:ext cx="4343400" cy="292608"/>
          </a:xfrm>
          <a:prstGeom prst="rect">
            <a:avLst/>
          </a:prstGeom>
          <a:noFill/>
          <a:ln/>
        </p:spPr>
        <p:txBody>
          <a:bodyPr wrap="square" lIns="0" tIns="0" rIns="0" bIns="0" rtlCol="0" anchor="ctr"/>
          <a:lstStyle/>
          <a:p>
            <a:pPr indent="0" marL="0">
              <a:buNone/>
            </a:pPr>
            <a:r>
              <a:rPr lang="en-US" sz="1600" b="1" dirty="0">
                <a:solidFill>
                  <a:srgbClr val="00175A"/>
                </a:solidFill>
                <a:latin typeface="Cambria" pitchFamily="34" charset="0"/>
                <a:ea typeface="Cambria" pitchFamily="34" charset="-122"/>
                <a:cs typeface="Cambria" pitchFamily="34" charset="-120"/>
              </a:rPr>
              <a:t>The harness works</a:t>
            </a:r>
            <a:endParaRPr lang="en-US" sz="1600" dirty="0"/>
          </a:p>
        </p:txBody>
      </p:sp>
      <p:sp>
        <p:nvSpPr>
          <p:cNvPr id="20" name="Text 18"/>
          <p:cNvSpPr txBox="1"/>
          <p:nvPr/>
        </p:nvSpPr>
        <p:spPr>
          <a:xfrm>
            <a:off x="1417320" y="3639312"/>
            <a:ext cx="4343400" cy="731520"/>
          </a:xfrm>
          <a:prstGeom prst="rect">
            <a:avLst/>
          </a:prstGeom>
          <a:noFill/>
          <a:ln/>
        </p:spPr>
        <p:txBody>
          <a:bodyPr wrap="square" lIns="0" tIns="0" rIns="0" bIns="0" rtlCol="0" anchor="ctr"/>
          <a:lstStyle/>
          <a:p>
            <a:pPr indent="0" marL="0">
              <a:lnSpc>
                <a:spcPts val="1600"/>
              </a:lnSpc>
              <a:buNone/>
            </a:pPr>
            <a:r>
              <a:rPr lang="en-US" sz="1200" dirty="0">
                <a:solidFill>
                  <a:srgbClr val="001233"/>
                </a:solidFill>
                <a:latin typeface="Calibri" pitchFamily="34" charset="0"/>
                <a:ea typeface="Calibri" pitchFamily="34" charset="-122"/>
                <a:cs typeface="Calibri" pitchFamily="34" charset="-120"/>
              </a:rPr>
              <a:t>In one week it proved three defects in software that thousands of engineering teams depend on every day.</a:t>
            </a:r>
            <a:endParaRPr lang="en-US" sz="1200" dirty="0"/>
          </a:p>
        </p:txBody>
      </p:sp>
      <p:sp>
        <p:nvSpPr>
          <p:cNvPr id="21" name="Shape 19"/>
          <p:cNvSpPr/>
          <p:nvPr/>
        </p:nvSpPr>
        <p:spPr>
          <a:xfrm>
            <a:off x="6153912" y="3108960"/>
            <a:ext cx="5394960" cy="1371600"/>
          </a:xfrm>
          <a:prstGeom prst="roundRect">
            <a:avLst>
              <a:gd name="adj" fmla="val 5333"/>
            </a:avLst>
          </a:prstGeom>
          <a:solidFill>
            <a:srgbClr val="F4F7FA"/>
          </a:solidFill>
          <a:ln w="12700">
            <a:solidFill>
              <a:srgbClr val="DCEAF8"/>
            </a:solidFill>
            <a:prstDash val="solid"/>
          </a:ln>
          <a:effectLst>
            <a:outerShdw sx="100000" sy="100000" kx="0" ky="0" algn="bl" rotWithShape="0" blurRad="127000" dist="25400" dir="5400000">
              <a:srgbClr val="00175A">
                <a:alpha val="10000"/>
              </a:srgbClr>
            </a:outerShdw>
          </a:effectLst>
        </p:spPr>
      </p:sp>
      <p:sp>
        <p:nvSpPr>
          <p:cNvPr id="22" name="Shape 20"/>
          <p:cNvSpPr/>
          <p:nvPr/>
        </p:nvSpPr>
        <p:spPr>
          <a:xfrm>
            <a:off x="6428232" y="3364992"/>
            <a:ext cx="420624" cy="420624"/>
          </a:xfrm>
          <a:prstGeom prst="ellipse">
            <a:avLst/>
          </a:prstGeom>
          <a:solidFill>
            <a:srgbClr val="00175A"/>
          </a:solidFill>
          <a:ln w="12700">
            <a:solidFill>
              <a:srgbClr val="00175A"/>
            </a:solidFill>
            <a:prstDash val="solid"/>
          </a:ln>
        </p:spPr>
      </p:sp>
      <p:sp>
        <p:nvSpPr>
          <p:cNvPr id="23" name="Text 21"/>
          <p:cNvSpPr txBox="1"/>
          <p:nvPr/>
        </p:nvSpPr>
        <p:spPr>
          <a:xfrm>
            <a:off x="6428232" y="3364992"/>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24" name="Text 22"/>
          <p:cNvSpPr txBox="1"/>
          <p:nvPr/>
        </p:nvSpPr>
        <p:spPr>
          <a:xfrm>
            <a:off x="7022592" y="3310128"/>
            <a:ext cx="4343400" cy="292608"/>
          </a:xfrm>
          <a:prstGeom prst="rect">
            <a:avLst/>
          </a:prstGeom>
          <a:noFill/>
          <a:ln/>
        </p:spPr>
        <p:txBody>
          <a:bodyPr wrap="square" lIns="0" tIns="0" rIns="0" bIns="0" rtlCol="0" anchor="ctr"/>
          <a:lstStyle/>
          <a:p>
            <a:pPr indent="0" marL="0">
              <a:buNone/>
            </a:pPr>
            <a:r>
              <a:rPr lang="en-US" sz="1600" b="1" dirty="0">
                <a:solidFill>
                  <a:srgbClr val="00175A"/>
                </a:solidFill>
                <a:latin typeface="Cambria" pitchFamily="34" charset="0"/>
                <a:ea typeface="Cambria" pitchFamily="34" charset="-122"/>
                <a:cs typeface="Cambria" pitchFamily="34" charset="-120"/>
              </a:rPr>
              <a:t>The evidence standard is high</a:t>
            </a:r>
            <a:endParaRPr lang="en-US" sz="1600" dirty="0"/>
          </a:p>
        </p:txBody>
      </p:sp>
      <p:sp>
        <p:nvSpPr>
          <p:cNvPr id="25" name="Text 23"/>
          <p:cNvSpPr txBox="1"/>
          <p:nvPr/>
        </p:nvSpPr>
        <p:spPr>
          <a:xfrm>
            <a:off x="7022592" y="3639312"/>
            <a:ext cx="4343400" cy="731520"/>
          </a:xfrm>
          <a:prstGeom prst="rect">
            <a:avLst/>
          </a:prstGeom>
          <a:noFill/>
          <a:ln/>
        </p:spPr>
        <p:txBody>
          <a:bodyPr wrap="square" lIns="0" tIns="0" rIns="0" bIns="0" rtlCol="0" anchor="ctr"/>
          <a:lstStyle/>
          <a:p>
            <a:pPr indent="0" marL="0">
              <a:lnSpc>
                <a:spcPts val="1600"/>
              </a:lnSpc>
              <a:buNone/>
            </a:pPr>
            <a:r>
              <a:rPr lang="en-US" sz="1200" dirty="0">
                <a:solidFill>
                  <a:srgbClr val="001233"/>
                </a:solidFill>
                <a:latin typeface="Calibri" pitchFamily="34" charset="0"/>
                <a:ea typeface="Calibri" pitchFamily="34" charset="-122"/>
                <a:cs typeface="Calibri" pitchFamily="34" charset="-120"/>
              </a:rPr>
              <a:t>Nothing is called a finding until it has been run, reproduced under a memory checker, or confirmed against the project's current published code.</a:t>
            </a:r>
            <a:endParaRPr lang="en-US" sz="1200" dirty="0"/>
          </a:p>
        </p:txBody>
      </p:sp>
      <p:sp>
        <p:nvSpPr>
          <p:cNvPr id="26" name="Shape 24"/>
          <p:cNvSpPr/>
          <p:nvPr/>
        </p:nvSpPr>
        <p:spPr>
          <a:xfrm>
            <a:off x="548640" y="4681728"/>
            <a:ext cx="5394960" cy="1371600"/>
          </a:xfrm>
          <a:prstGeom prst="roundRect">
            <a:avLst>
              <a:gd name="adj" fmla="val 5333"/>
            </a:avLst>
          </a:prstGeom>
          <a:solidFill>
            <a:srgbClr val="F4F7FA"/>
          </a:solidFill>
          <a:ln w="12700">
            <a:solidFill>
              <a:srgbClr val="DCEAF8"/>
            </a:solidFill>
            <a:prstDash val="solid"/>
          </a:ln>
          <a:effectLst>
            <a:outerShdw sx="100000" sy="100000" kx="0" ky="0" algn="bl" rotWithShape="0" blurRad="127000" dist="25400" dir="5400000">
              <a:srgbClr val="00175A">
                <a:alpha val="10000"/>
              </a:srgbClr>
            </a:outerShdw>
          </a:effectLst>
        </p:spPr>
      </p:sp>
      <p:sp>
        <p:nvSpPr>
          <p:cNvPr id="27" name="Shape 25"/>
          <p:cNvSpPr/>
          <p:nvPr/>
        </p:nvSpPr>
        <p:spPr>
          <a:xfrm>
            <a:off x="822960" y="4937760"/>
            <a:ext cx="420624" cy="420624"/>
          </a:xfrm>
          <a:prstGeom prst="ellipse">
            <a:avLst/>
          </a:prstGeom>
          <a:solidFill>
            <a:srgbClr val="00175A"/>
          </a:solidFill>
          <a:ln w="12700">
            <a:solidFill>
              <a:srgbClr val="00175A"/>
            </a:solidFill>
            <a:prstDash val="solid"/>
          </a:ln>
        </p:spPr>
      </p:sp>
      <p:sp>
        <p:nvSpPr>
          <p:cNvPr id="28" name="Text 26"/>
          <p:cNvSpPr txBox="1"/>
          <p:nvPr/>
        </p:nvSpPr>
        <p:spPr>
          <a:xfrm>
            <a:off x="822960" y="493776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9" name="Text 27"/>
          <p:cNvSpPr txBox="1"/>
          <p:nvPr/>
        </p:nvSpPr>
        <p:spPr>
          <a:xfrm>
            <a:off x="1417320" y="4882896"/>
            <a:ext cx="4343400" cy="292608"/>
          </a:xfrm>
          <a:prstGeom prst="rect">
            <a:avLst/>
          </a:prstGeom>
          <a:noFill/>
          <a:ln/>
        </p:spPr>
        <p:txBody>
          <a:bodyPr wrap="square" lIns="0" tIns="0" rIns="0" bIns="0" rtlCol="0" anchor="ctr"/>
          <a:lstStyle/>
          <a:p>
            <a:pPr indent="0" marL="0">
              <a:buNone/>
            </a:pPr>
            <a:r>
              <a:rPr lang="en-US" sz="1600" b="1" dirty="0">
                <a:solidFill>
                  <a:srgbClr val="00175A"/>
                </a:solidFill>
                <a:latin typeface="Cambria" pitchFamily="34" charset="0"/>
                <a:ea typeface="Cambria" pitchFamily="34" charset="-122"/>
                <a:cs typeface="Cambria" pitchFamily="34" charset="-120"/>
              </a:rPr>
              <a:t>These are open source proving grounds</a:t>
            </a:r>
            <a:endParaRPr lang="en-US" sz="1600" dirty="0"/>
          </a:p>
        </p:txBody>
      </p:sp>
      <p:sp>
        <p:nvSpPr>
          <p:cNvPr id="30" name="Text 28"/>
          <p:cNvSpPr txBox="1"/>
          <p:nvPr/>
        </p:nvSpPr>
        <p:spPr>
          <a:xfrm>
            <a:off x="1417320" y="5212080"/>
            <a:ext cx="4343400" cy="731520"/>
          </a:xfrm>
          <a:prstGeom prst="rect">
            <a:avLst/>
          </a:prstGeom>
          <a:noFill/>
          <a:ln/>
        </p:spPr>
        <p:txBody>
          <a:bodyPr wrap="square" lIns="0" tIns="0" rIns="0" bIns="0" rtlCol="0" anchor="ctr"/>
          <a:lstStyle/>
          <a:p>
            <a:pPr indent="0" marL="0">
              <a:lnSpc>
                <a:spcPts val="1600"/>
              </a:lnSpc>
              <a:buNone/>
            </a:pPr>
            <a:r>
              <a:rPr lang="en-US" sz="1200" dirty="0">
                <a:solidFill>
                  <a:srgbClr val="001233"/>
                </a:solidFill>
                <a:latin typeface="Calibri" pitchFamily="34" charset="0"/>
                <a:ea typeface="Calibri" pitchFamily="34" charset="-122"/>
                <a:cs typeface="Calibri" pitchFamily="34" charset="-120"/>
              </a:rPr>
              <a:t>The three projects are third party, not American Express systems. They were chosen because anyone can independently check the result.</a:t>
            </a:r>
            <a:endParaRPr lang="en-US" sz="1200" dirty="0"/>
          </a:p>
        </p:txBody>
      </p:sp>
      <p:sp>
        <p:nvSpPr>
          <p:cNvPr id="31" name="Shape 29"/>
          <p:cNvSpPr/>
          <p:nvPr/>
        </p:nvSpPr>
        <p:spPr>
          <a:xfrm>
            <a:off x="6153912" y="4681728"/>
            <a:ext cx="5394960" cy="1371600"/>
          </a:xfrm>
          <a:prstGeom prst="roundRect">
            <a:avLst>
              <a:gd name="adj" fmla="val 5333"/>
            </a:avLst>
          </a:prstGeom>
          <a:solidFill>
            <a:srgbClr val="F4F7FA"/>
          </a:solidFill>
          <a:ln w="12700">
            <a:solidFill>
              <a:srgbClr val="DCEAF8"/>
            </a:solidFill>
            <a:prstDash val="solid"/>
          </a:ln>
          <a:effectLst>
            <a:outerShdw sx="100000" sy="100000" kx="0" ky="0" algn="bl" rotWithShape="0" blurRad="127000" dist="25400" dir="5400000">
              <a:srgbClr val="00175A">
                <a:alpha val="10000"/>
              </a:srgbClr>
            </a:outerShdw>
          </a:effectLst>
        </p:spPr>
      </p:sp>
      <p:sp>
        <p:nvSpPr>
          <p:cNvPr id="32" name="Shape 30"/>
          <p:cNvSpPr/>
          <p:nvPr/>
        </p:nvSpPr>
        <p:spPr>
          <a:xfrm>
            <a:off x="6428232" y="4937760"/>
            <a:ext cx="420624" cy="420624"/>
          </a:xfrm>
          <a:prstGeom prst="ellipse">
            <a:avLst/>
          </a:prstGeom>
          <a:solidFill>
            <a:srgbClr val="00175A"/>
          </a:solidFill>
          <a:ln w="12700">
            <a:solidFill>
              <a:srgbClr val="00175A"/>
            </a:solidFill>
            <a:prstDash val="solid"/>
          </a:ln>
        </p:spPr>
      </p:sp>
      <p:sp>
        <p:nvSpPr>
          <p:cNvPr id="33" name="Text 31"/>
          <p:cNvSpPr txBox="1"/>
          <p:nvPr/>
        </p:nvSpPr>
        <p:spPr>
          <a:xfrm>
            <a:off x="6428232" y="493776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34" name="Text 32"/>
          <p:cNvSpPr txBox="1"/>
          <p:nvPr/>
        </p:nvSpPr>
        <p:spPr>
          <a:xfrm>
            <a:off x="7022592" y="4882896"/>
            <a:ext cx="4343400" cy="292608"/>
          </a:xfrm>
          <a:prstGeom prst="rect">
            <a:avLst/>
          </a:prstGeom>
          <a:noFill/>
          <a:ln/>
        </p:spPr>
        <p:txBody>
          <a:bodyPr wrap="square" lIns="0" tIns="0" rIns="0" bIns="0" rtlCol="0" anchor="ctr"/>
          <a:lstStyle/>
          <a:p>
            <a:pPr indent="0" marL="0">
              <a:buNone/>
            </a:pPr>
            <a:r>
              <a:rPr lang="en-US" sz="1600" b="1" dirty="0">
                <a:solidFill>
                  <a:srgbClr val="00175A"/>
                </a:solidFill>
                <a:latin typeface="Cambria" pitchFamily="34" charset="0"/>
                <a:ea typeface="Cambria" pitchFamily="34" charset="-122"/>
                <a:cs typeface="Cambria" pitchFamily="34" charset="-120"/>
              </a:rPr>
              <a:t>One of them had been invisible for five years</a:t>
            </a:r>
            <a:endParaRPr lang="en-US" sz="1600" dirty="0"/>
          </a:p>
        </p:txBody>
      </p:sp>
      <p:sp>
        <p:nvSpPr>
          <p:cNvPr id="35" name="Text 33"/>
          <p:cNvSpPr txBox="1"/>
          <p:nvPr/>
        </p:nvSpPr>
        <p:spPr>
          <a:xfrm>
            <a:off x="7022592" y="5212080"/>
            <a:ext cx="4343400" cy="731520"/>
          </a:xfrm>
          <a:prstGeom prst="rect">
            <a:avLst/>
          </a:prstGeom>
          <a:noFill/>
          <a:ln/>
        </p:spPr>
        <p:txBody>
          <a:bodyPr wrap="square" lIns="0" tIns="0" rIns="0" bIns="0" rtlCol="0" anchor="ctr"/>
          <a:lstStyle/>
          <a:p>
            <a:pPr indent="0" marL="0">
              <a:lnSpc>
                <a:spcPts val="1600"/>
              </a:lnSpc>
              <a:buNone/>
            </a:pPr>
            <a:r>
              <a:rPr lang="en-US" sz="1200" dirty="0">
                <a:solidFill>
                  <a:srgbClr val="001233"/>
                </a:solidFill>
                <a:latin typeface="Calibri" pitchFamily="34" charset="0"/>
                <a:ea typeface="Calibri" pitchFamily="34" charset="-122"/>
                <a:cs typeface="Calibri" pitchFamily="34" charset="-120"/>
              </a:rPr>
              <a:t>Human review, existing scanners and the project's own test suite all passed over it. The harness did not.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1094415" cy="256032"/>
          </a:xfrm>
          <a:prstGeom prst="rect">
            <a:avLst/>
          </a:prstGeom>
          <a:noFill/>
          <a:ln/>
        </p:spPr>
        <p:txBody>
          <a:bodyPr wrap="square" lIns="0" tIns="0" rIns="0" bIns="0" rtlCol="0" anchor="ctr"/>
          <a:lstStyle/>
          <a:p>
            <a:pPr indent="0" marL="0">
              <a:buNone/>
            </a:pPr>
            <a:r>
              <a:rPr lang="en-US" sz="1100" b="1" spc="200" kern="0" dirty="0">
                <a:solidFill>
                  <a:srgbClr val="53565A"/>
                </a:solidFill>
                <a:latin typeface="Calibri" pitchFamily="34" charset="0"/>
                <a:ea typeface="Calibri" pitchFamily="34" charset="-122"/>
                <a:cs typeface="Calibri" pitchFamily="34" charset="-120"/>
              </a:rPr>
              <a:t>HOW IT WORKS</a:t>
            </a:r>
            <a:endParaRPr lang="en-US" sz="1100" dirty="0"/>
          </a:p>
        </p:txBody>
      </p:sp>
      <p:sp>
        <p:nvSpPr>
          <p:cNvPr id="3" name="Text 1"/>
          <p:cNvSpPr txBox="1"/>
          <p:nvPr/>
        </p:nvSpPr>
        <p:spPr>
          <a:xfrm>
            <a:off x="548640" y="603504"/>
            <a:ext cx="11094415" cy="566928"/>
          </a:xfrm>
          <a:prstGeom prst="rect">
            <a:avLst/>
          </a:prstGeom>
          <a:noFill/>
          <a:ln/>
        </p:spPr>
        <p:txBody>
          <a:bodyPr wrap="square" lIns="0" tIns="0" rIns="0" bIns="0" rtlCol="0" anchor="ctr"/>
          <a:lstStyle/>
          <a:p>
            <a:pPr indent="0" marL="0">
              <a:buNone/>
            </a:pPr>
            <a:r>
              <a:rPr lang="en-US" sz="3200" b="1" dirty="0">
                <a:solidFill>
                  <a:srgbClr val="00175A"/>
                </a:solidFill>
                <a:latin typeface="Cambria" pitchFamily="34" charset="0"/>
                <a:ea typeface="Cambria" pitchFamily="34" charset="-122"/>
                <a:cs typeface="Cambria" pitchFamily="34" charset="-120"/>
              </a:rPr>
              <a:t>Three steps, in plain language</a:t>
            </a:r>
            <a:endParaRPr lang="en-US" sz="3200" dirty="0"/>
          </a:p>
        </p:txBody>
      </p:sp>
      <p:sp>
        <p:nvSpPr>
          <p:cNvPr id="4" name="Text 2"/>
          <p:cNvSpPr txBox="1"/>
          <p:nvPr/>
        </p:nvSpPr>
        <p:spPr>
          <a:xfrm>
            <a:off x="548640" y="1188720"/>
            <a:ext cx="10728655" cy="384048"/>
          </a:xfrm>
          <a:prstGeom prst="rect">
            <a:avLst/>
          </a:prstGeom>
          <a:noFill/>
          <a:ln/>
        </p:spPr>
        <p:txBody>
          <a:bodyPr wrap="square" lIns="0" tIns="0" rIns="0" bIns="0" rtlCol="0" anchor="ctr"/>
          <a:lstStyle/>
          <a:p>
            <a:pPr indent="0" marL="0">
              <a:buNone/>
            </a:pPr>
            <a:r>
              <a:rPr lang="en-US" sz="1400" dirty="0">
                <a:solidFill>
                  <a:srgbClr val="53565A"/>
                </a:solidFill>
                <a:latin typeface="Calibri" pitchFamily="34" charset="0"/>
                <a:ea typeface="Calibri" pitchFamily="34" charset="-122"/>
                <a:cs typeface="Calibri" pitchFamily="34" charset="-120"/>
              </a:rPr>
              <a:t>No security background needed. The harness does what a very patient expert reviewer would do, at machine speed.</a:t>
            </a:r>
            <a:endParaRPr lang="en-US" sz="1400" dirty="0"/>
          </a:p>
        </p:txBody>
      </p:sp>
      <p:sp>
        <p:nvSpPr>
          <p:cNvPr id="5" name="Shape 3"/>
          <p:cNvSpPr/>
          <p:nvPr/>
        </p:nvSpPr>
        <p:spPr>
          <a:xfrm>
            <a:off x="548640" y="1828800"/>
            <a:ext cx="3529584" cy="3200400"/>
          </a:xfrm>
          <a:prstGeom prst="roundRect">
            <a:avLst>
              <a:gd name="adj" fmla="val 2286"/>
            </a:avLst>
          </a:prstGeom>
          <a:solidFill>
            <a:srgbClr val="F4F7FA"/>
          </a:solidFill>
          <a:ln w="12700">
            <a:solidFill>
              <a:srgbClr val="DCEAF8"/>
            </a:solidFill>
            <a:prstDash val="solid"/>
          </a:ln>
          <a:effectLst>
            <a:outerShdw sx="100000" sy="100000" kx="0" ky="0" algn="bl" rotWithShape="0" blurRad="127000" dist="25400" dir="5400000">
              <a:srgbClr val="00175A">
                <a:alpha val="10000"/>
              </a:srgbClr>
            </a:outerShdw>
          </a:effectLst>
        </p:spPr>
      </p:sp>
      <p:sp>
        <p:nvSpPr>
          <p:cNvPr id="6" name="Shape 4"/>
          <p:cNvSpPr/>
          <p:nvPr/>
        </p:nvSpPr>
        <p:spPr>
          <a:xfrm>
            <a:off x="822960" y="2103120"/>
            <a:ext cx="502920" cy="502920"/>
          </a:xfrm>
          <a:prstGeom prst="ellipse">
            <a:avLst/>
          </a:prstGeom>
          <a:solidFill>
            <a:srgbClr val="00175A"/>
          </a:solidFill>
          <a:ln w="12700">
            <a:solidFill>
              <a:srgbClr val="00175A"/>
            </a:solidFill>
            <a:prstDash val="solid"/>
          </a:ln>
        </p:spPr>
      </p:sp>
      <p:sp>
        <p:nvSpPr>
          <p:cNvPr id="7" name="Text 5"/>
          <p:cNvSpPr txBox="1"/>
          <p:nvPr/>
        </p:nvSpPr>
        <p:spPr>
          <a:xfrm>
            <a:off x="822960" y="21031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822960" y="2743200"/>
            <a:ext cx="3017520" cy="731520"/>
          </a:xfrm>
          <a:prstGeom prst="rect">
            <a:avLst/>
          </a:prstGeom>
          <a:noFill/>
          <a:ln/>
        </p:spPr>
        <p:txBody>
          <a:bodyPr wrap="square" lIns="0" tIns="0" rIns="0" bIns="0" rtlCol="0" anchor="ctr"/>
          <a:lstStyle/>
          <a:p>
            <a:pPr indent="0" marL="0">
              <a:lnSpc>
                <a:spcPts val="2100"/>
              </a:lnSpc>
              <a:buNone/>
            </a:pPr>
            <a:r>
              <a:rPr lang="en-US" sz="1700" b="1" dirty="0">
                <a:solidFill>
                  <a:srgbClr val="00175A"/>
                </a:solidFill>
                <a:latin typeface="Cambria" pitchFamily="34" charset="0"/>
                <a:ea typeface="Cambria" pitchFamily="34" charset="-122"/>
                <a:cs typeface="Cambria" pitchFamily="34" charset="-120"/>
              </a:rPr>
              <a:t>Understand the program</a:t>
            </a:r>
            <a:endParaRPr lang="en-US" sz="1700" dirty="0"/>
          </a:p>
        </p:txBody>
      </p:sp>
      <p:sp>
        <p:nvSpPr>
          <p:cNvPr id="9" name="Text 7"/>
          <p:cNvSpPr txBox="1"/>
          <p:nvPr/>
        </p:nvSpPr>
        <p:spPr>
          <a:xfrm>
            <a:off x="822960" y="3520440"/>
            <a:ext cx="3017520" cy="1371600"/>
          </a:xfrm>
          <a:prstGeom prst="rect">
            <a:avLst/>
          </a:prstGeom>
          <a:noFill/>
          <a:ln/>
        </p:spPr>
        <p:txBody>
          <a:bodyPr wrap="square" lIns="0" tIns="0" rIns="0" bIns="0" rtlCol="0" anchor="ctr"/>
          <a:lstStyle/>
          <a:p>
            <a:pPr indent="0" marL="0">
              <a:lnSpc>
                <a:spcPts val="1700"/>
              </a:lnSpc>
              <a:buNone/>
            </a:pPr>
            <a:r>
              <a:rPr lang="en-US" sz="1250" dirty="0">
                <a:solidFill>
                  <a:srgbClr val="001233"/>
                </a:solidFill>
                <a:latin typeface="Calibri" pitchFamily="34" charset="0"/>
                <a:ea typeface="Calibri" pitchFamily="34" charset="-122"/>
                <a:cs typeface="Calibri" pitchFamily="34" charset="-120"/>
              </a:rPr>
              <a:t>Most scanners search source code for suspicious-looking patterns. This harness builds a working model of what the program actually does, then reasons over that. Far fewer false alarms.</a:t>
            </a:r>
            <a:endParaRPr lang="en-US" sz="1250" dirty="0"/>
          </a:p>
        </p:txBody>
      </p:sp>
      <p:sp>
        <p:nvSpPr>
          <p:cNvPr id="10" name="Shape 8"/>
          <p:cNvSpPr/>
          <p:nvPr/>
        </p:nvSpPr>
        <p:spPr>
          <a:xfrm>
            <a:off x="4261104" y="1828800"/>
            <a:ext cx="3529584" cy="3200400"/>
          </a:xfrm>
          <a:prstGeom prst="roundRect">
            <a:avLst>
              <a:gd name="adj" fmla="val 2286"/>
            </a:avLst>
          </a:prstGeom>
          <a:solidFill>
            <a:srgbClr val="F4F7FA"/>
          </a:solidFill>
          <a:ln w="12700">
            <a:solidFill>
              <a:srgbClr val="DCEAF8"/>
            </a:solidFill>
            <a:prstDash val="solid"/>
          </a:ln>
          <a:effectLst>
            <a:outerShdw sx="100000" sy="100000" kx="0" ky="0" algn="bl" rotWithShape="0" blurRad="127000" dist="25400" dir="5400000">
              <a:srgbClr val="00175A">
                <a:alpha val="10000"/>
              </a:srgbClr>
            </a:outerShdw>
          </a:effectLst>
        </p:spPr>
      </p:sp>
      <p:sp>
        <p:nvSpPr>
          <p:cNvPr id="11" name="Shape 9"/>
          <p:cNvSpPr/>
          <p:nvPr/>
        </p:nvSpPr>
        <p:spPr>
          <a:xfrm>
            <a:off x="4535424" y="2103120"/>
            <a:ext cx="502920" cy="502920"/>
          </a:xfrm>
          <a:prstGeom prst="ellipse">
            <a:avLst/>
          </a:prstGeom>
          <a:solidFill>
            <a:srgbClr val="00175A"/>
          </a:solidFill>
          <a:ln w="12700">
            <a:solidFill>
              <a:srgbClr val="00175A"/>
            </a:solidFill>
            <a:prstDash val="solid"/>
          </a:ln>
        </p:spPr>
      </p:sp>
      <p:sp>
        <p:nvSpPr>
          <p:cNvPr id="12" name="Text 10"/>
          <p:cNvSpPr txBox="1"/>
          <p:nvPr/>
        </p:nvSpPr>
        <p:spPr>
          <a:xfrm>
            <a:off x="4535424" y="21031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4535424" y="2743200"/>
            <a:ext cx="3017520" cy="731520"/>
          </a:xfrm>
          <a:prstGeom prst="rect">
            <a:avLst/>
          </a:prstGeom>
          <a:noFill/>
          <a:ln/>
        </p:spPr>
        <p:txBody>
          <a:bodyPr wrap="square" lIns="0" tIns="0" rIns="0" bIns="0" rtlCol="0" anchor="ctr"/>
          <a:lstStyle/>
          <a:p>
            <a:pPr indent="0" marL="0">
              <a:lnSpc>
                <a:spcPts val="2100"/>
              </a:lnSpc>
              <a:buNone/>
            </a:pPr>
            <a:r>
              <a:rPr lang="en-US" sz="1700" b="1" dirty="0">
                <a:solidFill>
                  <a:srgbClr val="00175A"/>
                </a:solidFill>
                <a:latin typeface="Cambria" pitchFamily="34" charset="0"/>
                <a:ea typeface="Cambria" pitchFamily="34" charset="-122"/>
                <a:cs typeface="Cambria" pitchFamily="34" charset="-120"/>
              </a:rPr>
              <a:t>Argue one specific defect</a:t>
            </a:r>
            <a:endParaRPr lang="en-US" sz="1700" dirty="0"/>
          </a:p>
        </p:txBody>
      </p:sp>
      <p:sp>
        <p:nvSpPr>
          <p:cNvPr id="14" name="Text 12"/>
          <p:cNvSpPr txBox="1"/>
          <p:nvPr/>
        </p:nvSpPr>
        <p:spPr>
          <a:xfrm>
            <a:off x="4535424" y="3520440"/>
            <a:ext cx="3017520" cy="1371600"/>
          </a:xfrm>
          <a:prstGeom prst="rect">
            <a:avLst/>
          </a:prstGeom>
          <a:noFill/>
          <a:ln/>
        </p:spPr>
        <p:txBody>
          <a:bodyPr wrap="square" lIns="0" tIns="0" rIns="0" bIns="0" rtlCol="0" anchor="ctr"/>
          <a:lstStyle/>
          <a:p>
            <a:pPr indent="0" marL="0">
              <a:lnSpc>
                <a:spcPts val="1700"/>
              </a:lnSpc>
              <a:buNone/>
            </a:pPr>
            <a:r>
              <a:rPr lang="en-US" sz="1250" dirty="0">
                <a:solidFill>
                  <a:srgbClr val="001233"/>
                </a:solidFill>
                <a:latin typeface="Calibri" pitchFamily="34" charset="0"/>
                <a:ea typeface="Calibri" pitchFamily="34" charset="-122"/>
                <a:cs typeface="Calibri" pitchFamily="34" charset="-120"/>
              </a:rPr>
              <a:t>Every finding names the exact file, the exact line, and the exact chain of events that makes it a problem. There are no vague warnings and no severity scores without a story behind them.</a:t>
            </a:r>
            <a:endParaRPr lang="en-US" sz="1250" dirty="0"/>
          </a:p>
        </p:txBody>
      </p:sp>
      <p:sp>
        <p:nvSpPr>
          <p:cNvPr id="15" name="Shape 13"/>
          <p:cNvSpPr/>
          <p:nvPr/>
        </p:nvSpPr>
        <p:spPr>
          <a:xfrm>
            <a:off x="7973568" y="1828800"/>
            <a:ext cx="3529584" cy="3200400"/>
          </a:xfrm>
          <a:prstGeom prst="roundRect">
            <a:avLst>
              <a:gd name="adj" fmla="val 2286"/>
            </a:avLst>
          </a:prstGeom>
          <a:solidFill>
            <a:srgbClr val="F4F7FA"/>
          </a:solidFill>
          <a:ln w="12700">
            <a:solidFill>
              <a:srgbClr val="DCEAF8"/>
            </a:solidFill>
            <a:prstDash val="solid"/>
          </a:ln>
          <a:effectLst>
            <a:outerShdw sx="100000" sy="100000" kx="0" ky="0" algn="bl" rotWithShape="0" blurRad="127000" dist="25400" dir="5400000">
              <a:srgbClr val="00175A">
                <a:alpha val="10000"/>
              </a:srgbClr>
            </a:outerShdw>
          </a:effectLst>
        </p:spPr>
      </p:sp>
      <p:sp>
        <p:nvSpPr>
          <p:cNvPr id="16" name="Shape 14"/>
          <p:cNvSpPr/>
          <p:nvPr/>
        </p:nvSpPr>
        <p:spPr>
          <a:xfrm>
            <a:off x="8247888" y="2103120"/>
            <a:ext cx="502920" cy="502920"/>
          </a:xfrm>
          <a:prstGeom prst="ellipse">
            <a:avLst/>
          </a:prstGeom>
          <a:solidFill>
            <a:srgbClr val="00175A"/>
          </a:solidFill>
          <a:ln w="12700">
            <a:solidFill>
              <a:srgbClr val="00175A"/>
            </a:solidFill>
            <a:prstDash val="solid"/>
          </a:ln>
        </p:spPr>
      </p:sp>
      <p:sp>
        <p:nvSpPr>
          <p:cNvPr id="17" name="Text 15"/>
          <p:cNvSpPr txBox="1"/>
          <p:nvPr/>
        </p:nvSpPr>
        <p:spPr>
          <a:xfrm>
            <a:off x="8247888" y="21031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txBox="1"/>
          <p:nvPr/>
        </p:nvSpPr>
        <p:spPr>
          <a:xfrm>
            <a:off x="8247888" y="2743200"/>
            <a:ext cx="3017520" cy="731520"/>
          </a:xfrm>
          <a:prstGeom prst="rect">
            <a:avLst/>
          </a:prstGeom>
          <a:noFill/>
          <a:ln/>
        </p:spPr>
        <p:txBody>
          <a:bodyPr wrap="square" lIns="0" tIns="0" rIns="0" bIns="0" rtlCol="0" anchor="ctr"/>
          <a:lstStyle/>
          <a:p>
            <a:pPr indent="0" marL="0">
              <a:lnSpc>
                <a:spcPts val="2100"/>
              </a:lnSpc>
              <a:buNone/>
            </a:pPr>
            <a:r>
              <a:rPr lang="en-US" sz="1700" b="1" dirty="0">
                <a:solidFill>
                  <a:srgbClr val="00175A"/>
                </a:solidFill>
                <a:latin typeface="Cambria" pitchFamily="34" charset="0"/>
                <a:ea typeface="Cambria" pitchFamily="34" charset="-122"/>
                <a:cs typeface="Cambria" pitchFamily="34" charset="-120"/>
              </a:rPr>
              <a:t>Prove it before it counts</a:t>
            </a:r>
            <a:endParaRPr lang="en-US" sz="1700" dirty="0"/>
          </a:p>
        </p:txBody>
      </p:sp>
      <p:sp>
        <p:nvSpPr>
          <p:cNvPr id="19" name="Text 17"/>
          <p:cNvSpPr txBox="1"/>
          <p:nvPr/>
        </p:nvSpPr>
        <p:spPr>
          <a:xfrm>
            <a:off x="8247888" y="3520440"/>
            <a:ext cx="3017520" cy="1371600"/>
          </a:xfrm>
          <a:prstGeom prst="rect">
            <a:avLst/>
          </a:prstGeom>
          <a:noFill/>
          <a:ln/>
        </p:spPr>
        <p:txBody>
          <a:bodyPr wrap="square" lIns="0" tIns="0" rIns="0" bIns="0" rtlCol="0" anchor="ctr"/>
          <a:lstStyle/>
          <a:p>
            <a:pPr indent="0" marL="0">
              <a:lnSpc>
                <a:spcPts val="1700"/>
              </a:lnSpc>
              <a:buNone/>
            </a:pPr>
            <a:r>
              <a:rPr lang="en-US" sz="1250" dirty="0">
                <a:solidFill>
                  <a:srgbClr val="001233"/>
                </a:solidFill>
                <a:latin typeface="Calibri" pitchFamily="34" charset="0"/>
                <a:ea typeface="Calibri" pitchFamily="34" charset="-122"/>
                <a:cs typeface="Calibri" pitchFamily="34" charset="-120"/>
              </a:rPr>
              <a:t>A finding is only promoted once it has been run, reproduced under a memory checker, or confirmed against the project's current published code. That is the standard behind every number in this brief.</a:t>
            </a:r>
            <a:endParaRPr lang="en-US" sz="1250" dirty="0"/>
          </a:p>
        </p:txBody>
      </p:sp>
      <p:sp>
        <p:nvSpPr>
          <p:cNvPr id="20" name="Shape 18"/>
          <p:cNvSpPr/>
          <p:nvPr/>
        </p:nvSpPr>
        <p:spPr>
          <a:xfrm>
            <a:off x="548640" y="5257800"/>
            <a:ext cx="11094415" cy="868680"/>
          </a:xfrm>
          <a:prstGeom prst="roundRect">
            <a:avLst>
              <a:gd name="adj" fmla="val 8421"/>
            </a:avLst>
          </a:prstGeom>
          <a:solidFill>
            <a:srgbClr val="DCEAF8"/>
          </a:solidFill>
          <a:ln w="12700">
            <a:solidFill>
              <a:srgbClr val="A9CFEE"/>
            </a:solidFill>
            <a:prstDash val="solid"/>
          </a:ln>
          <a:effectLst>
            <a:outerShdw sx="100000" sy="100000" kx="0" ky="0" algn="bl" rotWithShape="0" blurRad="127000" dist="25400" dir="5400000">
              <a:srgbClr val="00175A">
                <a:alpha val="10000"/>
              </a:srgbClr>
            </a:outerShdw>
          </a:effectLst>
        </p:spPr>
      </p:sp>
      <p:sp>
        <p:nvSpPr>
          <p:cNvPr id="21" name="Text 19"/>
          <p:cNvSpPr txBox="1"/>
          <p:nvPr/>
        </p:nvSpPr>
        <p:spPr>
          <a:xfrm>
            <a:off x="822960" y="5394960"/>
            <a:ext cx="10545775" cy="594360"/>
          </a:xfrm>
          <a:prstGeom prst="rect">
            <a:avLst/>
          </a:prstGeom>
          <a:noFill/>
          <a:ln/>
        </p:spPr>
        <p:txBody>
          <a:bodyPr wrap="square" lIns="0" tIns="0" rIns="0" bIns="0" rtlCol="0" anchor="ctr"/>
          <a:lstStyle/>
          <a:p>
            <a:pPr indent="0" marL="0">
              <a:buNone/>
            </a:pPr>
            <a:r>
              <a:rPr lang="en-US" sz="1400" b="1" dirty="0">
                <a:solidFill>
                  <a:srgbClr val="006FCF"/>
                </a:solidFill>
                <a:latin typeface="Calibri" pitchFamily="34" charset="0"/>
                <a:ea typeface="Calibri" pitchFamily="34" charset="-122"/>
                <a:cs typeface="Calibri" pitchFamily="34" charset="-120"/>
              </a:rPr>
              <a:t>Step three is what makes the rest usable. </a:t>
            </a:r>
            <a:pPr indent="0" marL="0">
              <a:buNone/>
            </a:pPr>
            <a:r>
              <a:rPr lang="en-US" sz="1400" dirty="0">
                <a:solidFill>
                  <a:srgbClr val="001233"/>
                </a:solidFill>
                <a:latin typeface="Calibri" pitchFamily="34" charset="0"/>
                <a:ea typeface="Calibri" pitchFamily="34" charset="-122"/>
                <a:cs typeface="Calibri" pitchFamily="34" charset="-120"/>
              </a:rPr>
              <a:t>It is the difference between a report a maintainer acts on immediately and a claim that has to be argued about first.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1094415" cy="256032"/>
          </a:xfrm>
          <a:prstGeom prst="rect">
            <a:avLst/>
          </a:prstGeom>
          <a:noFill/>
          <a:ln/>
        </p:spPr>
        <p:txBody>
          <a:bodyPr wrap="square" lIns="0" tIns="0" rIns="0" bIns="0" rtlCol="0" anchor="ctr"/>
          <a:lstStyle/>
          <a:p>
            <a:pPr indent="0" marL="0">
              <a:buNone/>
            </a:pPr>
            <a:r>
              <a:rPr lang="en-US" sz="1100" b="1" spc="200" kern="0" dirty="0">
                <a:solidFill>
                  <a:srgbClr val="53565A"/>
                </a:solidFill>
                <a:latin typeface="Calibri" pitchFamily="34" charset="0"/>
                <a:ea typeface="Calibri" pitchFamily="34" charset="-122"/>
                <a:cs typeface="Calibri" pitchFamily="34" charset="-120"/>
              </a:rPr>
              <a:t>THE FINDINGS</a:t>
            </a:r>
            <a:endParaRPr lang="en-US" sz="1100" dirty="0"/>
          </a:p>
        </p:txBody>
      </p:sp>
      <p:sp>
        <p:nvSpPr>
          <p:cNvPr id="3" name="Text 1"/>
          <p:cNvSpPr txBox="1"/>
          <p:nvPr/>
        </p:nvSpPr>
        <p:spPr>
          <a:xfrm>
            <a:off x="548640" y="603504"/>
            <a:ext cx="11094415" cy="566928"/>
          </a:xfrm>
          <a:prstGeom prst="rect">
            <a:avLst/>
          </a:prstGeom>
          <a:noFill/>
          <a:ln/>
        </p:spPr>
        <p:txBody>
          <a:bodyPr wrap="square" lIns="0" tIns="0" rIns="0" bIns="0" rtlCol="0" anchor="ctr"/>
          <a:lstStyle/>
          <a:p>
            <a:pPr indent="0" marL="0">
              <a:buNone/>
            </a:pPr>
            <a:r>
              <a:rPr lang="en-US" sz="3200" b="1" dirty="0">
                <a:solidFill>
                  <a:srgbClr val="00175A"/>
                </a:solidFill>
                <a:latin typeface="Cambria" pitchFamily="34" charset="0"/>
                <a:ea typeface="Cambria" pitchFamily="34" charset="-122"/>
                <a:cs typeface="Cambria" pitchFamily="34" charset="-120"/>
              </a:rPr>
              <a:t>What we found, in plain terms</a:t>
            </a:r>
            <a:endParaRPr lang="en-US" sz="3200" dirty="0"/>
          </a:p>
        </p:txBody>
      </p:sp>
      <p:sp>
        <p:nvSpPr>
          <p:cNvPr id="4" name="Text 2"/>
          <p:cNvSpPr txBox="1"/>
          <p:nvPr/>
        </p:nvSpPr>
        <p:spPr>
          <a:xfrm>
            <a:off x="548640" y="1188720"/>
            <a:ext cx="10728655" cy="384048"/>
          </a:xfrm>
          <a:prstGeom prst="rect">
            <a:avLst/>
          </a:prstGeom>
          <a:noFill/>
          <a:ln/>
        </p:spPr>
        <p:txBody>
          <a:bodyPr wrap="square" lIns="0" tIns="0" rIns="0" bIns="0" rtlCol="0" anchor="ctr"/>
          <a:lstStyle/>
          <a:p>
            <a:pPr indent="0" marL="0">
              <a:buNone/>
            </a:pPr>
            <a:r>
              <a:rPr lang="en-US" sz="1400" dirty="0">
                <a:solidFill>
                  <a:srgbClr val="53565A"/>
                </a:solidFill>
                <a:latin typeface="Calibri" pitchFamily="34" charset="0"/>
                <a:ea typeface="Calibri" pitchFamily="34" charset="-122"/>
                <a:cs typeface="Calibri" pitchFamily="34" charset="-120"/>
              </a:rPr>
              <a:t>Three defects, each proved. All three are present in the software people are running today.</a:t>
            </a:r>
            <a:endParaRPr lang="en-US" sz="1400" dirty="0"/>
          </a:p>
        </p:txBody>
      </p:sp>
      <p:sp>
        <p:nvSpPr>
          <p:cNvPr id="5" name="Shape 3"/>
          <p:cNvSpPr/>
          <p:nvPr/>
        </p:nvSpPr>
        <p:spPr>
          <a:xfrm>
            <a:off x="548640" y="1828800"/>
            <a:ext cx="3529584" cy="3794760"/>
          </a:xfrm>
          <a:prstGeom prst="roundRect">
            <a:avLst>
              <a:gd name="adj" fmla="val 2073"/>
            </a:avLst>
          </a:prstGeom>
          <a:solidFill>
            <a:srgbClr val="F4F7FA"/>
          </a:solidFill>
          <a:ln w="12700">
            <a:solidFill>
              <a:srgbClr val="DCEAF8"/>
            </a:solidFill>
            <a:prstDash val="solid"/>
          </a:ln>
          <a:effectLst>
            <a:outerShdw sx="100000" sy="100000" kx="0" ky="0" algn="bl" rotWithShape="0" blurRad="127000" dist="25400" dir="5400000">
              <a:srgbClr val="00175A">
                <a:alpha val="10000"/>
              </a:srgbClr>
            </a:outerShdw>
          </a:effectLst>
        </p:spPr>
      </p:sp>
      <p:sp>
        <p:nvSpPr>
          <p:cNvPr id="6" name="Text 4"/>
          <p:cNvSpPr txBox="1"/>
          <p:nvPr/>
        </p:nvSpPr>
        <p:spPr>
          <a:xfrm>
            <a:off x="822960" y="2011680"/>
            <a:ext cx="3017520" cy="320040"/>
          </a:xfrm>
          <a:prstGeom prst="rect">
            <a:avLst/>
          </a:prstGeom>
          <a:noFill/>
          <a:ln/>
        </p:spPr>
        <p:txBody>
          <a:bodyPr wrap="square" lIns="0" tIns="0" rIns="0" bIns="0" rtlCol="0" anchor="ctr"/>
          <a:lstStyle/>
          <a:p>
            <a:pPr indent="0" marL="0">
              <a:buNone/>
            </a:pPr>
            <a:r>
              <a:rPr lang="en-US" sz="2000" b="1" dirty="0">
                <a:solidFill>
                  <a:srgbClr val="00175A"/>
                </a:solidFill>
                <a:latin typeface="Cambria" pitchFamily="34" charset="0"/>
                <a:ea typeface="Cambria" pitchFamily="34" charset="-122"/>
                <a:cs typeface="Cambria" pitchFamily="34" charset="-120"/>
              </a:rPr>
              <a:t>kopia</a:t>
            </a:r>
            <a:endParaRPr lang="en-US" sz="2000" dirty="0"/>
          </a:p>
        </p:txBody>
      </p:sp>
      <p:sp>
        <p:nvSpPr>
          <p:cNvPr id="7" name="Text 5"/>
          <p:cNvSpPr txBox="1"/>
          <p:nvPr/>
        </p:nvSpPr>
        <p:spPr>
          <a:xfrm>
            <a:off x="822960" y="2340864"/>
            <a:ext cx="3017520" cy="457200"/>
          </a:xfrm>
          <a:prstGeom prst="rect">
            <a:avLst/>
          </a:prstGeom>
          <a:noFill/>
          <a:ln/>
        </p:spPr>
        <p:txBody>
          <a:bodyPr wrap="square" lIns="0" tIns="0" rIns="0" bIns="0" rtlCol="0" anchor="ctr"/>
          <a:lstStyle/>
          <a:p>
            <a:pPr indent="0" marL="0">
              <a:buNone/>
            </a:pPr>
            <a:r>
              <a:rPr lang="en-US" sz="1100" i="1" dirty="0">
                <a:solidFill>
                  <a:srgbClr val="53565A"/>
                </a:solidFill>
                <a:latin typeface="Calibri" pitchFamily="34" charset="0"/>
                <a:ea typeface="Calibri" pitchFamily="34" charset="-122"/>
                <a:cs typeface="Calibri" pitchFamily="34" charset="-120"/>
              </a:rPr>
              <a:t>Backup and archiving tool</a:t>
            </a:r>
            <a:endParaRPr lang="en-US" sz="1100" dirty="0"/>
          </a:p>
        </p:txBody>
      </p:sp>
      <p:sp>
        <p:nvSpPr>
          <p:cNvPr id="8" name="Text 6"/>
          <p:cNvSpPr txBox="1"/>
          <p:nvPr/>
        </p:nvSpPr>
        <p:spPr>
          <a:xfrm>
            <a:off x="822960" y="2788920"/>
            <a:ext cx="3017520" cy="594360"/>
          </a:xfrm>
          <a:prstGeom prst="rect">
            <a:avLst/>
          </a:prstGeom>
          <a:noFill/>
          <a:ln/>
        </p:spPr>
        <p:txBody>
          <a:bodyPr wrap="square" lIns="0" tIns="0" rIns="0" bIns="0" rtlCol="0" anchor="ctr"/>
          <a:lstStyle/>
          <a:p>
            <a:pPr indent="0" marL="0">
              <a:lnSpc>
                <a:spcPts val="1800"/>
              </a:lnSpc>
              <a:buNone/>
            </a:pPr>
            <a:r>
              <a:rPr lang="en-US" sz="1450" b="1" dirty="0">
                <a:solidFill>
                  <a:srgbClr val="001233"/>
                </a:solidFill>
                <a:latin typeface="Calibri" pitchFamily="34" charset="0"/>
                <a:ea typeface="Calibri" pitchFamily="34" charset="-122"/>
                <a:cs typeface="Calibri" pitchFamily="34" charset="-120"/>
              </a:rPr>
              <a:t>Old permissions are never cleared</a:t>
            </a:r>
            <a:endParaRPr lang="en-US" sz="1450" dirty="0"/>
          </a:p>
        </p:txBody>
      </p:sp>
      <p:sp>
        <p:nvSpPr>
          <p:cNvPr id="9" name="Text 7"/>
          <p:cNvSpPr txBox="1"/>
          <p:nvPr/>
        </p:nvSpPr>
        <p:spPr>
          <a:xfrm>
            <a:off x="822960" y="3429000"/>
            <a:ext cx="3017520" cy="1600200"/>
          </a:xfrm>
          <a:prstGeom prst="rect">
            <a:avLst/>
          </a:prstGeom>
          <a:noFill/>
          <a:ln/>
        </p:spPr>
        <p:txBody>
          <a:bodyPr wrap="square" lIns="0" tIns="0" rIns="0" bIns="0" rtlCol="0" anchor="ctr"/>
          <a:lstStyle/>
          <a:p>
            <a:pPr indent="0" marL="0">
              <a:lnSpc>
                <a:spcPts val="1600"/>
              </a:lnSpc>
              <a:buNone/>
            </a:pPr>
            <a:r>
              <a:rPr lang="en-US" sz="1200" dirty="0">
                <a:solidFill>
                  <a:srgbClr val="001233"/>
                </a:solidFill>
                <a:latin typeface="Calibri" pitchFamily="34" charset="0"/>
                <a:ea typeface="Calibri" pitchFamily="34" charset="-122"/>
                <a:cs typeface="Calibri" pitchFamily="34" charset="-120"/>
              </a:rPr>
              <a:t>When the tool is pointed at a different data store, it is supposed to forget the previous store's access rules. The step that does the forgetting can never run. In the worst case, any valid user is handed full read and write access to data they should not reach.</a:t>
            </a:r>
            <a:endParaRPr lang="en-US" sz="1200" dirty="0"/>
          </a:p>
        </p:txBody>
      </p:sp>
      <p:sp>
        <p:nvSpPr>
          <p:cNvPr id="10" name="Shape 8"/>
          <p:cNvSpPr/>
          <p:nvPr/>
        </p:nvSpPr>
        <p:spPr>
          <a:xfrm>
            <a:off x="822960" y="5120640"/>
            <a:ext cx="1143000" cy="292608"/>
          </a:xfrm>
          <a:prstGeom prst="roundRect">
            <a:avLst>
              <a:gd name="adj" fmla="val 50000"/>
            </a:avLst>
          </a:prstGeom>
          <a:solidFill>
            <a:srgbClr val="DCEAF8"/>
          </a:solidFill>
          <a:ln w="12700">
            <a:solidFill>
              <a:srgbClr val="DCEAF8"/>
            </a:solidFill>
            <a:prstDash val="solid"/>
          </a:ln>
        </p:spPr>
      </p:sp>
      <p:sp>
        <p:nvSpPr>
          <p:cNvPr id="11" name="Text 9"/>
          <p:cNvSpPr txBox="1"/>
          <p:nvPr/>
        </p:nvSpPr>
        <p:spPr>
          <a:xfrm>
            <a:off x="822960" y="5120640"/>
            <a:ext cx="1143000" cy="292608"/>
          </a:xfrm>
          <a:prstGeom prst="rect">
            <a:avLst/>
          </a:prstGeom>
          <a:noFill/>
          <a:ln/>
        </p:spPr>
        <p:txBody>
          <a:bodyPr wrap="square" lIns="0" tIns="0" rIns="0" bIns="0" rtlCol="0" anchor="ctr"/>
          <a:lstStyle/>
          <a:p>
            <a:pPr algn="ctr" indent="0" marL="0">
              <a:buNone/>
            </a:pPr>
            <a:r>
              <a:rPr lang="en-US" sz="1000" b="1" spc="100" kern="0" dirty="0">
                <a:solidFill>
                  <a:srgbClr val="006FCF"/>
                </a:solidFill>
                <a:latin typeface="Calibri" pitchFamily="34" charset="0"/>
                <a:ea typeface="Calibri" pitchFamily="34" charset="-122"/>
                <a:cs typeface="Calibri" pitchFamily="34" charset="-120"/>
              </a:rPr>
              <a:t>PROVED</a:t>
            </a:r>
            <a:endParaRPr lang="en-US" sz="1000" dirty="0"/>
          </a:p>
        </p:txBody>
      </p:sp>
      <p:sp>
        <p:nvSpPr>
          <p:cNvPr id="12" name="Text 10"/>
          <p:cNvSpPr txBox="1"/>
          <p:nvPr/>
        </p:nvSpPr>
        <p:spPr>
          <a:xfrm>
            <a:off x="2057400" y="5120640"/>
            <a:ext cx="1783080" cy="292608"/>
          </a:xfrm>
          <a:prstGeom prst="rect">
            <a:avLst/>
          </a:prstGeom>
          <a:noFill/>
          <a:ln/>
        </p:spPr>
        <p:txBody>
          <a:bodyPr wrap="square" lIns="0" tIns="0" rIns="0" bIns="0" rtlCol="0" anchor="ctr"/>
          <a:lstStyle/>
          <a:p>
            <a:pPr indent="0" marL="0">
              <a:buNone/>
            </a:pPr>
            <a:r>
              <a:rPr lang="en-US" sz="950" b="1" spc="50" kern="0" dirty="0">
                <a:solidFill>
                  <a:srgbClr val="53565A"/>
                </a:solidFill>
                <a:latin typeface="Calibri" pitchFamily="34" charset="0"/>
                <a:ea typeface="Calibri" pitchFamily="34" charset="-122"/>
                <a:cs typeface="Calibri" pitchFamily="34" charset="-120"/>
              </a:rPr>
              <a:t>PRESENT SINCE 2021</a:t>
            </a:r>
            <a:endParaRPr lang="en-US" sz="950" dirty="0"/>
          </a:p>
        </p:txBody>
      </p:sp>
      <p:sp>
        <p:nvSpPr>
          <p:cNvPr id="13" name="Shape 11"/>
          <p:cNvSpPr/>
          <p:nvPr/>
        </p:nvSpPr>
        <p:spPr>
          <a:xfrm>
            <a:off x="4261104" y="1828800"/>
            <a:ext cx="3529584" cy="3794760"/>
          </a:xfrm>
          <a:prstGeom prst="roundRect">
            <a:avLst>
              <a:gd name="adj" fmla="val 2073"/>
            </a:avLst>
          </a:prstGeom>
          <a:solidFill>
            <a:srgbClr val="F4F7FA"/>
          </a:solidFill>
          <a:ln w="12700">
            <a:solidFill>
              <a:srgbClr val="DCEAF8"/>
            </a:solidFill>
            <a:prstDash val="solid"/>
          </a:ln>
          <a:effectLst>
            <a:outerShdw sx="100000" sy="100000" kx="0" ky="0" algn="bl" rotWithShape="0" blurRad="127000" dist="25400" dir="5400000">
              <a:srgbClr val="00175A">
                <a:alpha val="10000"/>
              </a:srgbClr>
            </a:outerShdw>
          </a:effectLst>
        </p:spPr>
      </p:sp>
      <p:sp>
        <p:nvSpPr>
          <p:cNvPr id="14" name="Text 12"/>
          <p:cNvSpPr txBox="1"/>
          <p:nvPr/>
        </p:nvSpPr>
        <p:spPr>
          <a:xfrm>
            <a:off x="4535424" y="2011680"/>
            <a:ext cx="3017520" cy="320040"/>
          </a:xfrm>
          <a:prstGeom prst="rect">
            <a:avLst/>
          </a:prstGeom>
          <a:noFill/>
          <a:ln/>
        </p:spPr>
        <p:txBody>
          <a:bodyPr wrap="square" lIns="0" tIns="0" rIns="0" bIns="0" rtlCol="0" anchor="ctr"/>
          <a:lstStyle/>
          <a:p>
            <a:pPr indent="0" marL="0">
              <a:buNone/>
            </a:pPr>
            <a:r>
              <a:rPr lang="en-US" sz="2000" b="1" dirty="0">
                <a:solidFill>
                  <a:srgbClr val="00175A"/>
                </a:solidFill>
                <a:latin typeface="Cambria" pitchFamily="34" charset="0"/>
                <a:ea typeface="Cambria" pitchFamily="34" charset="-122"/>
                <a:cs typeface="Cambria" pitchFamily="34" charset="-120"/>
              </a:rPr>
              <a:t>nokogiri</a:t>
            </a:r>
            <a:endParaRPr lang="en-US" sz="2000" dirty="0"/>
          </a:p>
        </p:txBody>
      </p:sp>
      <p:sp>
        <p:nvSpPr>
          <p:cNvPr id="15" name="Text 13"/>
          <p:cNvSpPr txBox="1"/>
          <p:nvPr/>
        </p:nvSpPr>
        <p:spPr>
          <a:xfrm>
            <a:off x="4535424" y="2340864"/>
            <a:ext cx="3017520" cy="457200"/>
          </a:xfrm>
          <a:prstGeom prst="rect">
            <a:avLst/>
          </a:prstGeom>
          <a:noFill/>
          <a:ln/>
        </p:spPr>
        <p:txBody>
          <a:bodyPr wrap="square" lIns="0" tIns="0" rIns="0" bIns="0" rtlCol="0" anchor="ctr"/>
          <a:lstStyle/>
          <a:p>
            <a:pPr indent="0" marL="0">
              <a:buNone/>
            </a:pPr>
            <a:r>
              <a:rPr lang="en-US" sz="1100" i="1" dirty="0">
                <a:solidFill>
                  <a:srgbClr val="53565A"/>
                </a:solidFill>
                <a:latin typeface="Calibri" pitchFamily="34" charset="0"/>
                <a:ea typeface="Calibri" pitchFamily="34" charset="-122"/>
                <a:cs typeface="Calibri" pitchFamily="34" charset="-120"/>
              </a:rPr>
              <a:t>Reads web pages and XML for Ruby applications</a:t>
            </a:r>
            <a:endParaRPr lang="en-US" sz="1100" dirty="0"/>
          </a:p>
        </p:txBody>
      </p:sp>
      <p:sp>
        <p:nvSpPr>
          <p:cNvPr id="16" name="Text 14"/>
          <p:cNvSpPr txBox="1"/>
          <p:nvPr/>
        </p:nvSpPr>
        <p:spPr>
          <a:xfrm>
            <a:off x="4535424" y="2788920"/>
            <a:ext cx="3017520" cy="594360"/>
          </a:xfrm>
          <a:prstGeom prst="rect">
            <a:avLst/>
          </a:prstGeom>
          <a:noFill/>
          <a:ln/>
        </p:spPr>
        <p:txBody>
          <a:bodyPr wrap="square" lIns="0" tIns="0" rIns="0" bIns="0" rtlCol="0" anchor="ctr"/>
          <a:lstStyle/>
          <a:p>
            <a:pPr indent="0" marL="0">
              <a:lnSpc>
                <a:spcPts val="1800"/>
              </a:lnSpc>
              <a:buNone/>
            </a:pPr>
            <a:r>
              <a:rPr lang="en-US" sz="1450" b="1" dirty="0">
                <a:solidFill>
                  <a:srgbClr val="001233"/>
                </a:solidFill>
                <a:latin typeface="Calibri" pitchFamily="34" charset="0"/>
                <a:ea typeface="Calibri" pitchFamily="34" charset="-122"/>
                <a:cs typeface="Calibri" pitchFamily="34" charset="-120"/>
              </a:rPr>
              <a:t>A search can be rewritten by the person searching</a:t>
            </a:r>
            <a:endParaRPr lang="en-US" sz="1450" dirty="0"/>
          </a:p>
        </p:txBody>
      </p:sp>
      <p:sp>
        <p:nvSpPr>
          <p:cNvPr id="17" name="Text 15"/>
          <p:cNvSpPr txBox="1"/>
          <p:nvPr/>
        </p:nvSpPr>
        <p:spPr>
          <a:xfrm>
            <a:off x="4535424" y="3429000"/>
            <a:ext cx="3017520" cy="1600200"/>
          </a:xfrm>
          <a:prstGeom prst="rect">
            <a:avLst/>
          </a:prstGeom>
          <a:noFill/>
          <a:ln/>
        </p:spPr>
        <p:txBody>
          <a:bodyPr wrap="square" lIns="0" tIns="0" rIns="0" bIns="0" rtlCol="0" anchor="ctr"/>
          <a:lstStyle/>
          <a:p>
            <a:pPr indent="0" marL="0">
              <a:lnSpc>
                <a:spcPts val="1600"/>
              </a:lnSpc>
              <a:buNone/>
            </a:pPr>
            <a:r>
              <a:rPr lang="en-US" sz="1200" dirty="0">
                <a:solidFill>
                  <a:srgbClr val="001233"/>
                </a:solidFill>
                <a:latin typeface="Calibri" pitchFamily="34" charset="0"/>
                <a:ea typeface="Calibri" pitchFamily="34" charset="-122"/>
                <a:cs typeface="Calibri" pitchFamily="34" charset="-120"/>
              </a:rPr>
              <a:t>If a search is built from something a user typed, that user can smuggle in characters that change the query itself. We ran it: a search designed to return nothing instead returned every record in the document, including one marked SECRET.</a:t>
            </a:r>
            <a:endParaRPr lang="en-US" sz="1200" dirty="0"/>
          </a:p>
        </p:txBody>
      </p:sp>
      <p:sp>
        <p:nvSpPr>
          <p:cNvPr id="18" name="Shape 16"/>
          <p:cNvSpPr/>
          <p:nvPr/>
        </p:nvSpPr>
        <p:spPr>
          <a:xfrm>
            <a:off x="4535424" y="5120640"/>
            <a:ext cx="1143000" cy="292608"/>
          </a:xfrm>
          <a:prstGeom prst="roundRect">
            <a:avLst>
              <a:gd name="adj" fmla="val 50000"/>
            </a:avLst>
          </a:prstGeom>
          <a:solidFill>
            <a:srgbClr val="DCEAF8"/>
          </a:solidFill>
          <a:ln w="12700">
            <a:solidFill>
              <a:srgbClr val="DCEAF8"/>
            </a:solidFill>
            <a:prstDash val="solid"/>
          </a:ln>
        </p:spPr>
      </p:sp>
      <p:sp>
        <p:nvSpPr>
          <p:cNvPr id="19" name="Text 17"/>
          <p:cNvSpPr txBox="1"/>
          <p:nvPr/>
        </p:nvSpPr>
        <p:spPr>
          <a:xfrm>
            <a:off x="4535424" y="5120640"/>
            <a:ext cx="1143000" cy="292608"/>
          </a:xfrm>
          <a:prstGeom prst="rect">
            <a:avLst/>
          </a:prstGeom>
          <a:noFill/>
          <a:ln/>
        </p:spPr>
        <p:txBody>
          <a:bodyPr wrap="square" lIns="0" tIns="0" rIns="0" bIns="0" rtlCol="0" anchor="ctr"/>
          <a:lstStyle/>
          <a:p>
            <a:pPr algn="ctr" indent="0" marL="0">
              <a:buNone/>
            </a:pPr>
            <a:r>
              <a:rPr lang="en-US" sz="1000" b="1" spc="100" kern="0" dirty="0">
                <a:solidFill>
                  <a:srgbClr val="006FCF"/>
                </a:solidFill>
                <a:latin typeface="Calibri" pitchFamily="34" charset="0"/>
                <a:ea typeface="Calibri" pitchFamily="34" charset="-122"/>
                <a:cs typeface="Calibri" pitchFamily="34" charset="-120"/>
              </a:rPr>
              <a:t>PROVED</a:t>
            </a:r>
            <a:endParaRPr lang="en-US" sz="1000" dirty="0"/>
          </a:p>
        </p:txBody>
      </p:sp>
      <p:sp>
        <p:nvSpPr>
          <p:cNvPr id="20" name="Text 18"/>
          <p:cNvSpPr txBox="1"/>
          <p:nvPr/>
        </p:nvSpPr>
        <p:spPr>
          <a:xfrm>
            <a:off x="5769864" y="5120640"/>
            <a:ext cx="1783080" cy="292608"/>
          </a:xfrm>
          <a:prstGeom prst="rect">
            <a:avLst/>
          </a:prstGeom>
          <a:noFill/>
          <a:ln/>
        </p:spPr>
        <p:txBody>
          <a:bodyPr wrap="square" lIns="0" tIns="0" rIns="0" bIns="0" rtlCol="0" anchor="ctr"/>
          <a:lstStyle/>
          <a:p>
            <a:pPr indent="0" marL="0">
              <a:buNone/>
            </a:pPr>
            <a:r>
              <a:rPr lang="en-US" sz="950" b="1" spc="50" kern="0" dirty="0">
                <a:solidFill>
                  <a:srgbClr val="53565A"/>
                </a:solidFill>
                <a:latin typeface="Calibri" pitchFamily="34" charset="0"/>
                <a:ea typeface="Calibri" pitchFamily="34" charset="-122"/>
                <a:cs typeface="Calibri" pitchFamily="34" charset="-120"/>
              </a:rPr>
              <a:t>DEMONSTRATED LIVE</a:t>
            </a:r>
            <a:endParaRPr lang="en-US" sz="950" dirty="0"/>
          </a:p>
        </p:txBody>
      </p:sp>
      <p:sp>
        <p:nvSpPr>
          <p:cNvPr id="21" name="Shape 19"/>
          <p:cNvSpPr/>
          <p:nvPr/>
        </p:nvSpPr>
        <p:spPr>
          <a:xfrm>
            <a:off x="7973568" y="1828800"/>
            <a:ext cx="3529584" cy="3794760"/>
          </a:xfrm>
          <a:prstGeom prst="roundRect">
            <a:avLst>
              <a:gd name="adj" fmla="val 2073"/>
            </a:avLst>
          </a:prstGeom>
          <a:solidFill>
            <a:srgbClr val="F4F7FA"/>
          </a:solidFill>
          <a:ln w="12700">
            <a:solidFill>
              <a:srgbClr val="DCEAF8"/>
            </a:solidFill>
            <a:prstDash val="solid"/>
          </a:ln>
          <a:effectLst>
            <a:outerShdw sx="100000" sy="100000" kx="0" ky="0" algn="bl" rotWithShape="0" blurRad="127000" dist="25400" dir="5400000">
              <a:srgbClr val="00175A">
                <a:alpha val="10000"/>
              </a:srgbClr>
            </a:outerShdw>
          </a:effectLst>
        </p:spPr>
      </p:sp>
      <p:sp>
        <p:nvSpPr>
          <p:cNvPr id="22" name="Text 20"/>
          <p:cNvSpPr txBox="1"/>
          <p:nvPr/>
        </p:nvSpPr>
        <p:spPr>
          <a:xfrm>
            <a:off x="8247888" y="2011680"/>
            <a:ext cx="3017520" cy="320040"/>
          </a:xfrm>
          <a:prstGeom prst="rect">
            <a:avLst/>
          </a:prstGeom>
          <a:noFill/>
          <a:ln/>
        </p:spPr>
        <p:txBody>
          <a:bodyPr wrap="square" lIns="0" tIns="0" rIns="0" bIns="0" rtlCol="0" anchor="ctr"/>
          <a:lstStyle/>
          <a:p>
            <a:pPr indent="0" marL="0">
              <a:buNone/>
            </a:pPr>
            <a:r>
              <a:rPr lang="en-US" sz="2000" b="1" dirty="0">
                <a:solidFill>
                  <a:srgbClr val="00175A"/>
                </a:solidFill>
                <a:latin typeface="Cambria" pitchFamily="34" charset="0"/>
                <a:ea typeface="Cambria" pitchFamily="34" charset="-122"/>
                <a:cs typeface="Cambria" pitchFamily="34" charset="-120"/>
              </a:rPr>
              <a:t>facil.io</a:t>
            </a:r>
            <a:endParaRPr lang="en-US" sz="2000" dirty="0"/>
          </a:p>
        </p:txBody>
      </p:sp>
      <p:sp>
        <p:nvSpPr>
          <p:cNvPr id="23" name="Text 21"/>
          <p:cNvSpPr txBox="1"/>
          <p:nvPr/>
        </p:nvSpPr>
        <p:spPr>
          <a:xfrm>
            <a:off x="8247888" y="2340864"/>
            <a:ext cx="3017520" cy="457200"/>
          </a:xfrm>
          <a:prstGeom prst="rect">
            <a:avLst/>
          </a:prstGeom>
          <a:noFill/>
          <a:ln/>
        </p:spPr>
        <p:txBody>
          <a:bodyPr wrap="square" lIns="0" tIns="0" rIns="0" bIns="0" rtlCol="0" anchor="ctr"/>
          <a:lstStyle/>
          <a:p>
            <a:pPr indent="0" marL="0">
              <a:buNone/>
            </a:pPr>
            <a:r>
              <a:rPr lang="en-US" sz="1100" i="1" dirty="0">
                <a:solidFill>
                  <a:srgbClr val="53565A"/>
                </a:solidFill>
                <a:latin typeface="Calibri" pitchFamily="34" charset="0"/>
                <a:ea typeface="Calibri" pitchFamily="34" charset="-122"/>
                <a:cs typeface="Calibri" pitchFamily="34" charset="-120"/>
              </a:rPr>
              <a:t>Web server framework</a:t>
            </a:r>
            <a:endParaRPr lang="en-US" sz="1100" dirty="0"/>
          </a:p>
        </p:txBody>
      </p:sp>
      <p:sp>
        <p:nvSpPr>
          <p:cNvPr id="24" name="Text 22"/>
          <p:cNvSpPr txBox="1"/>
          <p:nvPr/>
        </p:nvSpPr>
        <p:spPr>
          <a:xfrm>
            <a:off x="8247888" y="2788920"/>
            <a:ext cx="3017520" cy="594360"/>
          </a:xfrm>
          <a:prstGeom prst="rect">
            <a:avLst/>
          </a:prstGeom>
          <a:noFill/>
          <a:ln/>
        </p:spPr>
        <p:txBody>
          <a:bodyPr wrap="square" lIns="0" tIns="0" rIns="0" bIns="0" rtlCol="0" anchor="ctr"/>
          <a:lstStyle/>
          <a:p>
            <a:pPr indent="0" marL="0">
              <a:lnSpc>
                <a:spcPts val="1800"/>
              </a:lnSpc>
              <a:buNone/>
            </a:pPr>
            <a:r>
              <a:rPr lang="en-US" sz="1450" b="1" dirty="0">
                <a:solidFill>
                  <a:srgbClr val="001233"/>
                </a:solidFill>
                <a:latin typeface="Calibri" pitchFamily="34" charset="0"/>
                <a:ea typeface="Calibri" pitchFamily="34" charset="-122"/>
                <a:cs typeface="Calibri" pitchFamily="34" charset="-120"/>
              </a:rPr>
              <a:t>Writes past the end of its own container</a:t>
            </a:r>
            <a:endParaRPr lang="en-US" sz="1450" dirty="0"/>
          </a:p>
        </p:txBody>
      </p:sp>
      <p:sp>
        <p:nvSpPr>
          <p:cNvPr id="25" name="Text 23"/>
          <p:cNvSpPr txBox="1"/>
          <p:nvPr/>
        </p:nvSpPr>
        <p:spPr>
          <a:xfrm>
            <a:off x="8247888" y="3429000"/>
            <a:ext cx="3017520" cy="1600200"/>
          </a:xfrm>
          <a:prstGeom prst="rect">
            <a:avLst/>
          </a:prstGeom>
          <a:noFill/>
          <a:ln/>
        </p:spPr>
        <p:txBody>
          <a:bodyPr wrap="square" lIns="0" tIns="0" rIns="0" bIns="0" rtlCol="0" anchor="ctr"/>
          <a:lstStyle/>
          <a:p>
            <a:pPr indent="0" marL="0">
              <a:lnSpc>
                <a:spcPts val="1600"/>
              </a:lnSpc>
              <a:buNone/>
            </a:pPr>
            <a:r>
              <a:rPr lang="en-US" sz="1200" dirty="0">
                <a:solidFill>
                  <a:srgbClr val="001233"/>
                </a:solidFill>
                <a:latin typeface="Calibri" pitchFamily="34" charset="0"/>
                <a:ea typeface="Calibri" pitchFamily="34" charset="-122"/>
                <a:cs typeface="Calibri" pitchFamily="34" charset="-120"/>
              </a:rPr>
              <a:t>A size check is written backwards, so the program keeps writing after it runs out of room and corrupts memory next to it. It is reachable through an ordinary, public file-serving function. Confirmed with a memory checker.</a:t>
            </a:r>
            <a:endParaRPr lang="en-US" sz="1200" dirty="0"/>
          </a:p>
        </p:txBody>
      </p:sp>
      <p:sp>
        <p:nvSpPr>
          <p:cNvPr id="26" name="Shape 24"/>
          <p:cNvSpPr/>
          <p:nvPr/>
        </p:nvSpPr>
        <p:spPr>
          <a:xfrm>
            <a:off x="8247888" y="5120640"/>
            <a:ext cx="1143000" cy="292608"/>
          </a:xfrm>
          <a:prstGeom prst="roundRect">
            <a:avLst>
              <a:gd name="adj" fmla="val 50000"/>
            </a:avLst>
          </a:prstGeom>
          <a:solidFill>
            <a:srgbClr val="DCEAF8"/>
          </a:solidFill>
          <a:ln w="12700">
            <a:solidFill>
              <a:srgbClr val="DCEAF8"/>
            </a:solidFill>
            <a:prstDash val="solid"/>
          </a:ln>
        </p:spPr>
      </p:sp>
      <p:sp>
        <p:nvSpPr>
          <p:cNvPr id="27" name="Text 25"/>
          <p:cNvSpPr txBox="1"/>
          <p:nvPr/>
        </p:nvSpPr>
        <p:spPr>
          <a:xfrm>
            <a:off x="8247888" y="5120640"/>
            <a:ext cx="1143000" cy="292608"/>
          </a:xfrm>
          <a:prstGeom prst="rect">
            <a:avLst/>
          </a:prstGeom>
          <a:noFill/>
          <a:ln/>
        </p:spPr>
        <p:txBody>
          <a:bodyPr wrap="square" lIns="0" tIns="0" rIns="0" bIns="0" rtlCol="0" anchor="ctr"/>
          <a:lstStyle/>
          <a:p>
            <a:pPr algn="ctr" indent="0" marL="0">
              <a:buNone/>
            </a:pPr>
            <a:r>
              <a:rPr lang="en-US" sz="1000" b="1" spc="100" kern="0" dirty="0">
                <a:solidFill>
                  <a:srgbClr val="006FCF"/>
                </a:solidFill>
                <a:latin typeface="Calibri" pitchFamily="34" charset="0"/>
                <a:ea typeface="Calibri" pitchFamily="34" charset="-122"/>
                <a:cs typeface="Calibri" pitchFamily="34" charset="-120"/>
              </a:rPr>
              <a:t>PROVED</a:t>
            </a:r>
            <a:endParaRPr lang="en-US" sz="1000" dirty="0"/>
          </a:p>
        </p:txBody>
      </p:sp>
      <p:sp>
        <p:nvSpPr>
          <p:cNvPr id="28" name="Text 26"/>
          <p:cNvSpPr txBox="1"/>
          <p:nvPr/>
        </p:nvSpPr>
        <p:spPr>
          <a:xfrm>
            <a:off x="9482328" y="5120640"/>
            <a:ext cx="1783080" cy="292608"/>
          </a:xfrm>
          <a:prstGeom prst="rect">
            <a:avLst/>
          </a:prstGeom>
          <a:noFill/>
          <a:ln/>
        </p:spPr>
        <p:txBody>
          <a:bodyPr wrap="square" lIns="0" tIns="0" rIns="0" bIns="0" rtlCol="0" anchor="ctr"/>
          <a:lstStyle/>
          <a:p>
            <a:pPr indent="0" marL="0">
              <a:buNone/>
            </a:pPr>
            <a:r>
              <a:rPr lang="en-US" sz="950" b="1" spc="50" kern="0" dirty="0">
                <a:solidFill>
                  <a:srgbClr val="53565A"/>
                </a:solidFill>
                <a:latin typeface="Calibri" pitchFamily="34" charset="0"/>
                <a:ea typeface="Calibri" pitchFamily="34" charset="-122"/>
                <a:cs typeface="Calibri" pitchFamily="34" charset="-120"/>
              </a:rPr>
              <a:t>REPRODUCED UNDER ASAN</a:t>
            </a:r>
            <a:endParaRPr lang="en-US" sz="950" dirty="0"/>
          </a:p>
        </p:txBody>
      </p:sp>
      <p:sp>
        <p:nvSpPr>
          <p:cNvPr id="29" name="Text 27"/>
          <p:cNvSpPr txBox="1"/>
          <p:nvPr/>
        </p:nvSpPr>
        <p:spPr>
          <a:xfrm>
            <a:off x="548640" y="5852160"/>
            <a:ext cx="11094415" cy="320040"/>
          </a:xfrm>
          <a:prstGeom prst="rect">
            <a:avLst/>
          </a:prstGeom>
          <a:noFill/>
          <a:ln/>
        </p:spPr>
        <p:txBody>
          <a:bodyPr wrap="square" lIns="0" tIns="0" rIns="0" bIns="0" rtlCol="0" anchor="ctr"/>
          <a:lstStyle/>
          <a:p>
            <a:pPr indent="0" marL="0">
              <a:buNone/>
            </a:pPr>
            <a:r>
              <a:rPr lang="en-US" sz="1200" i="1" dirty="0">
                <a:solidFill>
                  <a:srgbClr val="53565A"/>
                </a:solidFill>
                <a:latin typeface="Calibri" pitchFamily="34" charset="0"/>
                <a:ea typeface="Calibri" pitchFamily="34" charset="-122"/>
                <a:cs typeface="Calibri" pitchFamily="34" charset="-120"/>
              </a:rPr>
              <a:t>All three defects were checked against each project's current published code and are unrepaired there.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1094415" cy="256032"/>
          </a:xfrm>
          <a:prstGeom prst="rect">
            <a:avLst/>
          </a:prstGeom>
          <a:noFill/>
          <a:ln/>
        </p:spPr>
        <p:txBody>
          <a:bodyPr wrap="square" lIns="0" tIns="0" rIns="0" bIns="0" rtlCol="0" anchor="ctr"/>
          <a:lstStyle/>
          <a:p>
            <a:pPr indent="0" marL="0">
              <a:buNone/>
            </a:pPr>
            <a:r>
              <a:rPr lang="en-US" sz="1100" b="1" spc="200" kern="0" dirty="0">
                <a:solidFill>
                  <a:srgbClr val="53565A"/>
                </a:solidFill>
                <a:latin typeface="Calibri" pitchFamily="34" charset="0"/>
                <a:ea typeface="Calibri" pitchFamily="34" charset="-122"/>
                <a:cs typeface="Calibri" pitchFamily="34" charset="-120"/>
              </a:rPr>
              <a:t>THE STANDOUT FINDING</a:t>
            </a:r>
            <a:endParaRPr lang="en-US" sz="1100" dirty="0"/>
          </a:p>
        </p:txBody>
      </p:sp>
      <p:sp>
        <p:nvSpPr>
          <p:cNvPr id="3" name="Text 1"/>
          <p:cNvSpPr txBox="1"/>
          <p:nvPr/>
        </p:nvSpPr>
        <p:spPr>
          <a:xfrm>
            <a:off x="548640" y="603504"/>
            <a:ext cx="11094415" cy="566928"/>
          </a:xfrm>
          <a:prstGeom prst="rect">
            <a:avLst/>
          </a:prstGeom>
          <a:noFill/>
          <a:ln/>
        </p:spPr>
        <p:txBody>
          <a:bodyPr wrap="square" lIns="0" tIns="0" rIns="0" bIns="0" rtlCol="0" anchor="ctr"/>
          <a:lstStyle/>
          <a:p>
            <a:pPr indent="0" marL="0">
              <a:buNone/>
            </a:pPr>
            <a:r>
              <a:rPr lang="en-US" sz="3200" b="1" dirty="0">
                <a:solidFill>
                  <a:srgbClr val="00175A"/>
                </a:solidFill>
                <a:latin typeface="Cambria" pitchFamily="34" charset="0"/>
                <a:ea typeface="Cambria" pitchFamily="34" charset="-122"/>
                <a:cs typeface="Cambria" pitchFamily="34" charset="-120"/>
              </a:rPr>
              <a:t>Five years in plain sight</a:t>
            </a:r>
            <a:endParaRPr lang="en-US" sz="3200" dirty="0"/>
          </a:p>
        </p:txBody>
      </p:sp>
      <p:sp>
        <p:nvSpPr>
          <p:cNvPr id="4" name="Text 2"/>
          <p:cNvSpPr txBox="1"/>
          <p:nvPr/>
        </p:nvSpPr>
        <p:spPr>
          <a:xfrm>
            <a:off x="548640" y="1188720"/>
            <a:ext cx="10728655" cy="384048"/>
          </a:xfrm>
          <a:prstGeom prst="rect">
            <a:avLst/>
          </a:prstGeom>
          <a:noFill/>
          <a:ln/>
        </p:spPr>
        <p:txBody>
          <a:bodyPr wrap="square" lIns="0" tIns="0" rIns="0" bIns="0" rtlCol="0" anchor="ctr"/>
          <a:lstStyle/>
          <a:p>
            <a:pPr indent="0" marL="0">
              <a:buNone/>
            </a:pPr>
            <a:r>
              <a:rPr lang="en-US" sz="1400" dirty="0">
                <a:solidFill>
                  <a:srgbClr val="53565A"/>
                </a:solidFill>
                <a:latin typeface="Calibri" pitchFamily="34" charset="0"/>
                <a:ea typeface="Calibri" pitchFamily="34" charset="-122"/>
                <a:cs typeface="Calibri" pitchFamily="34" charset="-120"/>
              </a:rPr>
              <a:t>The kopia defect has shipped in every release since 2021 and nobody has reported it.</a:t>
            </a:r>
            <a:endParaRPr lang="en-US" sz="1400" dirty="0"/>
          </a:p>
        </p:txBody>
      </p:sp>
      <p:sp>
        <p:nvSpPr>
          <p:cNvPr id="5" name="Shape 3"/>
          <p:cNvSpPr/>
          <p:nvPr/>
        </p:nvSpPr>
        <p:spPr>
          <a:xfrm>
            <a:off x="1554480" y="2286000"/>
            <a:ext cx="8869680" cy="0"/>
          </a:xfrm>
          <a:prstGeom prst="line">
            <a:avLst/>
          </a:prstGeom>
          <a:noFill/>
          <a:ln w="38100">
            <a:solidFill>
              <a:srgbClr val="DCEAF8"/>
            </a:solidFill>
            <a:prstDash val="solid"/>
          </a:ln>
        </p:spPr>
      </p:sp>
      <p:sp>
        <p:nvSpPr>
          <p:cNvPr id="6" name="Shape 4"/>
          <p:cNvSpPr/>
          <p:nvPr/>
        </p:nvSpPr>
        <p:spPr>
          <a:xfrm>
            <a:off x="1435608" y="2167128"/>
            <a:ext cx="237744" cy="237744"/>
          </a:xfrm>
          <a:prstGeom prst="ellipse">
            <a:avLst/>
          </a:prstGeom>
          <a:solidFill>
            <a:srgbClr val="00175A"/>
          </a:solidFill>
          <a:ln w="25400">
            <a:solidFill>
              <a:srgbClr val="FFFFFF"/>
            </a:solidFill>
            <a:prstDash val="solid"/>
          </a:ln>
        </p:spPr>
      </p:sp>
      <p:sp>
        <p:nvSpPr>
          <p:cNvPr id="7" name="Text 5"/>
          <p:cNvSpPr txBox="1"/>
          <p:nvPr/>
        </p:nvSpPr>
        <p:spPr>
          <a:xfrm>
            <a:off x="182880" y="1783080"/>
            <a:ext cx="2743200" cy="274320"/>
          </a:xfrm>
          <a:prstGeom prst="rect">
            <a:avLst/>
          </a:prstGeom>
          <a:noFill/>
          <a:ln/>
        </p:spPr>
        <p:txBody>
          <a:bodyPr wrap="square" lIns="0" tIns="0" rIns="0" bIns="0" rtlCol="0" anchor="ctr"/>
          <a:lstStyle/>
          <a:p>
            <a:pPr algn="ctr" indent="0" marL="0">
              <a:buNone/>
            </a:pPr>
            <a:r>
              <a:rPr lang="en-US" sz="1400" b="1" dirty="0">
                <a:solidFill>
                  <a:srgbClr val="00175A"/>
                </a:solidFill>
                <a:latin typeface="Cambria" pitchFamily="34" charset="0"/>
                <a:ea typeface="Cambria" pitchFamily="34" charset="-122"/>
                <a:cs typeface="Cambria" pitchFamily="34" charset="-120"/>
              </a:rPr>
              <a:t>2021</a:t>
            </a:r>
            <a:endParaRPr lang="en-US" sz="1400" dirty="0"/>
          </a:p>
        </p:txBody>
      </p:sp>
      <p:sp>
        <p:nvSpPr>
          <p:cNvPr id="8" name="Text 6"/>
          <p:cNvSpPr txBox="1"/>
          <p:nvPr/>
        </p:nvSpPr>
        <p:spPr>
          <a:xfrm>
            <a:off x="91440" y="2487168"/>
            <a:ext cx="2926080" cy="457200"/>
          </a:xfrm>
          <a:prstGeom prst="rect">
            <a:avLst/>
          </a:prstGeom>
          <a:noFill/>
          <a:ln/>
        </p:spPr>
        <p:txBody>
          <a:bodyPr wrap="square" lIns="0" tIns="0" rIns="0" bIns="0" rtlCol="0" anchor="ctr"/>
          <a:lstStyle/>
          <a:p>
            <a:pPr algn="ctr" indent="0" marL="0">
              <a:lnSpc>
                <a:spcPts val="1500"/>
              </a:lnSpc>
              <a:buNone/>
            </a:pPr>
            <a:r>
              <a:rPr lang="en-US" sz="1150" dirty="0">
                <a:solidFill>
                  <a:srgbClr val="53565A"/>
                </a:solidFill>
                <a:latin typeface="Calibri" pitchFamily="34" charset="0"/>
                <a:ea typeface="Calibri" pitchFamily="34" charset="-122"/>
                <a:cs typeface="Calibri" pitchFamily="34" charset="-120"/>
              </a:rPr>
              <a:t>Defect introduced</a:t>
            </a:r>
            <a:endParaRPr lang="en-US" sz="1150" dirty="0"/>
          </a:p>
        </p:txBody>
      </p:sp>
      <p:sp>
        <p:nvSpPr>
          <p:cNvPr id="9" name="Shape 7"/>
          <p:cNvSpPr/>
          <p:nvPr/>
        </p:nvSpPr>
        <p:spPr>
          <a:xfrm>
            <a:off x="5870448" y="2167128"/>
            <a:ext cx="237744" cy="237744"/>
          </a:xfrm>
          <a:prstGeom prst="ellipse">
            <a:avLst/>
          </a:prstGeom>
          <a:solidFill>
            <a:srgbClr val="00175A"/>
          </a:solidFill>
          <a:ln w="25400">
            <a:solidFill>
              <a:srgbClr val="FFFFFF"/>
            </a:solidFill>
            <a:prstDash val="solid"/>
          </a:ln>
        </p:spPr>
      </p:sp>
      <p:sp>
        <p:nvSpPr>
          <p:cNvPr id="10" name="Text 8"/>
          <p:cNvSpPr txBox="1"/>
          <p:nvPr/>
        </p:nvSpPr>
        <p:spPr>
          <a:xfrm>
            <a:off x="4617720" y="1783080"/>
            <a:ext cx="2743200" cy="274320"/>
          </a:xfrm>
          <a:prstGeom prst="rect">
            <a:avLst/>
          </a:prstGeom>
          <a:noFill/>
          <a:ln/>
        </p:spPr>
        <p:txBody>
          <a:bodyPr wrap="square" lIns="0" tIns="0" rIns="0" bIns="0" rtlCol="0" anchor="ctr"/>
          <a:lstStyle/>
          <a:p>
            <a:pPr algn="ctr" indent="0" marL="0">
              <a:buNone/>
            </a:pPr>
            <a:r>
              <a:rPr lang="en-US" sz="1400" b="1" dirty="0">
                <a:solidFill>
                  <a:srgbClr val="00175A"/>
                </a:solidFill>
                <a:latin typeface="Cambria" pitchFamily="34" charset="0"/>
                <a:ea typeface="Cambria" pitchFamily="34" charset="-122"/>
                <a:cs typeface="Cambria" pitchFamily="34" charset="-120"/>
              </a:rPr>
              <a:t>2021 to 2026</a:t>
            </a:r>
            <a:endParaRPr lang="en-US" sz="1400" dirty="0"/>
          </a:p>
        </p:txBody>
      </p:sp>
      <p:sp>
        <p:nvSpPr>
          <p:cNvPr id="11" name="Text 9"/>
          <p:cNvSpPr txBox="1"/>
          <p:nvPr/>
        </p:nvSpPr>
        <p:spPr>
          <a:xfrm>
            <a:off x="4526280" y="2487168"/>
            <a:ext cx="2926080" cy="457200"/>
          </a:xfrm>
          <a:prstGeom prst="rect">
            <a:avLst/>
          </a:prstGeom>
          <a:noFill/>
          <a:ln/>
        </p:spPr>
        <p:txBody>
          <a:bodyPr wrap="square" lIns="0" tIns="0" rIns="0" bIns="0" rtlCol="0" anchor="ctr"/>
          <a:lstStyle/>
          <a:p>
            <a:pPr algn="ctr" indent="0" marL="0">
              <a:lnSpc>
                <a:spcPts val="1500"/>
              </a:lnSpc>
              <a:buNone/>
            </a:pPr>
            <a:r>
              <a:rPr lang="en-US" sz="1150" dirty="0">
                <a:solidFill>
                  <a:srgbClr val="53565A"/>
                </a:solidFill>
                <a:latin typeface="Calibri" pitchFamily="34" charset="0"/>
                <a:ea typeface="Calibri" pitchFamily="34" charset="-122"/>
                <a:cs typeface="Calibri" pitchFamily="34" charset="-120"/>
              </a:rPr>
              <a:t>Ships in every release, unreported</a:t>
            </a:r>
            <a:endParaRPr lang="en-US" sz="1150" dirty="0"/>
          </a:p>
        </p:txBody>
      </p:sp>
      <p:sp>
        <p:nvSpPr>
          <p:cNvPr id="12" name="Shape 10"/>
          <p:cNvSpPr/>
          <p:nvPr/>
        </p:nvSpPr>
        <p:spPr>
          <a:xfrm>
            <a:off x="10305288" y="2167128"/>
            <a:ext cx="237744" cy="237744"/>
          </a:xfrm>
          <a:prstGeom prst="ellipse">
            <a:avLst/>
          </a:prstGeom>
          <a:solidFill>
            <a:srgbClr val="006FCF"/>
          </a:solidFill>
          <a:ln w="25400">
            <a:solidFill>
              <a:srgbClr val="FFFFFF"/>
            </a:solidFill>
            <a:prstDash val="solid"/>
          </a:ln>
        </p:spPr>
      </p:sp>
      <p:sp>
        <p:nvSpPr>
          <p:cNvPr id="13" name="Text 11"/>
          <p:cNvSpPr txBox="1"/>
          <p:nvPr/>
        </p:nvSpPr>
        <p:spPr>
          <a:xfrm>
            <a:off x="9052560" y="1783080"/>
            <a:ext cx="2743200" cy="274320"/>
          </a:xfrm>
          <a:prstGeom prst="rect">
            <a:avLst/>
          </a:prstGeom>
          <a:noFill/>
          <a:ln/>
        </p:spPr>
        <p:txBody>
          <a:bodyPr wrap="square" lIns="0" tIns="0" rIns="0" bIns="0" rtlCol="0" anchor="ctr"/>
          <a:lstStyle/>
          <a:p>
            <a:pPr algn="ctr" indent="0" marL="0">
              <a:buNone/>
            </a:pPr>
            <a:r>
              <a:rPr lang="en-US" sz="1400" b="1" dirty="0">
                <a:solidFill>
                  <a:srgbClr val="006FCF"/>
                </a:solidFill>
                <a:latin typeface="Cambria" pitchFamily="34" charset="0"/>
                <a:ea typeface="Cambria" pitchFamily="34" charset="-122"/>
                <a:cs typeface="Cambria" pitchFamily="34" charset="-120"/>
              </a:rPr>
              <a:t>Aug 2026</a:t>
            </a:r>
            <a:endParaRPr lang="en-US" sz="1400" dirty="0"/>
          </a:p>
        </p:txBody>
      </p:sp>
      <p:sp>
        <p:nvSpPr>
          <p:cNvPr id="14" name="Text 12"/>
          <p:cNvSpPr txBox="1"/>
          <p:nvPr/>
        </p:nvSpPr>
        <p:spPr>
          <a:xfrm>
            <a:off x="8961120" y="2487168"/>
            <a:ext cx="2926080" cy="457200"/>
          </a:xfrm>
          <a:prstGeom prst="rect">
            <a:avLst/>
          </a:prstGeom>
          <a:noFill/>
          <a:ln/>
        </p:spPr>
        <p:txBody>
          <a:bodyPr wrap="square" lIns="0" tIns="0" rIns="0" bIns="0" rtlCol="0" anchor="ctr"/>
          <a:lstStyle/>
          <a:p>
            <a:pPr algn="ctr" indent="0" marL="0">
              <a:lnSpc>
                <a:spcPts val="1500"/>
              </a:lnSpc>
              <a:buNone/>
            </a:pPr>
            <a:r>
              <a:rPr lang="en-US" sz="1150" dirty="0">
                <a:solidFill>
                  <a:srgbClr val="53565A"/>
                </a:solidFill>
                <a:latin typeface="Calibri" pitchFamily="34" charset="0"/>
                <a:ea typeface="Calibri" pitchFamily="34" charset="-122"/>
                <a:cs typeface="Calibri" pitchFamily="34" charset="-120"/>
              </a:rPr>
              <a:t>Found by the harness</a:t>
            </a:r>
            <a:endParaRPr lang="en-US" sz="1150" dirty="0"/>
          </a:p>
        </p:txBody>
      </p:sp>
      <p:sp>
        <p:nvSpPr>
          <p:cNvPr id="15" name="Shape 13"/>
          <p:cNvSpPr/>
          <p:nvPr/>
        </p:nvSpPr>
        <p:spPr>
          <a:xfrm>
            <a:off x="548640" y="3246120"/>
            <a:ext cx="3529584" cy="2423160"/>
          </a:xfrm>
          <a:prstGeom prst="roundRect">
            <a:avLst>
              <a:gd name="adj" fmla="val 3019"/>
            </a:avLst>
          </a:prstGeom>
          <a:solidFill>
            <a:srgbClr val="F4F7FA"/>
          </a:solidFill>
          <a:ln w="12700">
            <a:solidFill>
              <a:srgbClr val="DCEAF8"/>
            </a:solidFill>
            <a:prstDash val="solid"/>
          </a:ln>
          <a:effectLst>
            <a:outerShdw sx="100000" sy="100000" kx="0" ky="0" algn="bl" rotWithShape="0" blurRad="127000" dist="25400" dir="5400000">
              <a:srgbClr val="00175A">
                <a:alpha val="10000"/>
              </a:srgbClr>
            </a:outerShdw>
          </a:effectLst>
        </p:spPr>
      </p:sp>
      <p:sp>
        <p:nvSpPr>
          <p:cNvPr id="16" name="Text 14"/>
          <p:cNvSpPr txBox="1"/>
          <p:nvPr/>
        </p:nvSpPr>
        <p:spPr>
          <a:xfrm>
            <a:off x="822960" y="3456432"/>
            <a:ext cx="3017520" cy="320040"/>
          </a:xfrm>
          <a:prstGeom prst="rect">
            <a:avLst/>
          </a:prstGeom>
          <a:noFill/>
          <a:ln/>
        </p:spPr>
        <p:txBody>
          <a:bodyPr wrap="square" lIns="0" tIns="0" rIns="0" bIns="0" rtlCol="0" anchor="ctr"/>
          <a:lstStyle/>
          <a:p>
            <a:pPr indent="0" marL="0">
              <a:buNone/>
            </a:pPr>
            <a:r>
              <a:rPr lang="en-US" sz="1600" b="1" dirty="0">
                <a:solidFill>
                  <a:srgbClr val="00175A"/>
                </a:solidFill>
                <a:latin typeface="Cambria" pitchFamily="34" charset="0"/>
                <a:ea typeface="Cambria" pitchFamily="34" charset="-122"/>
                <a:cs typeface="Cambria" pitchFamily="34" charset="-120"/>
              </a:rPr>
              <a:t>What it could allow</a:t>
            </a:r>
            <a:endParaRPr lang="en-US" sz="1600" dirty="0"/>
          </a:p>
        </p:txBody>
      </p:sp>
      <p:sp>
        <p:nvSpPr>
          <p:cNvPr id="17" name="Text 15"/>
          <p:cNvSpPr txBox="1"/>
          <p:nvPr/>
        </p:nvSpPr>
        <p:spPr>
          <a:xfrm>
            <a:off x="822960" y="3840480"/>
            <a:ext cx="3017520" cy="1737360"/>
          </a:xfrm>
          <a:prstGeom prst="rect">
            <a:avLst/>
          </a:prstGeom>
          <a:noFill/>
          <a:ln/>
        </p:spPr>
        <p:txBody>
          <a:bodyPr wrap="square" lIns="0" tIns="0" rIns="0" bIns="0" rtlCol="0" anchor="ctr"/>
          <a:lstStyle/>
          <a:p>
            <a:pPr indent="0" marL="0">
              <a:lnSpc>
                <a:spcPts val="1600"/>
              </a:lnSpc>
              <a:buNone/>
            </a:pPr>
            <a:r>
              <a:rPr lang="en-US" sz="1200" dirty="0">
                <a:solidFill>
                  <a:srgbClr val="001233"/>
                </a:solidFill>
                <a:latin typeface="Calibri" pitchFamily="34" charset="0"/>
                <a:ea typeface="Calibri" pitchFamily="34" charset="-122"/>
                <a:cs typeface="Calibri" pitchFamily="34" charset="-120"/>
              </a:rPr>
              <a:t>During the window after the tool is pointed at a different data store, a user who is already valid there can be authorised against the previous store's rules. If the previous store had no rules at all, the fallback grants full read and write.</a:t>
            </a:r>
            <a:endParaRPr lang="en-US" sz="1200" dirty="0"/>
          </a:p>
        </p:txBody>
      </p:sp>
      <p:sp>
        <p:nvSpPr>
          <p:cNvPr id="18" name="Shape 16"/>
          <p:cNvSpPr/>
          <p:nvPr/>
        </p:nvSpPr>
        <p:spPr>
          <a:xfrm>
            <a:off x="4261104" y="3246120"/>
            <a:ext cx="3529584" cy="2423160"/>
          </a:xfrm>
          <a:prstGeom prst="roundRect">
            <a:avLst>
              <a:gd name="adj" fmla="val 3019"/>
            </a:avLst>
          </a:prstGeom>
          <a:solidFill>
            <a:srgbClr val="F4F7FA"/>
          </a:solidFill>
          <a:ln w="12700">
            <a:solidFill>
              <a:srgbClr val="DCEAF8"/>
            </a:solidFill>
            <a:prstDash val="solid"/>
          </a:ln>
          <a:effectLst>
            <a:outerShdw sx="100000" sy="100000" kx="0" ky="0" algn="bl" rotWithShape="0" blurRad="127000" dist="25400" dir="5400000">
              <a:srgbClr val="00175A">
                <a:alpha val="10000"/>
              </a:srgbClr>
            </a:outerShdw>
          </a:effectLst>
        </p:spPr>
      </p:sp>
      <p:sp>
        <p:nvSpPr>
          <p:cNvPr id="19" name="Text 17"/>
          <p:cNvSpPr txBox="1"/>
          <p:nvPr/>
        </p:nvSpPr>
        <p:spPr>
          <a:xfrm>
            <a:off x="4535424" y="3456432"/>
            <a:ext cx="3017520" cy="320040"/>
          </a:xfrm>
          <a:prstGeom prst="rect">
            <a:avLst/>
          </a:prstGeom>
          <a:noFill/>
          <a:ln/>
        </p:spPr>
        <p:txBody>
          <a:bodyPr wrap="square" lIns="0" tIns="0" rIns="0" bIns="0" rtlCol="0" anchor="ctr"/>
          <a:lstStyle/>
          <a:p>
            <a:pPr indent="0" marL="0">
              <a:buNone/>
            </a:pPr>
            <a:r>
              <a:rPr lang="en-US" sz="1600" b="1" dirty="0">
                <a:solidFill>
                  <a:srgbClr val="00175A"/>
                </a:solidFill>
                <a:latin typeface="Cambria" pitchFamily="34" charset="0"/>
                <a:ea typeface="Cambria" pitchFamily="34" charset="-122"/>
                <a:cs typeface="Cambria" pitchFamily="34" charset="-120"/>
              </a:rPr>
              <a:t>Why it stayed hidden</a:t>
            </a:r>
            <a:endParaRPr lang="en-US" sz="1600" dirty="0"/>
          </a:p>
        </p:txBody>
      </p:sp>
      <p:sp>
        <p:nvSpPr>
          <p:cNvPr id="20" name="Text 18"/>
          <p:cNvSpPr txBox="1"/>
          <p:nvPr/>
        </p:nvSpPr>
        <p:spPr>
          <a:xfrm>
            <a:off x="4535424" y="3840480"/>
            <a:ext cx="3017520" cy="1737360"/>
          </a:xfrm>
          <a:prstGeom prst="rect">
            <a:avLst/>
          </a:prstGeom>
          <a:noFill/>
          <a:ln/>
        </p:spPr>
        <p:txBody>
          <a:bodyPr wrap="square" lIns="0" tIns="0" rIns="0" bIns="0" rtlCol="0" anchor="ctr"/>
          <a:lstStyle/>
          <a:p>
            <a:pPr indent="0" marL="0">
              <a:lnSpc>
                <a:spcPts val="1600"/>
              </a:lnSpc>
              <a:buNone/>
            </a:pPr>
            <a:r>
              <a:rPr lang="en-US" sz="1200" dirty="0">
                <a:solidFill>
                  <a:srgbClr val="001233"/>
                </a:solidFill>
                <a:latin typeface="Calibri" pitchFamily="34" charset="0"/>
                <a:ea typeface="Calibri" pitchFamily="34" charset="-122"/>
                <a:cs typeface="Calibri" pitchFamily="34" charset="-120"/>
              </a:rPr>
              <a:t>The project's issue tracker holds no report, no pull request and no fix for it. The project's own test suite has no test that switches data stores, so the case was never exercised.</a:t>
            </a:r>
            <a:endParaRPr lang="en-US" sz="1200" dirty="0"/>
          </a:p>
        </p:txBody>
      </p:sp>
      <p:sp>
        <p:nvSpPr>
          <p:cNvPr id="21" name="Shape 19"/>
          <p:cNvSpPr/>
          <p:nvPr/>
        </p:nvSpPr>
        <p:spPr>
          <a:xfrm>
            <a:off x="7973568" y="3246120"/>
            <a:ext cx="3529584" cy="2423160"/>
          </a:xfrm>
          <a:prstGeom prst="roundRect">
            <a:avLst>
              <a:gd name="adj" fmla="val 3019"/>
            </a:avLst>
          </a:prstGeom>
          <a:solidFill>
            <a:srgbClr val="F4F7FA"/>
          </a:solidFill>
          <a:ln w="12700">
            <a:solidFill>
              <a:srgbClr val="DCEAF8"/>
            </a:solidFill>
            <a:prstDash val="solid"/>
          </a:ln>
          <a:effectLst>
            <a:outerShdw sx="100000" sy="100000" kx="0" ky="0" algn="bl" rotWithShape="0" blurRad="127000" dist="25400" dir="5400000">
              <a:srgbClr val="00175A">
                <a:alpha val="10000"/>
              </a:srgbClr>
            </a:outerShdw>
          </a:effectLst>
        </p:spPr>
      </p:sp>
      <p:sp>
        <p:nvSpPr>
          <p:cNvPr id="22" name="Text 20"/>
          <p:cNvSpPr txBox="1"/>
          <p:nvPr/>
        </p:nvSpPr>
        <p:spPr>
          <a:xfrm>
            <a:off x="8247888" y="3456432"/>
            <a:ext cx="3017520" cy="320040"/>
          </a:xfrm>
          <a:prstGeom prst="rect">
            <a:avLst/>
          </a:prstGeom>
          <a:noFill/>
          <a:ln/>
        </p:spPr>
        <p:txBody>
          <a:bodyPr wrap="square" lIns="0" tIns="0" rIns="0" bIns="0" rtlCol="0" anchor="ctr"/>
          <a:lstStyle/>
          <a:p>
            <a:pPr indent="0" marL="0">
              <a:buNone/>
            </a:pPr>
            <a:r>
              <a:rPr lang="en-US" sz="1600" b="1" dirty="0">
                <a:solidFill>
                  <a:srgbClr val="00175A"/>
                </a:solidFill>
                <a:latin typeface="Cambria" pitchFamily="34" charset="0"/>
                <a:ea typeface="Cambria" pitchFamily="34" charset="-122"/>
                <a:cs typeface="Cambria" pitchFamily="34" charset="-120"/>
              </a:rPr>
              <a:t>Why the harness caught it</a:t>
            </a:r>
            <a:endParaRPr lang="en-US" sz="1600" dirty="0"/>
          </a:p>
        </p:txBody>
      </p:sp>
      <p:sp>
        <p:nvSpPr>
          <p:cNvPr id="23" name="Text 21"/>
          <p:cNvSpPr txBox="1"/>
          <p:nvPr/>
        </p:nvSpPr>
        <p:spPr>
          <a:xfrm>
            <a:off x="8247888" y="3840480"/>
            <a:ext cx="3017520" cy="1737360"/>
          </a:xfrm>
          <a:prstGeom prst="rect">
            <a:avLst/>
          </a:prstGeom>
          <a:noFill/>
          <a:ln/>
        </p:spPr>
        <p:txBody>
          <a:bodyPr wrap="square" lIns="0" tIns="0" rIns="0" bIns="0" rtlCol="0" anchor="ctr"/>
          <a:lstStyle/>
          <a:p>
            <a:pPr indent="0" marL="0">
              <a:lnSpc>
                <a:spcPts val="1600"/>
              </a:lnSpc>
              <a:buNone/>
            </a:pPr>
            <a:r>
              <a:rPr lang="en-US" sz="1200" dirty="0">
                <a:solidFill>
                  <a:srgbClr val="001233"/>
                </a:solidFill>
                <a:latin typeface="Calibri" pitchFamily="34" charset="0"/>
                <a:ea typeface="Calibri" pitchFamily="34" charset="-122"/>
                <a:cs typeface="Calibri" pitchFamily="34" charset="-120"/>
              </a:rPr>
              <a:t>The defect is not a suspicious pattern. It only appears once you follow how one value is set and where it is read, which is exactly what the harness models and a text scanner cannot.</a:t>
            </a:r>
            <a:endParaRPr lang="en-US" sz="1200" dirty="0"/>
          </a:p>
        </p:txBody>
      </p:sp>
      <p:sp>
        <p:nvSpPr>
          <p:cNvPr id="24" name="Text 22"/>
          <p:cNvSpPr txBox="1"/>
          <p:nvPr/>
        </p:nvSpPr>
        <p:spPr>
          <a:xfrm>
            <a:off x="548640" y="5852160"/>
            <a:ext cx="11094415" cy="320040"/>
          </a:xfrm>
          <a:prstGeom prst="rect">
            <a:avLst/>
          </a:prstGeom>
          <a:noFill/>
          <a:ln/>
        </p:spPr>
        <p:txBody>
          <a:bodyPr wrap="square" lIns="0" tIns="0" rIns="0" bIns="0" rtlCol="0" anchor="ctr"/>
          <a:lstStyle/>
          <a:p>
            <a:pPr indent="0" marL="0">
              <a:buNone/>
            </a:pPr>
            <a:r>
              <a:rPr lang="en-US" sz="1200" i="1" dirty="0">
                <a:solidFill>
                  <a:srgbClr val="53565A"/>
                </a:solidFill>
                <a:latin typeface="Calibri" pitchFamily="34" charset="0"/>
                <a:ea typeface="Calibri" pitchFamily="34" charset="-122"/>
                <a:cs typeface="Calibri" pitchFamily="34" charset="-120"/>
              </a:rPr>
              <a:t>Scoped precisely: this raises what an existing valid user can reach. Sign in itself is unaffected.</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1094415" cy="256032"/>
          </a:xfrm>
          <a:prstGeom prst="rect">
            <a:avLst/>
          </a:prstGeom>
          <a:noFill/>
          <a:ln/>
        </p:spPr>
        <p:txBody>
          <a:bodyPr wrap="square" lIns="0" tIns="0" rIns="0" bIns="0" rtlCol="0" anchor="ctr"/>
          <a:lstStyle/>
          <a:p>
            <a:pPr indent="0" marL="0">
              <a:buNone/>
            </a:pPr>
            <a:r>
              <a:rPr lang="en-US" sz="1100" b="1" spc="200" kern="0" dirty="0">
                <a:solidFill>
                  <a:srgbClr val="53565A"/>
                </a:solidFill>
                <a:latin typeface="Calibri" pitchFamily="34" charset="0"/>
                <a:ea typeface="Calibri" pitchFamily="34" charset="-122"/>
                <a:cs typeface="Calibri" pitchFamily="34" charset="-120"/>
              </a:rPr>
              <a:t>QUANTITATIVE RECORD</a:t>
            </a:r>
            <a:endParaRPr lang="en-US" sz="1100" dirty="0"/>
          </a:p>
        </p:txBody>
      </p:sp>
      <p:sp>
        <p:nvSpPr>
          <p:cNvPr id="3" name="Text 1"/>
          <p:cNvSpPr txBox="1"/>
          <p:nvPr/>
        </p:nvSpPr>
        <p:spPr>
          <a:xfrm>
            <a:off x="548640" y="603504"/>
            <a:ext cx="11094415" cy="566928"/>
          </a:xfrm>
          <a:prstGeom prst="rect">
            <a:avLst/>
          </a:prstGeom>
          <a:noFill/>
          <a:ln/>
        </p:spPr>
        <p:txBody>
          <a:bodyPr wrap="square" lIns="0" tIns="0" rIns="0" bIns="0" rtlCol="0" anchor="ctr"/>
          <a:lstStyle/>
          <a:p>
            <a:pPr indent="0" marL="0">
              <a:buNone/>
            </a:pPr>
            <a:r>
              <a:rPr lang="en-US" sz="3200" b="1" dirty="0">
                <a:solidFill>
                  <a:srgbClr val="00175A"/>
                </a:solidFill>
                <a:latin typeface="Cambria" pitchFamily="34" charset="0"/>
                <a:ea typeface="Cambria" pitchFamily="34" charset="-122"/>
                <a:cs typeface="Cambria" pitchFamily="34" charset="-120"/>
              </a:rPr>
              <a:t>How accurate has it been so far?</a:t>
            </a:r>
            <a:endParaRPr lang="en-US" sz="3200" dirty="0"/>
          </a:p>
        </p:txBody>
      </p:sp>
      <p:sp>
        <p:nvSpPr>
          <p:cNvPr id="4" name="Text 2"/>
          <p:cNvSpPr txBox="1"/>
          <p:nvPr/>
        </p:nvSpPr>
        <p:spPr>
          <a:xfrm>
            <a:off x="548640" y="1188720"/>
            <a:ext cx="10728655" cy="384048"/>
          </a:xfrm>
          <a:prstGeom prst="rect">
            <a:avLst/>
          </a:prstGeom>
          <a:noFill/>
          <a:ln/>
        </p:spPr>
        <p:txBody>
          <a:bodyPr wrap="square" lIns="0" tIns="0" rIns="0" bIns="0" rtlCol="0" anchor="ctr"/>
          <a:lstStyle/>
          <a:p>
            <a:pPr indent="0" marL="0">
              <a:buNone/>
            </a:pPr>
            <a:r>
              <a:rPr lang="en-US" sz="1400" dirty="0">
                <a:solidFill>
                  <a:srgbClr val="53565A"/>
                </a:solidFill>
                <a:latin typeface="Calibri" pitchFamily="34" charset="0"/>
                <a:ea typeface="Calibri" pitchFamily="34" charset="-122"/>
                <a:cs typeface="Calibri" pitchFamily="34" charset="-120"/>
              </a:rPr>
              <a:t>Measured on the benchmark corpus, where every finding was chased to a conclusion.</a:t>
            </a:r>
            <a:endParaRPr lang="en-US" sz="1400" dirty="0"/>
          </a:p>
        </p:txBody>
      </p:sp>
      <p:graphicFrame>
        <p:nvGraphicFramePr>
          <p:cNvPr id="5" name="Chart 0" descr=""/>
          <p:cNvGraphicFramePr/>
          <p:nvPr/>
        </p:nvGraphicFramePr>
        <p:xfrm>
          <a:off x="548640" y="1874520"/>
          <a:ext cx="6492240" cy="3566160"/>
        </p:xfrm>
        <a:graphic xmlns:a="http://schemas.openxmlformats.org/drawingml/2006/main">
          <a:graphicData uri="http://schemas.openxmlformats.org/drawingml/2006/chart">
            <c:chart xmlns:c="http://schemas.openxmlformats.org/drawingml/2006/chart" r:id="rId3"/>
          </a:graphicData>
        </a:graphic>
      </p:graphicFrame>
      <p:sp>
        <p:nvSpPr>
          <p:cNvPr id="6" name="Shape 3"/>
          <p:cNvSpPr/>
          <p:nvPr/>
        </p:nvSpPr>
        <p:spPr>
          <a:xfrm>
            <a:off x="7269480" y="1965960"/>
            <a:ext cx="4370832" cy="1024128"/>
          </a:xfrm>
          <a:prstGeom prst="roundRect">
            <a:avLst>
              <a:gd name="adj" fmla="val 7143"/>
            </a:avLst>
          </a:prstGeom>
          <a:solidFill>
            <a:srgbClr val="F4F7FA"/>
          </a:solidFill>
          <a:ln w="12700">
            <a:solidFill>
              <a:srgbClr val="DCEAF8"/>
            </a:solidFill>
            <a:prstDash val="solid"/>
          </a:ln>
          <a:effectLst>
            <a:outerShdw sx="100000" sy="100000" kx="0" ky="0" algn="bl" rotWithShape="0" blurRad="127000" dist="25400" dir="5400000">
              <a:srgbClr val="00175A">
                <a:alpha val="10000"/>
              </a:srgbClr>
            </a:outerShdw>
          </a:effectLst>
        </p:spPr>
      </p:sp>
      <p:sp>
        <p:nvSpPr>
          <p:cNvPr id="7" name="Text 4"/>
          <p:cNvSpPr txBox="1"/>
          <p:nvPr/>
        </p:nvSpPr>
        <p:spPr>
          <a:xfrm>
            <a:off x="7498080" y="2075688"/>
            <a:ext cx="1005840" cy="777240"/>
          </a:xfrm>
          <a:prstGeom prst="rect">
            <a:avLst/>
          </a:prstGeom>
          <a:noFill/>
          <a:ln/>
        </p:spPr>
        <p:txBody>
          <a:bodyPr wrap="square" lIns="0" tIns="0" rIns="0" bIns="0" rtlCol="0" anchor="ctr"/>
          <a:lstStyle/>
          <a:p>
            <a:pPr indent="0" marL="0">
              <a:buNone/>
            </a:pPr>
            <a:r>
              <a:rPr lang="en-US" sz="2800" b="1" dirty="0">
                <a:solidFill>
                  <a:srgbClr val="006FCF"/>
                </a:solidFill>
                <a:latin typeface="Cambria" pitchFamily="34" charset="0"/>
                <a:ea typeface="Cambria" pitchFamily="34" charset="-122"/>
                <a:cs typeface="Cambria" pitchFamily="34" charset="-120"/>
              </a:rPr>
              <a:t>89%</a:t>
            </a:r>
            <a:endParaRPr lang="en-US" sz="2800" dirty="0"/>
          </a:p>
        </p:txBody>
      </p:sp>
      <p:sp>
        <p:nvSpPr>
          <p:cNvPr id="8" name="Text 5"/>
          <p:cNvSpPr txBox="1"/>
          <p:nvPr/>
        </p:nvSpPr>
        <p:spPr>
          <a:xfrm>
            <a:off x="8549640" y="2075688"/>
            <a:ext cx="2926080" cy="822960"/>
          </a:xfrm>
          <a:prstGeom prst="rect">
            <a:avLst/>
          </a:prstGeom>
          <a:noFill/>
          <a:ln/>
        </p:spPr>
        <p:txBody>
          <a:bodyPr wrap="square" lIns="0" tIns="0" rIns="0" bIns="0" rtlCol="0" anchor="ctr"/>
          <a:lstStyle/>
          <a:p>
            <a:pPr indent="0" marL="0">
              <a:lnSpc>
                <a:spcPts val="1500"/>
              </a:lnSpc>
              <a:buNone/>
            </a:pPr>
            <a:r>
              <a:rPr lang="en-US" sz="1150" dirty="0">
                <a:solidFill>
                  <a:srgbClr val="001233"/>
                </a:solidFill>
                <a:latin typeface="Calibri" pitchFamily="34" charset="0"/>
                <a:ea typeface="Calibri" pitchFamily="34" charset="-122"/>
                <a:cs typeface="Calibri" pitchFamily="34" charset="-120"/>
              </a:rPr>
              <a:t>of findings were genuinely real defects at the point they were found. This is reader accuracy.</a:t>
            </a:r>
            <a:endParaRPr lang="en-US" sz="1150" dirty="0"/>
          </a:p>
        </p:txBody>
      </p:sp>
      <p:sp>
        <p:nvSpPr>
          <p:cNvPr id="9" name="Shape 6"/>
          <p:cNvSpPr/>
          <p:nvPr/>
        </p:nvSpPr>
        <p:spPr>
          <a:xfrm>
            <a:off x="7269480" y="3154680"/>
            <a:ext cx="4370832" cy="1024128"/>
          </a:xfrm>
          <a:prstGeom prst="roundRect">
            <a:avLst>
              <a:gd name="adj" fmla="val 7143"/>
            </a:avLst>
          </a:prstGeom>
          <a:solidFill>
            <a:srgbClr val="F4F7FA"/>
          </a:solidFill>
          <a:ln w="12700">
            <a:solidFill>
              <a:srgbClr val="DCEAF8"/>
            </a:solidFill>
            <a:prstDash val="solid"/>
          </a:ln>
          <a:effectLst>
            <a:outerShdw sx="100000" sy="100000" kx="0" ky="0" algn="bl" rotWithShape="0" blurRad="127000" dist="25400" dir="5400000">
              <a:srgbClr val="00175A">
                <a:alpha val="10000"/>
              </a:srgbClr>
            </a:outerShdw>
          </a:effectLst>
        </p:spPr>
      </p:sp>
      <p:sp>
        <p:nvSpPr>
          <p:cNvPr id="10" name="Text 7"/>
          <p:cNvSpPr txBox="1"/>
          <p:nvPr/>
        </p:nvSpPr>
        <p:spPr>
          <a:xfrm>
            <a:off x="7498080" y="3264408"/>
            <a:ext cx="1005840" cy="777240"/>
          </a:xfrm>
          <a:prstGeom prst="rect">
            <a:avLst/>
          </a:prstGeom>
          <a:noFill/>
          <a:ln/>
        </p:spPr>
        <p:txBody>
          <a:bodyPr wrap="square" lIns="0" tIns="0" rIns="0" bIns="0" rtlCol="0" anchor="ctr"/>
          <a:lstStyle/>
          <a:p>
            <a:pPr indent="0" marL="0">
              <a:buNone/>
            </a:pPr>
            <a:r>
              <a:rPr lang="en-US" sz="2800" b="1" dirty="0">
                <a:solidFill>
                  <a:srgbClr val="006FCF"/>
                </a:solidFill>
                <a:latin typeface="Cambria" pitchFamily="34" charset="0"/>
                <a:ea typeface="Cambria" pitchFamily="34" charset="-122"/>
                <a:cs typeface="Cambria" pitchFamily="34" charset="-120"/>
              </a:rPr>
              <a:t>68%</a:t>
            </a:r>
            <a:endParaRPr lang="en-US" sz="2800" dirty="0"/>
          </a:p>
        </p:txBody>
      </p:sp>
      <p:sp>
        <p:nvSpPr>
          <p:cNvPr id="11" name="Text 8"/>
          <p:cNvSpPr txBox="1"/>
          <p:nvPr/>
        </p:nvSpPr>
        <p:spPr>
          <a:xfrm>
            <a:off x="8549640" y="3264408"/>
            <a:ext cx="2926080" cy="822960"/>
          </a:xfrm>
          <a:prstGeom prst="rect">
            <a:avLst/>
          </a:prstGeom>
          <a:noFill/>
          <a:ln/>
        </p:spPr>
        <p:txBody>
          <a:bodyPr wrap="square" lIns="0" tIns="0" rIns="0" bIns="0" rtlCol="0" anchor="ctr"/>
          <a:lstStyle/>
          <a:p>
            <a:pPr indent="0" marL="0">
              <a:lnSpc>
                <a:spcPts val="1500"/>
              </a:lnSpc>
              <a:buNone/>
            </a:pPr>
            <a:r>
              <a:rPr lang="en-US" sz="1150" dirty="0">
                <a:solidFill>
                  <a:srgbClr val="001233"/>
                </a:solidFill>
                <a:latin typeface="Calibri" pitchFamily="34" charset="0"/>
                <a:ea typeface="Calibri" pitchFamily="34" charset="-122"/>
                <a:cs typeface="Calibri" pitchFamily="34" charset="-120"/>
              </a:rPr>
              <a:t>are still unfixed in the current public release. This is the number a maintainer or a buyer cares about.</a:t>
            </a:r>
            <a:endParaRPr lang="en-US" sz="1150" dirty="0"/>
          </a:p>
        </p:txBody>
      </p:sp>
      <p:sp>
        <p:nvSpPr>
          <p:cNvPr id="12" name="Shape 9"/>
          <p:cNvSpPr/>
          <p:nvPr/>
        </p:nvSpPr>
        <p:spPr>
          <a:xfrm>
            <a:off x="7269480" y="4343400"/>
            <a:ext cx="4370832" cy="1024128"/>
          </a:xfrm>
          <a:prstGeom prst="roundRect">
            <a:avLst>
              <a:gd name="adj" fmla="val 7143"/>
            </a:avLst>
          </a:prstGeom>
          <a:solidFill>
            <a:srgbClr val="F4F7FA"/>
          </a:solidFill>
          <a:ln w="12700">
            <a:solidFill>
              <a:srgbClr val="DCEAF8"/>
            </a:solidFill>
            <a:prstDash val="solid"/>
          </a:ln>
          <a:effectLst>
            <a:outerShdw sx="100000" sy="100000" kx="0" ky="0" algn="bl" rotWithShape="0" blurRad="127000" dist="25400" dir="5400000">
              <a:srgbClr val="00175A">
                <a:alpha val="10000"/>
              </a:srgbClr>
            </a:outerShdw>
          </a:effectLst>
        </p:spPr>
      </p:sp>
      <p:sp>
        <p:nvSpPr>
          <p:cNvPr id="13" name="Text 10"/>
          <p:cNvSpPr txBox="1"/>
          <p:nvPr/>
        </p:nvSpPr>
        <p:spPr>
          <a:xfrm>
            <a:off x="7498080" y="4453128"/>
            <a:ext cx="1005840" cy="777240"/>
          </a:xfrm>
          <a:prstGeom prst="rect">
            <a:avLst/>
          </a:prstGeom>
          <a:noFill/>
          <a:ln/>
        </p:spPr>
        <p:txBody>
          <a:bodyPr wrap="square" lIns="0" tIns="0" rIns="0" bIns="0" rtlCol="0" anchor="ctr"/>
          <a:lstStyle/>
          <a:p>
            <a:pPr indent="0" marL="0">
              <a:buNone/>
            </a:pPr>
            <a:r>
              <a:rPr lang="en-US" sz="2800" b="1" dirty="0">
                <a:solidFill>
                  <a:srgbClr val="006FCF"/>
                </a:solidFill>
                <a:latin typeface="Cambria" pitchFamily="34" charset="0"/>
                <a:ea typeface="Cambria" pitchFamily="34" charset="-122"/>
                <a:cs typeface="Cambria" pitchFamily="34" charset="-120"/>
              </a:rPr>
              <a:t>0</a:t>
            </a:r>
            <a:endParaRPr lang="en-US" sz="2800" dirty="0"/>
          </a:p>
        </p:txBody>
      </p:sp>
      <p:sp>
        <p:nvSpPr>
          <p:cNvPr id="14" name="Text 11"/>
          <p:cNvSpPr txBox="1"/>
          <p:nvPr/>
        </p:nvSpPr>
        <p:spPr>
          <a:xfrm>
            <a:off x="8549640" y="4453128"/>
            <a:ext cx="2926080" cy="822960"/>
          </a:xfrm>
          <a:prstGeom prst="rect">
            <a:avLst/>
          </a:prstGeom>
          <a:noFill/>
          <a:ln/>
        </p:spPr>
        <p:txBody>
          <a:bodyPr wrap="square" lIns="0" tIns="0" rIns="0" bIns="0" rtlCol="0" anchor="ctr"/>
          <a:lstStyle/>
          <a:p>
            <a:pPr indent="0" marL="0">
              <a:lnSpc>
                <a:spcPts val="1500"/>
              </a:lnSpc>
              <a:buNone/>
            </a:pPr>
            <a:r>
              <a:rPr lang="en-US" sz="1150" dirty="0">
                <a:solidFill>
                  <a:srgbClr val="001233"/>
                </a:solidFill>
                <a:latin typeface="Calibri" pitchFamily="34" charset="0"/>
                <a:ea typeface="Calibri" pitchFamily="34" charset="-122"/>
                <a:cs typeface="Calibri" pitchFamily="34" charset="-120"/>
              </a:rPr>
              <a:t>cases were left undetermined. Every single one was chased to a conclusion.</a:t>
            </a:r>
            <a:endParaRPr lang="en-US" sz="1150" dirty="0"/>
          </a:p>
        </p:txBody>
      </p:sp>
      <p:sp>
        <p:nvSpPr>
          <p:cNvPr id="15" name="Text 12"/>
          <p:cNvSpPr txBox="1"/>
          <p:nvPr/>
        </p:nvSpPr>
        <p:spPr>
          <a:xfrm>
            <a:off x="548640" y="5623560"/>
            <a:ext cx="11094415" cy="548640"/>
          </a:xfrm>
          <a:prstGeom prst="rect">
            <a:avLst/>
          </a:prstGeom>
          <a:noFill/>
          <a:ln/>
        </p:spPr>
        <p:txBody>
          <a:bodyPr wrap="square" lIns="0" tIns="0" rIns="0" bIns="0" rtlCol="0" anchor="ctr"/>
          <a:lstStyle/>
          <a:p>
            <a:pPr indent="0" marL="0">
              <a:lnSpc>
                <a:spcPts val="1600"/>
              </a:lnSpc>
              <a:buNone/>
            </a:pPr>
            <a:r>
              <a:rPr lang="en-US" sz="1200" i="1" dirty="0">
                <a:solidFill>
                  <a:srgbClr val="53565A"/>
                </a:solidFill>
                <a:latin typeface="Calibri" pitchFamily="34" charset="0"/>
                <a:ea typeface="Calibri" pitchFamily="34" charset="-122"/>
                <a:cs typeface="Calibri" pitchFamily="34" charset="-120"/>
              </a:rPr>
              <a:t>A correct finding does not become wrong because a maintainer later repairs it. Reader accuracy and live count are reported separately for that reason.</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1094415" cy="256032"/>
          </a:xfrm>
          <a:prstGeom prst="rect">
            <a:avLst/>
          </a:prstGeom>
          <a:noFill/>
          <a:ln/>
        </p:spPr>
        <p:txBody>
          <a:bodyPr wrap="square" lIns="0" tIns="0" rIns="0" bIns="0" rtlCol="0" anchor="ctr"/>
          <a:lstStyle/>
          <a:p>
            <a:pPr indent="0" marL="0">
              <a:buNone/>
            </a:pPr>
            <a:r>
              <a:rPr lang="en-US" sz="1100" b="1" spc="200" kern="0" dirty="0">
                <a:solidFill>
                  <a:srgbClr val="53565A"/>
                </a:solidFill>
                <a:latin typeface="Calibri" pitchFamily="34" charset="0"/>
                <a:ea typeface="Calibri" pitchFamily="34" charset="-122"/>
                <a:cs typeface="Calibri" pitchFamily="34" charset="-120"/>
              </a:rPr>
              <a:t>CAPABILITY</a:t>
            </a:r>
            <a:endParaRPr lang="en-US" sz="1100" dirty="0"/>
          </a:p>
        </p:txBody>
      </p:sp>
      <p:sp>
        <p:nvSpPr>
          <p:cNvPr id="3" name="Text 1"/>
          <p:cNvSpPr txBox="1"/>
          <p:nvPr/>
        </p:nvSpPr>
        <p:spPr>
          <a:xfrm>
            <a:off x="548640" y="603504"/>
            <a:ext cx="11094415" cy="566928"/>
          </a:xfrm>
          <a:prstGeom prst="rect">
            <a:avLst/>
          </a:prstGeom>
          <a:noFill/>
          <a:ln/>
        </p:spPr>
        <p:txBody>
          <a:bodyPr wrap="square" lIns="0" tIns="0" rIns="0" bIns="0" rtlCol="0" anchor="ctr"/>
          <a:lstStyle/>
          <a:p>
            <a:pPr indent="0" marL="0">
              <a:buNone/>
            </a:pPr>
            <a:r>
              <a:rPr lang="en-US" sz="3200" b="1" dirty="0">
                <a:solidFill>
                  <a:srgbClr val="00175A"/>
                </a:solidFill>
                <a:latin typeface="Cambria" pitchFamily="34" charset="0"/>
                <a:ea typeface="Cambria" pitchFamily="34" charset="-122"/>
                <a:cs typeface="Cambria" pitchFamily="34" charset="-120"/>
              </a:rPr>
              <a:t>What this gives us</a:t>
            </a:r>
            <a:endParaRPr lang="en-US" sz="3200" dirty="0"/>
          </a:p>
        </p:txBody>
      </p:sp>
      <p:sp>
        <p:nvSpPr>
          <p:cNvPr id="4" name="Text 2"/>
          <p:cNvSpPr txBox="1"/>
          <p:nvPr/>
        </p:nvSpPr>
        <p:spPr>
          <a:xfrm>
            <a:off x="548640" y="1188720"/>
            <a:ext cx="10728655" cy="384048"/>
          </a:xfrm>
          <a:prstGeom prst="rect">
            <a:avLst/>
          </a:prstGeom>
          <a:noFill/>
          <a:ln/>
        </p:spPr>
        <p:txBody>
          <a:bodyPr wrap="square" lIns="0" tIns="0" rIns="0" bIns="0" rtlCol="0" anchor="ctr"/>
          <a:lstStyle/>
          <a:p>
            <a:pPr indent="0" marL="0">
              <a:buNone/>
            </a:pPr>
            <a:r>
              <a:rPr lang="en-US" sz="1400" dirty="0">
                <a:solidFill>
                  <a:srgbClr val="53565A"/>
                </a:solidFill>
                <a:latin typeface="Calibri" pitchFamily="34" charset="0"/>
                <a:ea typeface="Calibri" pitchFamily="34" charset="-122"/>
                <a:cs typeface="Calibri" pitchFamily="34" charset="-120"/>
              </a:rPr>
              <a:t>Three things this brief demonstrates that a conventional scanning tool does not.</a:t>
            </a:r>
            <a:endParaRPr lang="en-US" sz="1400" dirty="0"/>
          </a:p>
        </p:txBody>
      </p:sp>
      <p:sp>
        <p:nvSpPr>
          <p:cNvPr id="5" name="Shape 3"/>
          <p:cNvSpPr/>
          <p:nvPr/>
        </p:nvSpPr>
        <p:spPr>
          <a:xfrm>
            <a:off x="548640" y="1828800"/>
            <a:ext cx="11094415" cy="1188720"/>
          </a:xfrm>
          <a:prstGeom prst="roundRect">
            <a:avLst>
              <a:gd name="adj" fmla="val 6154"/>
            </a:avLst>
          </a:prstGeom>
          <a:solidFill>
            <a:srgbClr val="F4F7FA"/>
          </a:solidFill>
          <a:ln w="12700">
            <a:solidFill>
              <a:srgbClr val="DCEAF8"/>
            </a:solidFill>
            <a:prstDash val="solid"/>
          </a:ln>
          <a:effectLst>
            <a:outerShdw sx="100000" sy="100000" kx="0" ky="0" algn="bl" rotWithShape="0" blurRad="127000" dist="25400" dir="5400000">
              <a:srgbClr val="00175A">
                <a:alpha val="10000"/>
              </a:srgbClr>
            </a:outerShdw>
          </a:effectLst>
        </p:spPr>
      </p:sp>
      <p:sp>
        <p:nvSpPr>
          <p:cNvPr id="6" name="Shape 4"/>
          <p:cNvSpPr/>
          <p:nvPr/>
        </p:nvSpPr>
        <p:spPr>
          <a:xfrm>
            <a:off x="868680" y="2185416"/>
            <a:ext cx="475488" cy="475488"/>
          </a:xfrm>
          <a:prstGeom prst="ellipse">
            <a:avLst/>
          </a:prstGeom>
          <a:solidFill>
            <a:srgbClr val="00175A"/>
          </a:solidFill>
          <a:ln w="12700">
            <a:solidFill>
              <a:srgbClr val="00175A"/>
            </a:solidFill>
            <a:prstDash val="solid"/>
          </a:ln>
        </p:spPr>
      </p:sp>
      <p:sp>
        <p:nvSpPr>
          <p:cNvPr id="7" name="Text 5"/>
          <p:cNvSpPr txBox="1"/>
          <p:nvPr/>
        </p:nvSpPr>
        <p:spPr>
          <a:xfrm>
            <a:off x="868680" y="2185416"/>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1600200" y="2011680"/>
            <a:ext cx="9692640" cy="320040"/>
          </a:xfrm>
          <a:prstGeom prst="rect">
            <a:avLst/>
          </a:prstGeom>
          <a:noFill/>
          <a:ln/>
        </p:spPr>
        <p:txBody>
          <a:bodyPr wrap="square" lIns="0" tIns="0" rIns="0" bIns="0" rtlCol="0" anchor="ctr"/>
          <a:lstStyle/>
          <a:p>
            <a:pPr indent="0" marL="0">
              <a:buNone/>
            </a:pPr>
            <a:r>
              <a:rPr lang="en-US" sz="1700" b="1" dirty="0">
                <a:solidFill>
                  <a:srgbClr val="00175A"/>
                </a:solidFill>
                <a:latin typeface="Cambria" pitchFamily="34" charset="0"/>
                <a:ea typeface="Cambria" pitchFamily="34" charset="-122"/>
                <a:cs typeface="Cambria" pitchFamily="34" charset="-120"/>
              </a:rPr>
              <a:t>Depth</a:t>
            </a:r>
            <a:endParaRPr lang="en-US" sz="1700" dirty="0"/>
          </a:p>
        </p:txBody>
      </p:sp>
      <p:sp>
        <p:nvSpPr>
          <p:cNvPr id="9" name="Text 7"/>
          <p:cNvSpPr txBox="1"/>
          <p:nvPr/>
        </p:nvSpPr>
        <p:spPr>
          <a:xfrm>
            <a:off x="1600200" y="2377440"/>
            <a:ext cx="9692640" cy="548640"/>
          </a:xfrm>
          <a:prstGeom prst="rect">
            <a:avLst/>
          </a:prstGeom>
          <a:noFill/>
          <a:ln/>
        </p:spPr>
        <p:txBody>
          <a:bodyPr wrap="square" lIns="0" tIns="0" rIns="0" bIns="0" rtlCol="0" anchor="ctr"/>
          <a:lstStyle/>
          <a:p>
            <a:pPr indent="0" marL="0">
              <a:lnSpc>
                <a:spcPts val="1700"/>
              </a:lnSpc>
              <a:buNone/>
            </a:pPr>
            <a:r>
              <a:rPr lang="en-US" sz="1300" dirty="0">
                <a:solidFill>
                  <a:srgbClr val="001233"/>
                </a:solidFill>
                <a:latin typeface="Calibri" pitchFamily="34" charset="0"/>
                <a:ea typeface="Calibri" pitchFamily="34" charset="-122"/>
                <a:cs typeface="Calibri" pitchFamily="34" charset="-120"/>
              </a:rPr>
              <a:t>It reaches defects that human review, existing scanners and the projects' own test suites all passed over, in one case for five years running.</a:t>
            </a:r>
            <a:endParaRPr lang="en-US" sz="1300" dirty="0"/>
          </a:p>
        </p:txBody>
      </p:sp>
      <p:sp>
        <p:nvSpPr>
          <p:cNvPr id="10" name="Shape 8"/>
          <p:cNvSpPr/>
          <p:nvPr/>
        </p:nvSpPr>
        <p:spPr>
          <a:xfrm>
            <a:off x="548640" y="3127248"/>
            <a:ext cx="11094415" cy="1188720"/>
          </a:xfrm>
          <a:prstGeom prst="roundRect">
            <a:avLst>
              <a:gd name="adj" fmla="val 6154"/>
            </a:avLst>
          </a:prstGeom>
          <a:solidFill>
            <a:srgbClr val="F4F7FA"/>
          </a:solidFill>
          <a:ln w="12700">
            <a:solidFill>
              <a:srgbClr val="DCEAF8"/>
            </a:solidFill>
            <a:prstDash val="solid"/>
          </a:ln>
          <a:effectLst>
            <a:outerShdw sx="100000" sy="100000" kx="0" ky="0" algn="bl" rotWithShape="0" blurRad="127000" dist="25400" dir="5400000">
              <a:srgbClr val="00175A">
                <a:alpha val="10000"/>
              </a:srgbClr>
            </a:outerShdw>
          </a:effectLst>
        </p:spPr>
      </p:sp>
      <p:sp>
        <p:nvSpPr>
          <p:cNvPr id="11" name="Shape 9"/>
          <p:cNvSpPr/>
          <p:nvPr/>
        </p:nvSpPr>
        <p:spPr>
          <a:xfrm>
            <a:off x="868680" y="3483864"/>
            <a:ext cx="475488" cy="475488"/>
          </a:xfrm>
          <a:prstGeom prst="ellipse">
            <a:avLst/>
          </a:prstGeom>
          <a:solidFill>
            <a:srgbClr val="00175A"/>
          </a:solidFill>
          <a:ln w="12700">
            <a:solidFill>
              <a:srgbClr val="00175A"/>
            </a:solidFill>
            <a:prstDash val="solid"/>
          </a:ln>
        </p:spPr>
      </p:sp>
      <p:sp>
        <p:nvSpPr>
          <p:cNvPr id="12" name="Text 10"/>
          <p:cNvSpPr txBox="1"/>
          <p:nvPr/>
        </p:nvSpPr>
        <p:spPr>
          <a:xfrm>
            <a:off x="868680" y="348386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1600200" y="3310128"/>
            <a:ext cx="9692640" cy="320040"/>
          </a:xfrm>
          <a:prstGeom prst="rect">
            <a:avLst/>
          </a:prstGeom>
          <a:noFill/>
          <a:ln/>
        </p:spPr>
        <p:txBody>
          <a:bodyPr wrap="square" lIns="0" tIns="0" rIns="0" bIns="0" rtlCol="0" anchor="ctr"/>
          <a:lstStyle/>
          <a:p>
            <a:pPr indent="0" marL="0">
              <a:buNone/>
            </a:pPr>
            <a:r>
              <a:rPr lang="en-US" sz="1700" b="1" dirty="0">
                <a:solidFill>
                  <a:srgbClr val="00175A"/>
                </a:solidFill>
                <a:latin typeface="Cambria" pitchFamily="34" charset="0"/>
                <a:ea typeface="Cambria" pitchFamily="34" charset="-122"/>
                <a:cs typeface="Cambria" pitchFamily="34" charset="-120"/>
              </a:rPr>
              <a:t>Precision</a:t>
            </a:r>
            <a:endParaRPr lang="en-US" sz="1700" dirty="0"/>
          </a:p>
        </p:txBody>
      </p:sp>
      <p:sp>
        <p:nvSpPr>
          <p:cNvPr id="14" name="Text 12"/>
          <p:cNvSpPr txBox="1"/>
          <p:nvPr/>
        </p:nvSpPr>
        <p:spPr>
          <a:xfrm>
            <a:off x="1600200" y="3675888"/>
            <a:ext cx="9692640" cy="548640"/>
          </a:xfrm>
          <a:prstGeom prst="rect">
            <a:avLst/>
          </a:prstGeom>
          <a:noFill/>
          <a:ln/>
        </p:spPr>
        <p:txBody>
          <a:bodyPr wrap="square" lIns="0" tIns="0" rIns="0" bIns="0" rtlCol="0" anchor="ctr"/>
          <a:lstStyle/>
          <a:p>
            <a:pPr indent="0" marL="0">
              <a:lnSpc>
                <a:spcPts val="1700"/>
              </a:lnSpc>
              <a:buNone/>
            </a:pPr>
            <a:r>
              <a:rPr lang="en-US" sz="1300" dirty="0">
                <a:solidFill>
                  <a:srgbClr val="001233"/>
                </a:solidFill>
                <a:latin typeface="Calibri" pitchFamily="34" charset="0"/>
                <a:ea typeface="Calibri" pitchFamily="34" charset="-122"/>
                <a:cs typeface="Calibri" pitchFamily="34" charset="-120"/>
              </a:rPr>
              <a:t>Every finding lands with a file, a line, a mechanism and a reproduction. A maintainer can act on it without a conversation first.</a:t>
            </a:r>
            <a:endParaRPr lang="en-US" sz="1300" dirty="0"/>
          </a:p>
        </p:txBody>
      </p:sp>
      <p:sp>
        <p:nvSpPr>
          <p:cNvPr id="15" name="Shape 13"/>
          <p:cNvSpPr/>
          <p:nvPr/>
        </p:nvSpPr>
        <p:spPr>
          <a:xfrm>
            <a:off x="548640" y="4425696"/>
            <a:ext cx="11094415" cy="1188720"/>
          </a:xfrm>
          <a:prstGeom prst="roundRect">
            <a:avLst>
              <a:gd name="adj" fmla="val 6154"/>
            </a:avLst>
          </a:prstGeom>
          <a:solidFill>
            <a:srgbClr val="F4F7FA"/>
          </a:solidFill>
          <a:ln w="12700">
            <a:solidFill>
              <a:srgbClr val="DCEAF8"/>
            </a:solidFill>
            <a:prstDash val="solid"/>
          </a:ln>
          <a:effectLst>
            <a:outerShdw sx="100000" sy="100000" kx="0" ky="0" algn="bl" rotWithShape="0" blurRad="127000" dist="25400" dir="5400000">
              <a:srgbClr val="00175A">
                <a:alpha val="10000"/>
              </a:srgbClr>
            </a:outerShdw>
          </a:effectLst>
        </p:spPr>
      </p:sp>
      <p:sp>
        <p:nvSpPr>
          <p:cNvPr id="16" name="Shape 14"/>
          <p:cNvSpPr/>
          <p:nvPr/>
        </p:nvSpPr>
        <p:spPr>
          <a:xfrm>
            <a:off x="868680" y="4782312"/>
            <a:ext cx="475488" cy="475488"/>
          </a:xfrm>
          <a:prstGeom prst="ellipse">
            <a:avLst/>
          </a:prstGeom>
          <a:solidFill>
            <a:srgbClr val="00175A"/>
          </a:solidFill>
          <a:ln w="12700">
            <a:solidFill>
              <a:srgbClr val="00175A"/>
            </a:solidFill>
            <a:prstDash val="solid"/>
          </a:ln>
        </p:spPr>
      </p:sp>
      <p:sp>
        <p:nvSpPr>
          <p:cNvPr id="17" name="Text 15"/>
          <p:cNvSpPr txBox="1"/>
          <p:nvPr/>
        </p:nvSpPr>
        <p:spPr>
          <a:xfrm>
            <a:off x="868680" y="478231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txBox="1"/>
          <p:nvPr/>
        </p:nvSpPr>
        <p:spPr>
          <a:xfrm>
            <a:off x="1600200" y="4608576"/>
            <a:ext cx="9692640" cy="320040"/>
          </a:xfrm>
          <a:prstGeom prst="rect">
            <a:avLst/>
          </a:prstGeom>
          <a:noFill/>
          <a:ln/>
        </p:spPr>
        <p:txBody>
          <a:bodyPr wrap="square" lIns="0" tIns="0" rIns="0" bIns="0" rtlCol="0" anchor="ctr"/>
          <a:lstStyle/>
          <a:p>
            <a:pPr indent="0" marL="0">
              <a:buNone/>
            </a:pPr>
            <a:r>
              <a:rPr lang="en-US" sz="1700" b="1" dirty="0">
                <a:solidFill>
                  <a:srgbClr val="00175A"/>
                </a:solidFill>
                <a:latin typeface="Cambria" pitchFamily="34" charset="0"/>
                <a:ea typeface="Cambria" pitchFamily="34" charset="-122"/>
                <a:cs typeface="Cambria" pitchFamily="34" charset="-120"/>
              </a:rPr>
              <a:t>Speed and reach</a:t>
            </a:r>
            <a:endParaRPr lang="en-US" sz="1700" dirty="0"/>
          </a:p>
        </p:txBody>
      </p:sp>
      <p:sp>
        <p:nvSpPr>
          <p:cNvPr id="19" name="Text 17"/>
          <p:cNvSpPr txBox="1"/>
          <p:nvPr/>
        </p:nvSpPr>
        <p:spPr>
          <a:xfrm>
            <a:off x="1600200" y="4974336"/>
            <a:ext cx="9692640" cy="548640"/>
          </a:xfrm>
          <a:prstGeom prst="rect">
            <a:avLst/>
          </a:prstGeom>
          <a:noFill/>
          <a:ln/>
        </p:spPr>
        <p:txBody>
          <a:bodyPr wrap="square" lIns="0" tIns="0" rIns="0" bIns="0" rtlCol="0" anchor="ctr"/>
          <a:lstStyle/>
          <a:p>
            <a:pPr indent="0" marL="0">
              <a:lnSpc>
                <a:spcPts val="1700"/>
              </a:lnSpc>
              <a:buNone/>
            </a:pPr>
            <a:r>
              <a:rPr lang="en-US" sz="1300" dirty="0">
                <a:solidFill>
                  <a:srgbClr val="001233"/>
                </a:solidFill>
                <a:latin typeface="Calibri" pitchFamily="34" charset="0"/>
                <a:ea typeface="Calibri" pitchFamily="34" charset="-122"/>
                <a:cs typeface="Calibri" pitchFamily="34" charset="-120"/>
              </a:rPr>
              <a:t>Three separate projects in three different languages, covered in a single week, with the evidence standard held constant across all of them.</a:t>
            </a:r>
            <a:endParaRPr lang="en-US" sz="1300" dirty="0"/>
          </a:p>
        </p:txBody>
      </p:sp>
      <p:sp>
        <p:nvSpPr>
          <p:cNvPr id="20" name="Shape 18"/>
          <p:cNvSpPr/>
          <p:nvPr/>
        </p:nvSpPr>
        <p:spPr>
          <a:xfrm>
            <a:off x="548640" y="5852160"/>
            <a:ext cx="11094415" cy="685800"/>
          </a:xfrm>
          <a:prstGeom prst="roundRect">
            <a:avLst>
              <a:gd name="adj" fmla="val 10667"/>
            </a:avLst>
          </a:prstGeom>
          <a:solidFill>
            <a:srgbClr val="DCEAF8"/>
          </a:solidFill>
          <a:ln w="12700">
            <a:solidFill>
              <a:srgbClr val="A9CFEE"/>
            </a:solidFill>
            <a:prstDash val="solid"/>
          </a:ln>
          <a:effectLst>
            <a:outerShdw sx="100000" sy="100000" kx="0" ky="0" algn="bl" rotWithShape="0" blurRad="127000" dist="25400" dir="5400000">
              <a:srgbClr val="00175A">
                <a:alpha val="10000"/>
              </a:srgbClr>
            </a:outerShdw>
          </a:effectLst>
        </p:spPr>
      </p:sp>
      <p:sp>
        <p:nvSpPr>
          <p:cNvPr id="21" name="Text 19"/>
          <p:cNvSpPr txBox="1"/>
          <p:nvPr/>
        </p:nvSpPr>
        <p:spPr>
          <a:xfrm>
            <a:off x="868680" y="5943600"/>
            <a:ext cx="10454335" cy="502920"/>
          </a:xfrm>
          <a:prstGeom prst="rect">
            <a:avLst/>
          </a:prstGeom>
          <a:noFill/>
          <a:ln/>
        </p:spPr>
        <p:txBody>
          <a:bodyPr wrap="square" lIns="0" tIns="0" rIns="0" bIns="0" rtlCol="0" anchor="ctr"/>
          <a:lstStyle/>
          <a:p>
            <a:pPr indent="0" marL="0">
              <a:buNone/>
            </a:pPr>
            <a:r>
              <a:rPr lang="en-US" sz="1400" b="1" dirty="0">
                <a:solidFill>
                  <a:srgbClr val="006FCF"/>
                </a:solidFill>
                <a:latin typeface="Calibri" pitchFamily="34" charset="0"/>
                <a:ea typeface="Calibri" pitchFamily="34" charset="-122"/>
                <a:cs typeface="Calibri" pitchFamily="34" charset="-120"/>
              </a:rPr>
              <a:t>The same standard that produced these three results is the standard the harness runs at every time.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8">
    <p:bg>
      <p:bgPr>
        <a:solidFill>
          <a:srgbClr val="000C24"/>
        </a:solidFill>
      </p:bgPr>
    </p:bg>
    <p:spTree>
      <p:nvGrpSpPr>
        <p:cNvPr id="1" name=""/>
        <p:cNvGrpSpPr/>
        <p:nvPr/>
      </p:nvGrpSpPr>
      <p:grpSpPr>
        <a:xfrm>
          <a:off x="0" y="0"/>
          <a:ext cx="0" cy="0"/>
          <a:chOff x="0" y="0"/>
          <a:chExt cx="0" cy="0"/>
        </a:xfrm>
      </p:grpSpPr>
      <p:sp>
        <p:nvSpPr>
          <p:cNvPr id="2" name="Text 0"/>
          <p:cNvSpPr txBox="1"/>
          <p:nvPr/>
        </p:nvSpPr>
        <p:spPr>
          <a:xfrm>
            <a:off x="548640" y="685800"/>
            <a:ext cx="11094415" cy="274320"/>
          </a:xfrm>
          <a:prstGeom prst="rect">
            <a:avLst/>
          </a:prstGeom>
          <a:noFill/>
          <a:ln/>
        </p:spPr>
        <p:txBody>
          <a:bodyPr wrap="square" lIns="0" tIns="0" rIns="0" bIns="0" rtlCol="0" anchor="ctr"/>
          <a:lstStyle/>
          <a:p>
            <a:pPr indent="0" marL="0">
              <a:buNone/>
            </a:pPr>
            <a:r>
              <a:rPr lang="en-US" sz="1100" b="1" spc="250" kern="0" dirty="0">
                <a:solidFill>
                  <a:srgbClr val="9BCAEB"/>
                </a:solidFill>
                <a:latin typeface="Calibri" pitchFamily="34" charset="0"/>
                <a:ea typeface="Calibri" pitchFamily="34" charset="-122"/>
                <a:cs typeface="Calibri" pitchFamily="34" charset="-120"/>
              </a:rPr>
              <a:t>DISCLOSURE POSTURE</a:t>
            </a:r>
            <a:endParaRPr lang="en-US" sz="1100" dirty="0"/>
          </a:p>
        </p:txBody>
      </p:sp>
      <p:sp>
        <p:nvSpPr>
          <p:cNvPr id="3" name="Text 1"/>
          <p:cNvSpPr txBox="1"/>
          <p:nvPr/>
        </p:nvSpPr>
        <p:spPr>
          <a:xfrm>
            <a:off x="548640" y="1051560"/>
            <a:ext cx="105156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Proved first, then reported once</a:t>
            </a:r>
            <a:endParaRPr lang="en-US" sz="3600" dirty="0"/>
          </a:p>
        </p:txBody>
      </p:sp>
      <p:sp>
        <p:nvSpPr>
          <p:cNvPr id="4" name="Text 2"/>
          <p:cNvSpPr txBox="1"/>
          <p:nvPr/>
        </p:nvSpPr>
        <p:spPr>
          <a:xfrm>
            <a:off x="548640" y="1828800"/>
            <a:ext cx="9692640" cy="640080"/>
          </a:xfrm>
          <a:prstGeom prst="rect">
            <a:avLst/>
          </a:prstGeom>
          <a:noFill/>
          <a:ln/>
        </p:spPr>
        <p:txBody>
          <a:bodyPr wrap="square" lIns="0" tIns="0" rIns="0" bIns="0" rtlCol="0" anchor="ctr"/>
          <a:lstStyle/>
          <a:p>
            <a:pPr indent="0" marL="0">
              <a:lnSpc>
                <a:spcPts val="2100"/>
              </a:lnSpc>
              <a:buNone/>
            </a:pPr>
            <a:r>
              <a:rPr lang="en-US" sz="1500" dirty="0">
                <a:solidFill>
                  <a:srgbClr val="9BCAEB"/>
                </a:solidFill>
                <a:latin typeface="Calibri" pitchFamily="34" charset="0"/>
                <a:ea typeface="Calibri" pitchFamily="34" charset="-122"/>
                <a:cs typeface="Calibri" pitchFamily="34" charset="-120"/>
              </a:rPr>
              <a:t>These findings sit with the team under a deliberate hold. They go out as one coordinated package per project, on a timing leadership sets.</a:t>
            </a:r>
            <a:endParaRPr lang="en-US" sz="1500" dirty="0"/>
          </a:p>
        </p:txBody>
      </p:sp>
      <p:sp>
        <p:nvSpPr>
          <p:cNvPr id="5" name="Shape 3"/>
          <p:cNvSpPr/>
          <p:nvPr/>
        </p:nvSpPr>
        <p:spPr>
          <a:xfrm>
            <a:off x="548640" y="2880360"/>
            <a:ext cx="3529584" cy="2468880"/>
          </a:xfrm>
          <a:prstGeom prst="roundRect">
            <a:avLst>
              <a:gd name="adj" fmla="val 2963"/>
            </a:avLst>
          </a:prstGeom>
          <a:solidFill>
            <a:srgbClr val="0A2E6B"/>
          </a:solidFill>
          <a:ln w="12700">
            <a:solidFill>
              <a:srgbClr val="13407F"/>
            </a:solidFill>
            <a:prstDash val="solid"/>
          </a:ln>
          <a:effectLst>
            <a:outerShdw sx="100000" sy="100000" kx="0" ky="0" algn="bl" rotWithShape="0" blurRad="127000" dist="25400" dir="5400000">
              <a:srgbClr val="00175A">
                <a:alpha val="10000"/>
              </a:srgbClr>
            </a:outerShdw>
          </a:effectLst>
        </p:spPr>
      </p:sp>
      <p:sp>
        <p:nvSpPr>
          <p:cNvPr id="6" name="Text 4"/>
          <p:cNvSpPr txBox="1"/>
          <p:nvPr/>
        </p:nvSpPr>
        <p:spPr>
          <a:xfrm>
            <a:off x="822960" y="3108960"/>
            <a:ext cx="3017520" cy="548640"/>
          </a:xfrm>
          <a:prstGeom prst="rect">
            <a:avLst/>
          </a:prstGeom>
          <a:noFill/>
          <a:ln/>
        </p:spPr>
        <p:txBody>
          <a:bodyPr wrap="square" lIns="0" tIns="0" rIns="0" bIns="0" rtlCol="0" anchor="ctr"/>
          <a:lstStyle/>
          <a:p>
            <a:pPr indent="0" marL="0">
              <a:lnSpc>
                <a:spcPts val="2100"/>
              </a:lnSpc>
              <a:buNone/>
            </a:pPr>
            <a:r>
              <a:rPr lang="en-US" sz="1700" b="1" dirty="0">
                <a:solidFill>
                  <a:srgbClr val="FFFFFF"/>
                </a:solidFill>
                <a:latin typeface="Cambria" pitchFamily="34" charset="0"/>
                <a:ea typeface="Cambria" pitchFamily="34" charset="-122"/>
                <a:cs typeface="Cambria" pitchFamily="34" charset="-120"/>
              </a:rPr>
              <a:t>One package, not a stream</a:t>
            </a:r>
            <a:endParaRPr lang="en-US" sz="1700" dirty="0"/>
          </a:p>
        </p:txBody>
      </p:sp>
      <p:sp>
        <p:nvSpPr>
          <p:cNvPr id="7" name="Text 5"/>
          <p:cNvSpPr txBox="1"/>
          <p:nvPr/>
        </p:nvSpPr>
        <p:spPr>
          <a:xfrm>
            <a:off x="822960" y="3749040"/>
            <a:ext cx="3017520" cy="1463040"/>
          </a:xfrm>
          <a:prstGeom prst="rect">
            <a:avLst/>
          </a:prstGeom>
          <a:noFill/>
          <a:ln/>
        </p:spPr>
        <p:txBody>
          <a:bodyPr wrap="square" lIns="0" tIns="0" rIns="0" bIns="0" rtlCol="0" anchor="ctr"/>
          <a:lstStyle/>
          <a:p>
            <a:pPr indent="0" marL="0">
              <a:lnSpc>
                <a:spcPts val="1700"/>
              </a:lnSpc>
              <a:buNone/>
            </a:pPr>
            <a:r>
              <a:rPr lang="en-US" sz="1250" dirty="0">
                <a:solidFill>
                  <a:srgbClr val="9BCAEB"/>
                </a:solidFill>
                <a:latin typeface="Calibri" pitchFamily="34" charset="0"/>
                <a:ea typeface="Calibri" pitchFamily="34" charset="-122"/>
                <a:cs typeface="Calibri" pitchFamily="34" charset="-120"/>
              </a:rPr>
              <a:t>Maintainers judge a reporter by the first thing they receive. One complete, verified package lands better than a drip of partial claims.</a:t>
            </a:r>
            <a:endParaRPr lang="en-US" sz="1250" dirty="0"/>
          </a:p>
        </p:txBody>
      </p:sp>
      <p:sp>
        <p:nvSpPr>
          <p:cNvPr id="8" name="Shape 6"/>
          <p:cNvSpPr/>
          <p:nvPr/>
        </p:nvSpPr>
        <p:spPr>
          <a:xfrm>
            <a:off x="4261104" y="2880360"/>
            <a:ext cx="3529584" cy="2468880"/>
          </a:xfrm>
          <a:prstGeom prst="roundRect">
            <a:avLst>
              <a:gd name="adj" fmla="val 2963"/>
            </a:avLst>
          </a:prstGeom>
          <a:solidFill>
            <a:srgbClr val="0A2E6B"/>
          </a:solidFill>
          <a:ln w="12700">
            <a:solidFill>
              <a:srgbClr val="13407F"/>
            </a:solidFill>
            <a:prstDash val="solid"/>
          </a:ln>
          <a:effectLst>
            <a:outerShdw sx="100000" sy="100000" kx="0" ky="0" algn="bl" rotWithShape="0" blurRad="127000" dist="25400" dir="5400000">
              <a:srgbClr val="00175A">
                <a:alpha val="10000"/>
              </a:srgbClr>
            </a:outerShdw>
          </a:effectLst>
        </p:spPr>
      </p:sp>
      <p:sp>
        <p:nvSpPr>
          <p:cNvPr id="9" name="Text 7"/>
          <p:cNvSpPr txBox="1"/>
          <p:nvPr/>
        </p:nvSpPr>
        <p:spPr>
          <a:xfrm>
            <a:off x="4535424" y="3108960"/>
            <a:ext cx="3017520" cy="548640"/>
          </a:xfrm>
          <a:prstGeom prst="rect">
            <a:avLst/>
          </a:prstGeom>
          <a:noFill/>
          <a:ln/>
        </p:spPr>
        <p:txBody>
          <a:bodyPr wrap="square" lIns="0" tIns="0" rIns="0" bIns="0" rtlCol="0" anchor="ctr"/>
          <a:lstStyle/>
          <a:p>
            <a:pPr indent="0" marL="0">
              <a:lnSpc>
                <a:spcPts val="2100"/>
              </a:lnSpc>
              <a:buNone/>
            </a:pPr>
            <a:r>
              <a:rPr lang="en-US" sz="1700" b="1" dirty="0">
                <a:solidFill>
                  <a:srgbClr val="FFFFFF"/>
                </a:solidFill>
                <a:latin typeface="Cambria" pitchFamily="34" charset="0"/>
                <a:ea typeface="Cambria" pitchFamily="34" charset="-122"/>
                <a:cs typeface="Cambria" pitchFamily="34" charset="-120"/>
              </a:rPr>
              <a:t>Every claim reproducible</a:t>
            </a:r>
            <a:endParaRPr lang="en-US" sz="1700" dirty="0"/>
          </a:p>
        </p:txBody>
      </p:sp>
      <p:sp>
        <p:nvSpPr>
          <p:cNvPr id="10" name="Text 8"/>
          <p:cNvSpPr txBox="1"/>
          <p:nvPr/>
        </p:nvSpPr>
        <p:spPr>
          <a:xfrm>
            <a:off x="4535424" y="3749040"/>
            <a:ext cx="3017520" cy="1463040"/>
          </a:xfrm>
          <a:prstGeom prst="rect">
            <a:avLst/>
          </a:prstGeom>
          <a:noFill/>
          <a:ln/>
        </p:spPr>
        <p:txBody>
          <a:bodyPr wrap="square" lIns="0" tIns="0" rIns="0" bIns="0" rtlCol="0" anchor="ctr"/>
          <a:lstStyle/>
          <a:p>
            <a:pPr indent="0" marL="0">
              <a:lnSpc>
                <a:spcPts val="1700"/>
              </a:lnSpc>
              <a:buNone/>
            </a:pPr>
            <a:r>
              <a:rPr lang="en-US" sz="1250" dirty="0">
                <a:solidFill>
                  <a:srgbClr val="9BCAEB"/>
                </a:solidFill>
                <a:latin typeface="Calibri" pitchFamily="34" charset="0"/>
                <a:ea typeface="Calibri" pitchFamily="34" charset="-122"/>
                <a:cs typeface="Calibri" pitchFamily="34" charset="-120"/>
              </a:rPr>
              <a:t>Each report carries the evidence that proves it, so a maintainer can confirm it on their own machine the same day.</a:t>
            </a:r>
            <a:endParaRPr lang="en-US" sz="1250" dirty="0"/>
          </a:p>
        </p:txBody>
      </p:sp>
      <p:sp>
        <p:nvSpPr>
          <p:cNvPr id="11" name="Shape 9"/>
          <p:cNvSpPr/>
          <p:nvPr/>
        </p:nvSpPr>
        <p:spPr>
          <a:xfrm>
            <a:off x="7973568" y="2880360"/>
            <a:ext cx="3529584" cy="2468880"/>
          </a:xfrm>
          <a:prstGeom prst="roundRect">
            <a:avLst>
              <a:gd name="adj" fmla="val 2963"/>
            </a:avLst>
          </a:prstGeom>
          <a:solidFill>
            <a:srgbClr val="0A2E6B"/>
          </a:solidFill>
          <a:ln w="12700">
            <a:solidFill>
              <a:srgbClr val="13407F"/>
            </a:solidFill>
            <a:prstDash val="solid"/>
          </a:ln>
          <a:effectLst>
            <a:outerShdw sx="100000" sy="100000" kx="0" ky="0" algn="bl" rotWithShape="0" blurRad="127000" dist="25400" dir="5400000">
              <a:srgbClr val="00175A">
                <a:alpha val="10000"/>
              </a:srgbClr>
            </a:outerShdw>
          </a:effectLst>
        </p:spPr>
      </p:sp>
      <p:sp>
        <p:nvSpPr>
          <p:cNvPr id="12" name="Text 10"/>
          <p:cNvSpPr txBox="1"/>
          <p:nvPr/>
        </p:nvSpPr>
        <p:spPr>
          <a:xfrm>
            <a:off x="8247888" y="3108960"/>
            <a:ext cx="3017520" cy="548640"/>
          </a:xfrm>
          <a:prstGeom prst="rect">
            <a:avLst/>
          </a:prstGeom>
          <a:noFill/>
          <a:ln/>
        </p:spPr>
        <p:txBody>
          <a:bodyPr wrap="square" lIns="0" tIns="0" rIns="0" bIns="0" rtlCol="0" anchor="ctr"/>
          <a:lstStyle/>
          <a:p>
            <a:pPr indent="0" marL="0">
              <a:lnSpc>
                <a:spcPts val="2100"/>
              </a:lnSpc>
              <a:buNone/>
            </a:pPr>
            <a:r>
              <a:rPr lang="en-US" sz="1700" b="1" dirty="0">
                <a:solidFill>
                  <a:srgbClr val="FFFFFF"/>
                </a:solidFill>
                <a:latin typeface="Cambria" pitchFamily="34" charset="0"/>
                <a:ea typeface="Cambria" pitchFamily="34" charset="-122"/>
                <a:cs typeface="Cambria" pitchFamily="34" charset="-120"/>
              </a:rPr>
              <a:t>Controlled and private</a:t>
            </a:r>
            <a:endParaRPr lang="en-US" sz="1700" dirty="0"/>
          </a:p>
        </p:txBody>
      </p:sp>
      <p:sp>
        <p:nvSpPr>
          <p:cNvPr id="13" name="Text 11"/>
          <p:cNvSpPr txBox="1"/>
          <p:nvPr/>
        </p:nvSpPr>
        <p:spPr>
          <a:xfrm>
            <a:off x="8247888" y="3749040"/>
            <a:ext cx="3017520" cy="1463040"/>
          </a:xfrm>
          <a:prstGeom prst="rect">
            <a:avLst/>
          </a:prstGeom>
          <a:noFill/>
          <a:ln/>
        </p:spPr>
        <p:txBody>
          <a:bodyPr wrap="square" lIns="0" tIns="0" rIns="0" bIns="0" rtlCol="0" anchor="ctr"/>
          <a:lstStyle/>
          <a:p>
            <a:pPr indent="0" marL="0">
              <a:lnSpc>
                <a:spcPts val="1700"/>
              </a:lnSpc>
              <a:buNone/>
            </a:pPr>
            <a:r>
              <a:rPr lang="en-US" sz="1250" dirty="0">
                <a:solidFill>
                  <a:srgbClr val="9BCAEB"/>
                </a:solidFill>
                <a:latin typeface="Calibri" pitchFamily="34" charset="0"/>
                <a:ea typeface="Calibri" pitchFamily="34" charset="-122"/>
                <a:cs typeface="Calibri" pitchFamily="34" charset="-120"/>
              </a:rPr>
              <a:t>Nothing has been shared outside the team. The record stays internal and is released only by deliberate decision.</a:t>
            </a:r>
            <a:endParaRPr lang="en-US" sz="1250" dirty="0"/>
          </a:p>
        </p:txBody>
      </p:sp>
      <p:sp>
        <p:nvSpPr>
          <p:cNvPr id="14" name="Text 12"/>
          <p:cNvSpPr txBox="1"/>
          <p:nvPr/>
        </p:nvSpPr>
        <p:spPr>
          <a:xfrm>
            <a:off x="548640" y="5669280"/>
            <a:ext cx="11094415" cy="365760"/>
          </a:xfrm>
          <a:prstGeom prst="rect">
            <a:avLst/>
          </a:prstGeom>
          <a:noFill/>
          <a:ln/>
        </p:spPr>
        <p:txBody>
          <a:bodyPr wrap="square" lIns="0" tIns="0" rIns="0" bIns="0" rtlCol="0" anchor="ctr"/>
          <a:lstStyle/>
          <a:p>
            <a:pPr indent="0" marL="0">
              <a:buNone/>
            </a:pPr>
            <a:r>
              <a:rPr lang="en-US" sz="1400" i="1" dirty="0">
                <a:solidFill>
                  <a:srgbClr val="9BCAEB"/>
                </a:solidFill>
                <a:latin typeface="Calibri" pitchFamily="34" charset="0"/>
                <a:ea typeface="Calibri" pitchFamily="34" charset="-122"/>
                <a:cs typeface="Calibri" pitchFamily="34" charset="-120"/>
              </a:rPr>
              <a:t>Three proved defects, three widely used projects, one week of running time.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PRISM Executive Briefing</dc:title>
  <dc:subject>PptxGenJS Presentation</dc:subject>
  <dc:creator>PRISM</dc:creator>
  <cp:lastModifiedBy>PRISM</cp:lastModifiedBy>
  <cp:revision>1</cp:revision>
  <dcterms:created xsi:type="dcterms:W3CDTF">2026-08-26T23:43:01Z</dcterms:created>
  <dcterms:modified xsi:type="dcterms:W3CDTF">2026-08-26T23:43:01Z</dcterms:modified>
</cp:coreProperties>
</file>