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Benchmark corpus outcomes</a:t>
            </a:r>
          </a:p>
        </c:rich>
      </c:tx>
      <c:layout/>
      <c:overlay val="0"/>
    </c:title>
    <c:autoTitleDeleted val="0"/>
    <c:plotArea>
      <c:layout/>
      <c:barChart>
        <c:barDir val="bar"/>
        <c:grouping val="clustered"/>
        <c:varyColors val="0"/>
        <c:ser>
          <c:idx val="0"/>
          <c:order val="0"/>
          <c:tx>
            <c:strRef>
              <c:f>Sheet1!$B$1</c:f>
              <c:strCache>
                <c:ptCount val="1"/>
                <c:pt idx="0">
                  <c:v>Findings</c:v>
                </c:pt>
              </c:strCache>
            </c:strRef>
          </c:tx>
          <c:spPr>
            <a:solidFill>
              <a:srgbClr val="15794F"/>
            </a:solidFill>
            <a:effectLst/>
          </c:spPr>
          <c:invertIfNegative val="0"/>
          <c:dLbls>
            <c:numFmt formatCode="#,##0" sourceLinked="0"/>
            <c:txPr>
              <a:bodyPr/>
              <a:lstStyle/>
              <a:p>
                <a:pPr>
                  <a:defRPr b="1" i="0" strike="noStrike" sz="1400" u="none">
                    <a:solidFill>
                      <a:srgbClr val="141B2E"/>
                    </a:solidFill>
                    <a:latin typeface="Calibri"/>
                  </a:defRPr>
                </a:pPr>
              </a:p>
            </c:txPr>
            <c:showLegendKey val="0"/>
            <c:showVal val="1"/>
            <c:showCatName val="0"/>
            <c:showSerName val="0"/>
            <c:showPercent val="0"/>
            <c:showBubbleSize val="0"/>
            <c:showLeaderLines val="0"/>
          </c:dLbls>
          <c:dPt>
            <c:idx val="0"/>
            <c:invertIfNegative val="0"/>
            <c:bubble3D val="0"/>
            <c:spPr>
              <a:solidFill>
                <a:srgbClr val="15794F"/>
              </a:solidFill>
              <a:effectLst/>
            </c:spPr>
          </c:dPt>
          <c:dPt>
            <c:idx val="1"/>
            <c:invertIfNegative val="0"/>
            <c:bubble3D val="0"/>
            <c:spPr>
              <a:solidFill>
                <a:srgbClr val="1E2761"/>
              </a:solidFill>
              <a:effectLst/>
            </c:spPr>
          </c:dPt>
          <c:dPt>
            <c:idx val="2"/>
            <c:invertIfNegative val="0"/>
            <c:bubble3D val="0"/>
            <c:spPr>
              <a:solidFill>
                <a:srgbClr val="A6B1D4"/>
              </a:solidFill>
              <a:effectLst/>
            </c:spPr>
          </c:dPt>
          <c:cat>
            <c:multiLvlStrRef>
              <c:f>Sheet1!$A$2:$A$4</c:f>
              <c:multiLvlStrCache>
                <c:ptCount val="3"/>
                <c:lvl>
                  <c:pt idx="0">
                    <c:v>Still live in current release</c:v>
                  </c:pt>
                  <c:pt idx="1">
                    <c:v>Confirmed real when found</c:v>
                  </c:pt>
                  <c:pt idx="2">
                    <c:v>Findings assessed</c:v>
                  </c:pt>
                </c:lvl>
              </c:multiLvlStrCache>
            </c:multiLvlStrRef>
          </c:cat>
          <c:val>
            <c:numRef>
              <c:f>Sheet1!$B$2:$B$4</c:f>
              <c:numCache>
                <c:formatCode>General</c:formatCode>
                <c:ptCount val="3"/>
                <c:pt idx="0">
                  <c:v>13</c:v>
                </c:pt>
                <c:pt idx="1">
                  <c:v>17</c:v>
                </c:pt>
                <c:pt idx="2">
                  <c:v>19</c:v>
                </c:pt>
              </c:numCache>
            </c:numRef>
          </c:val>
        </c:ser>
        <c:dLbls>
          <c:numFmt formatCode="#,##0" sourceLinked="0"/>
          <c:txPr>
            <a:bodyPr/>
            <a:lstStyle/>
            <a:p>
              <a:pPr>
                <a:defRPr b="1" i="0" strike="noStrike" sz="1400" u="none">
                  <a:solidFill>
                    <a:srgbClr val="141B2E"/>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1B2E"/>
                </a:solidFill>
                <a:latin typeface="Calibri"/>
              </a:defRPr>
            </a:pPr>
            <a:endParaRPr lang="en-US"/>
          </a:p>
        </c:txPr>
        <c:crossAx val="2094734552"/>
        <c:crosses val="autoZero"/>
        <c:auto val="1"/>
        <c:lblAlgn val="ctr"/>
        <c:noMultiLvlLbl val="1"/>
      </c:catAx>
      <c:valAx>
        <c:axId val="2094734552"/>
        <c:scaling>
          <c:orientation val="minMax"/>
          <c:max val="22"/>
          <c:min val="0"/>
        </c:scaling>
        <c:delete val="0"/>
        <c:axPos val="b"/>
        <c:majorGridlines>
          <c:spPr>
            <a:ln w="12700" cap="flat">
              <a:solidFill>
                <a:srgbClr val="EDF0F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68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in one week the harness proved three defects in software used by thousands of teams, one of them hiding in plain sight for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four takeaways. The strongest single line is that a defect sat in a widely used tool for five years and the harness surfaced it 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step one with the contrast: pattern matching versus understanding. Step three is where the credibility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non-technical. kopia: the badge system never clears the old building. nokogiri: we ran it and got SECRET back. facil.io: a backwards size check reachable from a normal public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years is the headline. No issues, no pull requests, no test coverage for the scenario, and the harness surfaced it 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Nineteen assessed, seventeen real, thirteen still live, none left undetermined.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capability slide. Depth, precision, speed. Everything here is backed by the three findings already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control and quality. The work is held deliberately, it goes out as one package, and leadership sets the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30"/>
        </a:solidFill>
      </p:bgPr>
    </p:bg>
    <p:spTree>
      <p:nvGrpSpPr>
        <p:cNvPr id="1" name=""/>
        <p:cNvGrpSpPr/>
        <p:nvPr/>
      </p:nvGrpSpPr>
      <p:grpSpPr>
        <a:xfrm>
          <a:off x="0" y="0"/>
          <a:ext cx="0" cy="0"/>
          <a:chOff x="0" y="0"/>
          <a:chExt cx="0" cy="0"/>
        </a:xfrm>
      </p:grpSpPr>
      <p:sp>
        <p:nvSpPr>
          <p:cNvPr id="2" name="Text 0"/>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50" b="1" spc="250" kern="0" dirty="0">
                <a:solidFill>
                  <a:srgbClr val="CADCFC"/>
                </a:solidFill>
                <a:latin typeface="Calibri" pitchFamily="34" charset="0"/>
                <a:ea typeface="Calibri" pitchFamily="34" charset="-122"/>
                <a:cs typeface="Calibri" pitchFamily="34" charset="-120"/>
              </a:rPr>
              <a:t>SECURITY ARCHITECTURE &amp; EMERGING TECHNOLOGY</a:t>
            </a:r>
            <a:endParaRPr lang="en-US" sz="1150" dirty="0"/>
          </a:p>
        </p:txBody>
      </p:sp>
      <p:sp>
        <p:nvSpPr>
          <p:cNvPr id="3" name="Text 1"/>
          <p:cNvSpPr txBox="1"/>
          <p:nvPr/>
        </p:nvSpPr>
        <p:spPr>
          <a:xfrm>
            <a:off x="548640" y="1325880"/>
            <a:ext cx="10058400" cy="137160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Three proved defects. Three real projects.</a:t>
            </a:r>
            <a:endParaRPr lang="en-US" sz="4200" dirty="0"/>
          </a:p>
        </p:txBody>
      </p:sp>
      <p:sp>
        <p:nvSpPr>
          <p:cNvPr id="4" name="Text 2"/>
          <p:cNvSpPr txBox="1"/>
          <p:nvPr/>
        </p:nvSpPr>
        <p:spPr>
          <a:xfrm>
            <a:off x="548640" y="2788920"/>
            <a:ext cx="8046720" cy="914400"/>
          </a:xfrm>
          <a:prstGeom prst="rect">
            <a:avLst/>
          </a:prstGeom>
          <a:noFill/>
          <a:ln/>
        </p:spPr>
        <p:txBody>
          <a:bodyPr wrap="square" lIns="0" tIns="0" rIns="0" bIns="0" rtlCol="0" anchor="ctr"/>
          <a:lstStyle/>
          <a:p>
            <a:pPr indent="0" marL="0">
              <a:lnSpc>
                <a:spcPts val="2200"/>
              </a:lnSpc>
              <a:buNone/>
            </a:pPr>
            <a:r>
              <a:rPr lang="en-US" sz="1500" dirty="0">
                <a:solidFill>
                  <a:srgbClr val="CADCFC"/>
                </a:solidFill>
                <a:latin typeface="Calibri" pitchFamily="34" charset="0"/>
                <a:ea typeface="Calibri" pitchFamily="34" charset="-122"/>
                <a:cs typeface="Calibri" pitchFamily="34" charset="-120"/>
              </a:rPr>
              <a:t>First field results from our new security harness. Every finding in this brief has been proved by running the code, by a memory checker, or against the project's current published release.</a:t>
            </a:r>
            <a:endParaRPr lang="en-US" sz="1500" dirty="0"/>
          </a:p>
        </p:txBody>
      </p:sp>
      <p:sp>
        <p:nvSpPr>
          <p:cNvPr id="5" name="Text 3"/>
          <p:cNvSpPr txBox="1"/>
          <p:nvPr/>
        </p:nvSpPr>
        <p:spPr>
          <a:xfrm>
            <a:off x="548640" y="4343400"/>
            <a:ext cx="2560320" cy="685800"/>
          </a:xfrm>
          <a:prstGeom prst="rect">
            <a:avLst/>
          </a:prstGeom>
          <a:noFill/>
          <a:ln/>
        </p:spPr>
        <p:txBody>
          <a:bodyPr wrap="square" lIns="0" tIns="0" rIns="0" bIns="0" rtlCol="0" anchor="ctr"/>
          <a:lstStyle/>
          <a:p>
            <a:pPr indent="0" marL="0">
              <a:buNone/>
            </a:pPr>
            <a:r>
              <a:rPr lang="en-US" sz="4000" b="1" dirty="0">
                <a:solidFill>
                  <a:srgbClr val="6FD6A6"/>
                </a:solidFill>
                <a:latin typeface="Cambria" pitchFamily="34" charset="0"/>
                <a:ea typeface="Cambria" pitchFamily="34" charset="-122"/>
                <a:cs typeface="Cambria" pitchFamily="34" charset="-120"/>
              </a:rPr>
              <a:t>3</a:t>
            </a:r>
            <a:endParaRPr lang="en-US" sz="4000" dirty="0"/>
          </a:p>
        </p:txBody>
      </p:sp>
      <p:sp>
        <p:nvSpPr>
          <p:cNvPr id="6" name="Text 4"/>
          <p:cNvSpPr txBox="1"/>
          <p:nvPr/>
        </p:nvSpPr>
        <p:spPr>
          <a:xfrm>
            <a:off x="548640" y="502920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defects proved</a:t>
            </a:r>
            <a:endParaRPr lang="en-US" sz="1200" dirty="0"/>
          </a:p>
        </p:txBody>
      </p:sp>
      <p:sp>
        <p:nvSpPr>
          <p:cNvPr id="7" name="Text 5"/>
          <p:cNvSpPr txBox="1"/>
          <p:nvPr/>
        </p:nvSpPr>
        <p:spPr>
          <a:xfrm>
            <a:off x="3319272" y="4343400"/>
            <a:ext cx="256032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8" name="Text 6"/>
          <p:cNvSpPr txBox="1"/>
          <p:nvPr/>
        </p:nvSpPr>
        <p:spPr>
          <a:xfrm>
            <a:off x="3319272" y="502920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widely used projects</a:t>
            </a:r>
            <a:endParaRPr lang="en-US" sz="1200" dirty="0"/>
          </a:p>
        </p:txBody>
      </p:sp>
      <p:sp>
        <p:nvSpPr>
          <p:cNvPr id="9" name="Text 7"/>
          <p:cNvSpPr txBox="1"/>
          <p:nvPr/>
        </p:nvSpPr>
        <p:spPr>
          <a:xfrm>
            <a:off x="6089904" y="4343400"/>
            <a:ext cx="256032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5 yrs</a:t>
            </a:r>
            <a:endParaRPr lang="en-US" sz="4000" dirty="0"/>
          </a:p>
        </p:txBody>
      </p:sp>
      <p:sp>
        <p:nvSpPr>
          <p:cNvPr id="10" name="Text 8"/>
          <p:cNvSpPr txBox="1"/>
          <p:nvPr/>
        </p:nvSpPr>
        <p:spPr>
          <a:xfrm>
            <a:off x="6089904" y="502920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longest one went unseen</a:t>
            </a:r>
            <a:endParaRPr lang="en-US" sz="1200" dirty="0"/>
          </a:p>
        </p:txBody>
      </p:sp>
      <p:sp>
        <p:nvSpPr>
          <p:cNvPr id="11" name="Text 9"/>
          <p:cNvSpPr txBox="1"/>
          <p:nvPr/>
        </p:nvSpPr>
        <p:spPr>
          <a:xfrm>
            <a:off x="8860536" y="4343400"/>
            <a:ext cx="256032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 wk</a:t>
            </a:r>
            <a:endParaRPr lang="en-US" sz="4000" dirty="0"/>
          </a:p>
        </p:txBody>
      </p:sp>
      <p:sp>
        <p:nvSpPr>
          <p:cNvPr id="12" name="Text 10"/>
          <p:cNvSpPr txBox="1"/>
          <p:nvPr/>
        </p:nvSpPr>
        <p:spPr>
          <a:xfrm>
            <a:off x="8860536" y="502920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elapsed to find them</a:t>
            </a:r>
            <a:endParaRPr lang="en-US" sz="1200" dirty="0"/>
          </a:p>
        </p:txBody>
      </p:sp>
      <p:sp>
        <p:nvSpPr>
          <p:cNvPr id="13" name="Text 11"/>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100" dirty="0">
                <a:solidFill>
                  <a:srgbClr val="8E9ABF"/>
                </a:solidFill>
                <a:latin typeface="Calibri" pitchFamily="34" charset="0"/>
                <a:ea typeface="Calibri" pitchFamily="34" charset="-122"/>
                <a:cs typeface="Calibri" pitchFamily="34" charset="-120"/>
              </a:rPr>
              <a:t>23 August 2026   |   Internal. Not for external distribution.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C6688"/>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short version</a:t>
            </a:r>
            <a:endParaRPr lang="en-US" sz="3200" dirty="0"/>
          </a:p>
        </p:txBody>
      </p:sp>
      <p:sp>
        <p:nvSpPr>
          <p:cNvPr id="4" name="Shape 2"/>
          <p:cNvSpPr/>
          <p:nvPr/>
        </p:nvSpPr>
        <p:spPr>
          <a:xfrm>
            <a:off x="548640" y="1371600"/>
            <a:ext cx="2615184" cy="1463040"/>
          </a:xfrm>
          <a:prstGeom prst="roundRect">
            <a:avLst>
              <a:gd name="adj" fmla="val 5000"/>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5" name="Text 3"/>
          <p:cNvSpPr txBox="1"/>
          <p:nvPr/>
        </p:nvSpPr>
        <p:spPr>
          <a:xfrm>
            <a:off x="749808" y="1481328"/>
            <a:ext cx="2194560" cy="640080"/>
          </a:xfrm>
          <a:prstGeom prst="rect">
            <a:avLst/>
          </a:prstGeom>
          <a:noFill/>
          <a:ln/>
        </p:spPr>
        <p:txBody>
          <a:bodyPr wrap="square" lIns="0" tIns="0" rIns="0" bIns="0" rtlCol="0" anchor="ctr"/>
          <a:lstStyle/>
          <a:p>
            <a:pPr indent="0" marL="0">
              <a:buNone/>
            </a:pPr>
            <a:r>
              <a:rPr lang="en-US" sz="3600" b="1" dirty="0">
                <a:solidFill>
                  <a:srgbClr val="15794F"/>
                </a:solidFill>
                <a:latin typeface="Cambria" pitchFamily="34" charset="0"/>
                <a:ea typeface="Cambria" pitchFamily="34" charset="-122"/>
                <a:cs typeface="Cambria" pitchFamily="34" charset="-120"/>
              </a:rPr>
              <a:t>3</a:t>
            </a:r>
            <a:endParaRPr lang="en-US" sz="3600" dirty="0"/>
          </a:p>
        </p:txBody>
      </p:sp>
      <p:sp>
        <p:nvSpPr>
          <p:cNvPr id="6" name="Text 4"/>
          <p:cNvSpPr txBox="1"/>
          <p:nvPr/>
        </p:nvSpPr>
        <p:spPr>
          <a:xfrm>
            <a:off x="749808" y="2148840"/>
            <a:ext cx="2240280" cy="548640"/>
          </a:xfrm>
          <a:prstGeom prst="rect">
            <a:avLst/>
          </a:prstGeom>
          <a:noFill/>
          <a:ln/>
        </p:spPr>
        <p:txBody>
          <a:bodyPr wrap="square" lIns="0" tIns="0" rIns="0" bIns="0" rtlCol="0" anchor="ctr"/>
          <a:lstStyle/>
          <a:p>
            <a:pPr indent="0" marL="0">
              <a:buNone/>
            </a:pPr>
            <a:r>
              <a:rPr lang="en-US" sz="1200" dirty="0">
                <a:solidFill>
                  <a:srgbClr val="5C6688"/>
                </a:solidFill>
                <a:latin typeface="Calibri" pitchFamily="34" charset="0"/>
                <a:ea typeface="Calibri" pitchFamily="34" charset="-122"/>
                <a:cs typeface="Calibri" pitchFamily="34" charset="-120"/>
              </a:rPr>
              <a:t>defects proved by evidence</a:t>
            </a:r>
            <a:endParaRPr lang="en-US" sz="1200" dirty="0"/>
          </a:p>
        </p:txBody>
      </p:sp>
      <p:sp>
        <p:nvSpPr>
          <p:cNvPr id="7" name="Shape 5"/>
          <p:cNvSpPr/>
          <p:nvPr/>
        </p:nvSpPr>
        <p:spPr>
          <a:xfrm>
            <a:off x="3346704" y="1371600"/>
            <a:ext cx="2615184" cy="1463040"/>
          </a:xfrm>
          <a:prstGeom prst="roundRect">
            <a:avLst>
              <a:gd name="adj" fmla="val 5000"/>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8" name="Text 6"/>
          <p:cNvSpPr txBox="1"/>
          <p:nvPr/>
        </p:nvSpPr>
        <p:spPr>
          <a:xfrm>
            <a:off x="3547872" y="1481328"/>
            <a:ext cx="2194560" cy="64008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3</a:t>
            </a:r>
            <a:endParaRPr lang="en-US" sz="3600" dirty="0"/>
          </a:p>
        </p:txBody>
      </p:sp>
      <p:sp>
        <p:nvSpPr>
          <p:cNvPr id="9" name="Text 7"/>
          <p:cNvSpPr txBox="1"/>
          <p:nvPr/>
        </p:nvSpPr>
        <p:spPr>
          <a:xfrm>
            <a:off x="3547872" y="2148840"/>
            <a:ext cx="2240280" cy="548640"/>
          </a:xfrm>
          <a:prstGeom prst="rect">
            <a:avLst/>
          </a:prstGeom>
          <a:noFill/>
          <a:ln/>
        </p:spPr>
        <p:txBody>
          <a:bodyPr wrap="square" lIns="0" tIns="0" rIns="0" bIns="0" rtlCol="0" anchor="ctr"/>
          <a:lstStyle/>
          <a:p>
            <a:pPr indent="0" marL="0">
              <a:buNone/>
            </a:pPr>
            <a:r>
              <a:rPr lang="en-US" sz="1200" dirty="0">
                <a:solidFill>
                  <a:srgbClr val="5C6688"/>
                </a:solidFill>
                <a:latin typeface="Calibri" pitchFamily="34" charset="0"/>
                <a:ea typeface="Calibri" pitchFamily="34" charset="-122"/>
                <a:cs typeface="Calibri" pitchFamily="34" charset="-120"/>
              </a:rPr>
              <a:t>projects, all widely deployed</a:t>
            </a:r>
            <a:endParaRPr lang="en-US" sz="1200" dirty="0"/>
          </a:p>
        </p:txBody>
      </p:sp>
      <p:sp>
        <p:nvSpPr>
          <p:cNvPr id="10" name="Shape 8"/>
          <p:cNvSpPr/>
          <p:nvPr/>
        </p:nvSpPr>
        <p:spPr>
          <a:xfrm>
            <a:off x="6144768" y="1371600"/>
            <a:ext cx="2615184" cy="1463040"/>
          </a:xfrm>
          <a:prstGeom prst="roundRect">
            <a:avLst>
              <a:gd name="adj" fmla="val 5000"/>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1" name="Text 9"/>
          <p:cNvSpPr txBox="1"/>
          <p:nvPr/>
        </p:nvSpPr>
        <p:spPr>
          <a:xfrm>
            <a:off x="6345936" y="1481328"/>
            <a:ext cx="2194560" cy="64008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5 yrs</a:t>
            </a:r>
            <a:endParaRPr lang="en-US" sz="3600" dirty="0"/>
          </a:p>
        </p:txBody>
      </p:sp>
      <p:sp>
        <p:nvSpPr>
          <p:cNvPr id="12" name="Text 10"/>
          <p:cNvSpPr txBox="1"/>
          <p:nvPr/>
        </p:nvSpPr>
        <p:spPr>
          <a:xfrm>
            <a:off x="6345936" y="2148840"/>
            <a:ext cx="2240280" cy="548640"/>
          </a:xfrm>
          <a:prstGeom prst="rect">
            <a:avLst/>
          </a:prstGeom>
          <a:noFill/>
          <a:ln/>
        </p:spPr>
        <p:txBody>
          <a:bodyPr wrap="square" lIns="0" tIns="0" rIns="0" bIns="0" rtlCol="0" anchor="ctr"/>
          <a:lstStyle/>
          <a:p>
            <a:pPr indent="0" marL="0">
              <a:buNone/>
            </a:pPr>
            <a:r>
              <a:rPr lang="en-US" sz="1200" dirty="0">
                <a:solidFill>
                  <a:srgbClr val="5C6688"/>
                </a:solidFill>
                <a:latin typeface="Calibri" pitchFamily="34" charset="0"/>
                <a:ea typeface="Calibri" pitchFamily="34" charset="-122"/>
                <a:cs typeface="Calibri" pitchFamily="34" charset="-120"/>
              </a:rPr>
              <a:t>longest a defect went unseen</a:t>
            </a:r>
            <a:endParaRPr lang="en-US" sz="1200" dirty="0"/>
          </a:p>
        </p:txBody>
      </p:sp>
      <p:sp>
        <p:nvSpPr>
          <p:cNvPr id="13" name="Shape 11"/>
          <p:cNvSpPr/>
          <p:nvPr/>
        </p:nvSpPr>
        <p:spPr>
          <a:xfrm>
            <a:off x="8942832" y="1371600"/>
            <a:ext cx="2615184" cy="1463040"/>
          </a:xfrm>
          <a:prstGeom prst="roundRect">
            <a:avLst>
              <a:gd name="adj" fmla="val 5000"/>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4" name="Text 12"/>
          <p:cNvSpPr txBox="1"/>
          <p:nvPr/>
        </p:nvSpPr>
        <p:spPr>
          <a:xfrm>
            <a:off x="9144000" y="1481328"/>
            <a:ext cx="2194560" cy="640080"/>
          </a:xfrm>
          <a:prstGeom prst="rect">
            <a:avLst/>
          </a:prstGeom>
          <a:noFill/>
          <a:ln/>
        </p:spPr>
        <p:txBody>
          <a:bodyPr wrap="square" lIns="0" tIns="0" rIns="0" bIns="0" rtlCol="0" anchor="ctr"/>
          <a:lstStyle/>
          <a:p>
            <a:pPr indent="0" marL="0">
              <a:buNone/>
            </a:pPr>
            <a:r>
              <a:rPr lang="en-US" sz="3600" b="1" dirty="0">
                <a:solidFill>
                  <a:srgbClr val="15794F"/>
                </a:solidFill>
                <a:latin typeface="Cambria" pitchFamily="34" charset="0"/>
                <a:ea typeface="Cambria" pitchFamily="34" charset="-122"/>
                <a:cs typeface="Cambria" pitchFamily="34" charset="-120"/>
              </a:rPr>
              <a:t>100%</a:t>
            </a:r>
            <a:endParaRPr lang="en-US" sz="3600" dirty="0"/>
          </a:p>
        </p:txBody>
      </p:sp>
      <p:sp>
        <p:nvSpPr>
          <p:cNvPr id="15" name="Text 13"/>
          <p:cNvSpPr txBox="1"/>
          <p:nvPr/>
        </p:nvSpPr>
        <p:spPr>
          <a:xfrm>
            <a:off x="9144000" y="2148840"/>
            <a:ext cx="2240280" cy="548640"/>
          </a:xfrm>
          <a:prstGeom prst="rect">
            <a:avLst/>
          </a:prstGeom>
          <a:noFill/>
          <a:ln/>
        </p:spPr>
        <p:txBody>
          <a:bodyPr wrap="square" lIns="0" tIns="0" rIns="0" bIns="0" rtlCol="0" anchor="ctr"/>
          <a:lstStyle/>
          <a:p>
            <a:pPr indent="0" marL="0">
              <a:buNone/>
            </a:pPr>
            <a:r>
              <a:rPr lang="en-US" sz="1200" dirty="0">
                <a:solidFill>
                  <a:srgbClr val="5C6688"/>
                </a:solidFill>
                <a:latin typeface="Calibri" pitchFamily="34" charset="0"/>
                <a:ea typeface="Calibri" pitchFamily="34" charset="-122"/>
                <a:cs typeface="Calibri" pitchFamily="34" charset="-120"/>
              </a:rPr>
              <a:t>unrepaired in current releases</a:t>
            </a:r>
            <a:endParaRPr lang="en-US" sz="1200" dirty="0"/>
          </a:p>
        </p:txBody>
      </p:sp>
      <p:sp>
        <p:nvSpPr>
          <p:cNvPr id="16" name="Shape 14"/>
          <p:cNvSpPr/>
          <p:nvPr/>
        </p:nvSpPr>
        <p:spPr>
          <a:xfrm>
            <a:off x="548640" y="3108960"/>
            <a:ext cx="5394960" cy="1371600"/>
          </a:xfrm>
          <a:prstGeom prst="roundRect">
            <a:avLst>
              <a:gd name="adj" fmla="val 5333"/>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7" name="Shape 15"/>
          <p:cNvSpPr/>
          <p:nvPr/>
        </p:nvSpPr>
        <p:spPr>
          <a:xfrm>
            <a:off x="822960" y="3364992"/>
            <a:ext cx="420624" cy="420624"/>
          </a:xfrm>
          <a:prstGeom prst="ellipse">
            <a:avLst/>
          </a:prstGeom>
          <a:solidFill>
            <a:srgbClr val="1E2761"/>
          </a:solidFill>
          <a:ln w="12700">
            <a:solidFill>
              <a:srgbClr val="1E2761"/>
            </a:solidFill>
            <a:prstDash val="solid"/>
          </a:ln>
        </p:spPr>
      </p:sp>
      <p:sp>
        <p:nvSpPr>
          <p:cNvPr id="18" name="Text 16"/>
          <p:cNvSpPr txBox="1"/>
          <p:nvPr/>
        </p:nvSpPr>
        <p:spPr>
          <a:xfrm>
            <a:off x="822960" y="336499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9" name="Text 17"/>
          <p:cNvSpPr txBox="1"/>
          <p:nvPr/>
        </p:nvSpPr>
        <p:spPr>
          <a:xfrm>
            <a:off x="1417320" y="3310128"/>
            <a:ext cx="4343400" cy="29260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The harness works</a:t>
            </a:r>
            <a:endParaRPr lang="en-US" sz="1600" dirty="0"/>
          </a:p>
        </p:txBody>
      </p:sp>
      <p:sp>
        <p:nvSpPr>
          <p:cNvPr id="20" name="Text 18"/>
          <p:cNvSpPr txBox="1"/>
          <p:nvPr/>
        </p:nvSpPr>
        <p:spPr>
          <a:xfrm>
            <a:off x="1417320" y="3639312"/>
            <a:ext cx="4343400" cy="731520"/>
          </a:xfrm>
          <a:prstGeom prst="rect">
            <a:avLst/>
          </a:prstGeom>
          <a:noFill/>
          <a:ln/>
        </p:spPr>
        <p:txBody>
          <a:bodyPr wrap="square" lIns="0" tIns="0" rIns="0" bIns="0" rtlCol="0" anchor="ctr"/>
          <a:lstStyle/>
          <a:p>
            <a:pPr indent="0" marL="0">
              <a:lnSpc>
                <a:spcPts val="1600"/>
              </a:lnSpc>
              <a:buNone/>
            </a:pPr>
            <a:r>
              <a:rPr lang="en-US" sz="1200" dirty="0">
                <a:solidFill>
                  <a:srgbClr val="141B2E"/>
                </a:solidFill>
                <a:latin typeface="Calibri" pitchFamily="34" charset="0"/>
                <a:ea typeface="Calibri" pitchFamily="34" charset="-122"/>
                <a:cs typeface="Calibri" pitchFamily="34" charset="-120"/>
              </a:rPr>
              <a:t>In one week it proved three defects in software that thousands of engineering teams depend on every day.</a:t>
            </a:r>
            <a:endParaRPr lang="en-US" sz="1200" dirty="0"/>
          </a:p>
        </p:txBody>
      </p:sp>
      <p:sp>
        <p:nvSpPr>
          <p:cNvPr id="21" name="Shape 19"/>
          <p:cNvSpPr/>
          <p:nvPr/>
        </p:nvSpPr>
        <p:spPr>
          <a:xfrm>
            <a:off x="6153912" y="3108960"/>
            <a:ext cx="5394960" cy="1371600"/>
          </a:xfrm>
          <a:prstGeom prst="roundRect">
            <a:avLst>
              <a:gd name="adj" fmla="val 5333"/>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22" name="Shape 20"/>
          <p:cNvSpPr/>
          <p:nvPr/>
        </p:nvSpPr>
        <p:spPr>
          <a:xfrm>
            <a:off x="6428232" y="3364992"/>
            <a:ext cx="420624" cy="420624"/>
          </a:xfrm>
          <a:prstGeom prst="ellipse">
            <a:avLst/>
          </a:prstGeom>
          <a:solidFill>
            <a:srgbClr val="1E2761"/>
          </a:solidFill>
          <a:ln w="12700">
            <a:solidFill>
              <a:srgbClr val="1E2761"/>
            </a:solidFill>
            <a:prstDash val="solid"/>
          </a:ln>
        </p:spPr>
      </p:sp>
      <p:sp>
        <p:nvSpPr>
          <p:cNvPr id="23" name="Text 21"/>
          <p:cNvSpPr txBox="1"/>
          <p:nvPr/>
        </p:nvSpPr>
        <p:spPr>
          <a:xfrm>
            <a:off x="6428232" y="336499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4" name="Text 22"/>
          <p:cNvSpPr txBox="1"/>
          <p:nvPr/>
        </p:nvSpPr>
        <p:spPr>
          <a:xfrm>
            <a:off x="7022592" y="3310128"/>
            <a:ext cx="4343400" cy="29260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The evidence standard is high</a:t>
            </a:r>
            <a:endParaRPr lang="en-US" sz="1600" dirty="0"/>
          </a:p>
        </p:txBody>
      </p:sp>
      <p:sp>
        <p:nvSpPr>
          <p:cNvPr id="25" name="Text 23"/>
          <p:cNvSpPr txBox="1"/>
          <p:nvPr/>
        </p:nvSpPr>
        <p:spPr>
          <a:xfrm>
            <a:off x="7022592" y="3639312"/>
            <a:ext cx="4343400" cy="731520"/>
          </a:xfrm>
          <a:prstGeom prst="rect">
            <a:avLst/>
          </a:prstGeom>
          <a:noFill/>
          <a:ln/>
        </p:spPr>
        <p:txBody>
          <a:bodyPr wrap="square" lIns="0" tIns="0" rIns="0" bIns="0" rtlCol="0" anchor="ctr"/>
          <a:lstStyle/>
          <a:p>
            <a:pPr indent="0" marL="0">
              <a:lnSpc>
                <a:spcPts val="1600"/>
              </a:lnSpc>
              <a:buNone/>
            </a:pPr>
            <a:r>
              <a:rPr lang="en-US" sz="1200" dirty="0">
                <a:solidFill>
                  <a:srgbClr val="141B2E"/>
                </a:solidFill>
                <a:latin typeface="Calibri" pitchFamily="34" charset="0"/>
                <a:ea typeface="Calibri" pitchFamily="34" charset="-122"/>
                <a:cs typeface="Calibri" pitchFamily="34" charset="-120"/>
              </a:rPr>
              <a:t>Nothing is called a finding until it has been run, reproduced under a memory checker, or confirmed against the project's current published code.</a:t>
            </a:r>
            <a:endParaRPr lang="en-US" sz="1200" dirty="0"/>
          </a:p>
        </p:txBody>
      </p:sp>
      <p:sp>
        <p:nvSpPr>
          <p:cNvPr id="26" name="Shape 24"/>
          <p:cNvSpPr/>
          <p:nvPr/>
        </p:nvSpPr>
        <p:spPr>
          <a:xfrm>
            <a:off x="548640" y="4681728"/>
            <a:ext cx="5394960" cy="1371600"/>
          </a:xfrm>
          <a:prstGeom prst="roundRect">
            <a:avLst>
              <a:gd name="adj" fmla="val 5333"/>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27" name="Shape 25"/>
          <p:cNvSpPr/>
          <p:nvPr/>
        </p:nvSpPr>
        <p:spPr>
          <a:xfrm>
            <a:off x="822960" y="4937760"/>
            <a:ext cx="420624" cy="420624"/>
          </a:xfrm>
          <a:prstGeom prst="ellipse">
            <a:avLst/>
          </a:prstGeom>
          <a:solidFill>
            <a:srgbClr val="1E2761"/>
          </a:solidFill>
          <a:ln w="12700">
            <a:solidFill>
              <a:srgbClr val="1E2761"/>
            </a:solidFill>
            <a:prstDash val="solid"/>
          </a:ln>
        </p:spPr>
      </p:sp>
      <p:sp>
        <p:nvSpPr>
          <p:cNvPr id="28" name="Text 26"/>
          <p:cNvSpPr txBox="1"/>
          <p:nvPr/>
        </p:nvSpPr>
        <p:spPr>
          <a:xfrm>
            <a:off x="822960" y="49377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9" name="Text 27"/>
          <p:cNvSpPr txBox="1"/>
          <p:nvPr/>
        </p:nvSpPr>
        <p:spPr>
          <a:xfrm>
            <a:off x="1417320" y="4882896"/>
            <a:ext cx="4343400" cy="29260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These are open source proving grounds</a:t>
            </a:r>
            <a:endParaRPr lang="en-US" sz="1600" dirty="0"/>
          </a:p>
        </p:txBody>
      </p:sp>
      <p:sp>
        <p:nvSpPr>
          <p:cNvPr id="30" name="Text 28"/>
          <p:cNvSpPr txBox="1"/>
          <p:nvPr/>
        </p:nvSpPr>
        <p:spPr>
          <a:xfrm>
            <a:off x="1417320" y="5212080"/>
            <a:ext cx="4343400" cy="731520"/>
          </a:xfrm>
          <a:prstGeom prst="rect">
            <a:avLst/>
          </a:prstGeom>
          <a:noFill/>
          <a:ln/>
        </p:spPr>
        <p:txBody>
          <a:bodyPr wrap="square" lIns="0" tIns="0" rIns="0" bIns="0" rtlCol="0" anchor="ctr"/>
          <a:lstStyle/>
          <a:p>
            <a:pPr indent="0" marL="0">
              <a:lnSpc>
                <a:spcPts val="1600"/>
              </a:lnSpc>
              <a:buNone/>
            </a:pPr>
            <a:r>
              <a:rPr lang="en-US" sz="1200" dirty="0">
                <a:solidFill>
                  <a:srgbClr val="141B2E"/>
                </a:solidFill>
                <a:latin typeface="Calibri" pitchFamily="34" charset="0"/>
                <a:ea typeface="Calibri" pitchFamily="34" charset="-122"/>
                <a:cs typeface="Calibri" pitchFamily="34" charset="-120"/>
              </a:rPr>
              <a:t>The three projects are third party, not American Express systems. They were chosen because anyone can independently check the result.</a:t>
            </a:r>
            <a:endParaRPr lang="en-US" sz="1200" dirty="0"/>
          </a:p>
        </p:txBody>
      </p:sp>
      <p:sp>
        <p:nvSpPr>
          <p:cNvPr id="31" name="Shape 29"/>
          <p:cNvSpPr/>
          <p:nvPr/>
        </p:nvSpPr>
        <p:spPr>
          <a:xfrm>
            <a:off x="6153912" y="4681728"/>
            <a:ext cx="5394960" cy="1371600"/>
          </a:xfrm>
          <a:prstGeom prst="roundRect">
            <a:avLst>
              <a:gd name="adj" fmla="val 5333"/>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32" name="Shape 30"/>
          <p:cNvSpPr/>
          <p:nvPr/>
        </p:nvSpPr>
        <p:spPr>
          <a:xfrm>
            <a:off x="6428232" y="4937760"/>
            <a:ext cx="420624" cy="420624"/>
          </a:xfrm>
          <a:prstGeom prst="ellipse">
            <a:avLst/>
          </a:prstGeom>
          <a:solidFill>
            <a:srgbClr val="1E2761"/>
          </a:solidFill>
          <a:ln w="12700">
            <a:solidFill>
              <a:srgbClr val="1E2761"/>
            </a:solidFill>
            <a:prstDash val="solid"/>
          </a:ln>
        </p:spPr>
      </p:sp>
      <p:sp>
        <p:nvSpPr>
          <p:cNvPr id="33" name="Text 31"/>
          <p:cNvSpPr txBox="1"/>
          <p:nvPr/>
        </p:nvSpPr>
        <p:spPr>
          <a:xfrm>
            <a:off x="6428232" y="49377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4" name="Text 32"/>
          <p:cNvSpPr txBox="1"/>
          <p:nvPr/>
        </p:nvSpPr>
        <p:spPr>
          <a:xfrm>
            <a:off x="7022592" y="4882896"/>
            <a:ext cx="4343400" cy="29260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One of them had been invisible for five years</a:t>
            </a:r>
            <a:endParaRPr lang="en-US" sz="1600" dirty="0"/>
          </a:p>
        </p:txBody>
      </p:sp>
      <p:sp>
        <p:nvSpPr>
          <p:cNvPr id="35" name="Text 33"/>
          <p:cNvSpPr txBox="1"/>
          <p:nvPr/>
        </p:nvSpPr>
        <p:spPr>
          <a:xfrm>
            <a:off x="7022592" y="5212080"/>
            <a:ext cx="4343400" cy="731520"/>
          </a:xfrm>
          <a:prstGeom prst="rect">
            <a:avLst/>
          </a:prstGeom>
          <a:noFill/>
          <a:ln/>
        </p:spPr>
        <p:txBody>
          <a:bodyPr wrap="square" lIns="0" tIns="0" rIns="0" bIns="0" rtlCol="0" anchor="ctr"/>
          <a:lstStyle/>
          <a:p>
            <a:pPr indent="0" marL="0">
              <a:lnSpc>
                <a:spcPts val="1600"/>
              </a:lnSpc>
              <a:buNone/>
            </a:pPr>
            <a:r>
              <a:rPr lang="en-US" sz="1200" dirty="0">
                <a:solidFill>
                  <a:srgbClr val="141B2E"/>
                </a:solidFill>
                <a:latin typeface="Calibri" pitchFamily="34" charset="0"/>
                <a:ea typeface="Calibri" pitchFamily="34" charset="-122"/>
                <a:cs typeface="Calibri" pitchFamily="34" charset="-120"/>
              </a:rPr>
              <a:t>Human review, existing scanners and the project's own test suite all passed over it. The harness did not.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C6688"/>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Three steps, in plain language</a:t>
            </a:r>
            <a:endParaRPr lang="en-US" sz="3200" dirty="0"/>
          </a:p>
        </p:txBody>
      </p:sp>
      <p:sp>
        <p:nvSpPr>
          <p:cNvPr id="4" name="Text 2"/>
          <p:cNvSpPr txBox="1"/>
          <p:nvPr/>
        </p:nvSpPr>
        <p:spPr>
          <a:xfrm>
            <a:off x="548640" y="1188720"/>
            <a:ext cx="10728655" cy="384048"/>
          </a:xfrm>
          <a:prstGeom prst="rect">
            <a:avLst/>
          </a:prstGeom>
          <a:noFill/>
          <a:ln/>
        </p:spPr>
        <p:txBody>
          <a:bodyPr wrap="square" lIns="0" tIns="0" rIns="0" bIns="0" rtlCol="0" anchor="ctr"/>
          <a:lstStyle/>
          <a:p>
            <a:pPr indent="0" marL="0">
              <a:buNone/>
            </a:pPr>
            <a:r>
              <a:rPr lang="en-US" sz="1400" dirty="0">
                <a:solidFill>
                  <a:srgbClr val="5C6688"/>
                </a:solidFill>
                <a:latin typeface="Calibri" pitchFamily="34" charset="0"/>
                <a:ea typeface="Calibri" pitchFamily="34" charset="-122"/>
                <a:cs typeface="Calibri" pitchFamily="34" charset="-120"/>
              </a:rPr>
              <a:t>No security background needed. The harness does what a very patient expert reviewer would do, at machine speed.</a:t>
            </a:r>
            <a:endParaRPr lang="en-US" sz="1400" dirty="0"/>
          </a:p>
        </p:txBody>
      </p:sp>
      <p:sp>
        <p:nvSpPr>
          <p:cNvPr id="5" name="Shape 3"/>
          <p:cNvSpPr/>
          <p:nvPr/>
        </p:nvSpPr>
        <p:spPr>
          <a:xfrm>
            <a:off x="548640" y="1828800"/>
            <a:ext cx="3529584" cy="3200400"/>
          </a:xfrm>
          <a:prstGeom prst="roundRect">
            <a:avLst>
              <a:gd name="adj" fmla="val 2286"/>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6" name="Shape 4"/>
          <p:cNvSpPr/>
          <p:nvPr/>
        </p:nvSpPr>
        <p:spPr>
          <a:xfrm>
            <a:off x="822960" y="2103120"/>
            <a:ext cx="502920" cy="502920"/>
          </a:xfrm>
          <a:prstGeom prst="ellipse">
            <a:avLst/>
          </a:prstGeom>
          <a:solidFill>
            <a:srgbClr val="1E2761"/>
          </a:solidFill>
          <a:ln w="12700">
            <a:solidFill>
              <a:srgbClr val="1E2761"/>
            </a:solidFill>
            <a:prstDash val="solid"/>
          </a:ln>
        </p:spPr>
      </p:sp>
      <p:sp>
        <p:nvSpPr>
          <p:cNvPr id="7" name="Text 5"/>
          <p:cNvSpPr txBox="1"/>
          <p:nvPr/>
        </p:nvSpPr>
        <p:spPr>
          <a:xfrm>
            <a:off x="822960" y="2103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822960" y="2743200"/>
            <a:ext cx="3017520" cy="731520"/>
          </a:xfrm>
          <a:prstGeom prst="rect">
            <a:avLst/>
          </a:prstGeom>
          <a:noFill/>
          <a:ln/>
        </p:spPr>
        <p:txBody>
          <a:bodyPr wrap="square" lIns="0" tIns="0" rIns="0" bIns="0" rtlCol="0" anchor="ctr"/>
          <a:lstStyle/>
          <a:p>
            <a:pPr indent="0" marL="0">
              <a:lnSpc>
                <a:spcPts val="2100"/>
              </a:lnSpc>
              <a:buNone/>
            </a:pPr>
            <a:r>
              <a:rPr lang="en-US" sz="1700" b="1" dirty="0">
                <a:solidFill>
                  <a:srgbClr val="1E2761"/>
                </a:solidFill>
                <a:latin typeface="Cambria" pitchFamily="34" charset="0"/>
                <a:ea typeface="Cambria" pitchFamily="34" charset="-122"/>
                <a:cs typeface="Cambria" pitchFamily="34" charset="-120"/>
              </a:rPr>
              <a:t>Understand the program</a:t>
            </a:r>
            <a:endParaRPr lang="en-US" sz="1700" dirty="0"/>
          </a:p>
        </p:txBody>
      </p:sp>
      <p:sp>
        <p:nvSpPr>
          <p:cNvPr id="9" name="Text 7"/>
          <p:cNvSpPr txBox="1"/>
          <p:nvPr/>
        </p:nvSpPr>
        <p:spPr>
          <a:xfrm>
            <a:off x="822960" y="3520440"/>
            <a:ext cx="3017520" cy="1371600"/>
          </a:xfrm>
          <a:prstGeom prst="rect">
            <a:avLst/>
          </a:prstGeom>
          <a:noFill/>
          <a:ln/>
        </p:spPr>
        <p:txBody>
          <a:bodyPr wrap="square" lIns="0" tIns="0" rIns="0" bIns="0" rtlCol="0" anchor="ctr"/>
          <a:lstStyle/>
          <a:p>
            <a:pPr indent="0" marL="0">
              <a:lnSpc>
                <a:spcPts val="1700"/>
              </a:lnSpc>
              <a:buNone/>
            </a:pPr>
            <a:r>
              <a:rPr lang="en-US" sz="1250" dirty="0">
                <a:solidFill>
                  <a:srgbClr val="141B2E"/>
                </a:solidFill>
                <a:latin typeface="Calibri" pitchFamily="34" charset="0"/>
                <a:ea typeface="Calibri" pitchFamily="34" charset="-122"/>
                <a:cs typeface="Calibri" pitchFamily="34" charset="-120"/>
              </a:rPr>
              <a:t>Most scanners search source code for suspicious-looking patterns. This harness builds a working model of what the program actually does, then reasons over that. Far fewer false alarms.</a:t>
            </a:r>
            <a:endParaRPr lang="en-US" sz="1250" dirty="0"/>
          </a:p>
        </p:txBody>
      </p:sp>
      <p:sp>
        <p:nvSpPr>
          <p:cNvPr id="10" name="Shape 8"/>
          <p:cNvSpPr/>
          <p:nvPr/>
        </p:nvSpPr>
        <p:spPr>
          <a:xfrm>
            <a:off x="4261104" y="1828800"/>
            <a:ext cx="3529584" cy="3200400"/>
          </a:xfrm>
          <a:prstGeom prst="roundRect">
            <a:avLst>
              <a:gd name="adj" fmla="val 2286"/>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1" name="Shape 9"/>
          <p:cNvSpPr/>
          <p:nvPr/>
        </p:nvSpPr>
        <p:spPr>
          <a:xfrm>
            <a:off x="4535424" y="2103120"/>
            <a:ext cx="502920" cy="502920"/>
          </a:xfrm>
          <a:prstGeom prst="ellipse">
            <a:avLst/>
          </a:prstGeom>
          <a:solidFill>
            <a:srgbClr val="1E2761"/>
          </a:solidFill>
          <a:ln w="12700">
            <a:solidFill>
              <a:srgbClr val="1E2761"/>
            </a:solidFill>
            <a:prstDash val="solid"/>
          </a:ln>
        </p:spPr>
      </p:sp>
      <p:sp>
        <p:nvSpPr>
          <p:cNvPr id="12" name="Text 10"/>
          <p:cNvSpPr txBox="1"/>
          <p:nvPr/>
        </p:nvSpPr>
        <p:spPr>
          <a:xfrm>
            <a:off x="4535424" y="2103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4535424" y="2743200"/>
            <a:ext cx="3017520" cy="731520"/>
          </a:xfrm>
          <a:prstGeom prst="rect">
            <a:avLst/>
          </a:prstGeom>
          <a:noFill/>
          <a:ln/>
        </p:spPr>
        <p:txBody>
          <a:bodyPr wrap="square" lIns="0" tIns="0" rIns="0" bIns="0" rtlCol="0" anchor="ctr"/>
          <a:lstStyle/>
          <a:p>
            <a:pPr indent="0" marL="0">
              <a:lnSpc>
                <a:spcPts val="2100"/>
              </a:lnSpc>
              <a:buNone/>
            </a:pPr>
            <a:r>
              <a:rPr lang="en-US" sz="1700" b="1" dirty="0">
                <a:solidFill>
                  <a:srgbClr val="1E2761"/>
                </a:solidFill>
                <a:latin typeface="Cambria" pitchFamily="34" charset="0"/>
                <a:ea typeface="Cambria" pitchFamily="34" charset="-122"/>
                <a:cs typeface="Cambria" pitchFamily="34" charset="-120"/>
              </a:rPr>
              <a:t>Argue one specific defect</a:t>
            </a:r>
            <a:endParaRPr lang="en-US" sz="1700" dirty="0"/>
          </a:p>
        </p:txBody>
      </p:sp>
      <p:sp>
        <p:nvSpPr>
          <p:cNvPr id="14" name="Text 12"/>
          <p:cNvSpPr txBox="1"/>
          <p:nvPr/>
        </p:nvSpPr>
        <p:spPr>
          <a:xfrm>
            <a:off x="4535424" y="3520440"/>
            <a:ext cx="3017520" cy="1371600"/>
          </a:xfrm>
          <a:prstGeom prst="rect">
            <a:avLst/>
          </a:prstGeom>
          <a:noFill/>
          <a:ln/>
        </p:spPr>
        <p:txBody>
          <a:bodyPr wrap="square" lIns="0" tIns="0" rIns="0" bIns="0" rtlCol="0" anchor="ctr"/>
          <a:lstStyle/>
          <a:p>
            <a:pPr indent="0" marL="0">
              <a:lnSpc>
                <a:spcPts val="1700"/>
              </a:lnSpc>
              <a:buNone/>
            </a:pPr>
            <a:r>
              <a:rPr lang="en-US" sz="1250" dirty="0">
                <a:solidFill>
                  <a:srgbClr val="141B2E"/>
                </a:solidFill>
                <a:latin typeface="Calibri" pitchFamily="34" charset="0"/>
                <a:ea typeface="Calibri" pitchFamily="34" charset="-122"/>
                <a:cs typeface="Calibri" pitchFamily="34" charset="-120"/>
              </a:rPr>
              <a:t>Every finding names the exact file, the exact line, and the exact chain of events that makes it a problem. There are no vague warnings and no severity scores without a story behind them.</a:t>
            </a:r>
            <a:endParaRPr lang="en-US" sz="1250" dirty="0"/>
          </a:p>
        </p:txBody>
      </p:sp>
      <p:sp>
        <p:nvSpPr>
          <p:cNvPr id="15" name="Shape 13"/>
          <p:cNvSpPr/>
          <p:nvPr/>
        </p:nvSpPr>
        <p:spPr>
          <a:xfrm>
            <a:off x="7973568" y="1828800"/>
            <a:ext cx="3529584" cy="3200400"/>
          </a:xfrm>
          <a:prstGeom prst="roundRect">
            <a:avLst>
              <a:gd name="adj" fmla="val 2286"/>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6" name="Shape 14"/>
          <p:cNvSpPr/>
          <p:nvPr/>
        </p:nvSpPr>
        <p:spPr>
          <a:xfrm>
            <a:off x="8247888" y="2103120"/>
            <a:ext cx="502920" cy="502920"/>
          </a:xfrm>
          <a:prstGeom prst="ellipse">
            <a:avLst/>
          </a:prstGeom>
          <a:solidFill>
            <a:srgbClr val="1E2761"/>
          </a:solidFill>
          <a:ln w="12700">
            <a:solidFill>
              <a:srgbClr val="1E2761"/>
            </a:solidFill>
            <a:prstDash val="solid"/>
          </a:ln>
        </p:spPr>
      </p:sp>
      <p:sp>
        <p:nvSpPr>
          <p:cNvPr id="17" name="Text 15"/>
          <p:cNvSpPr txBox="1"/>
          <p:nvPr/>
        </p:nvSpPr>
        <p:spPr>
          <a:xfrm>
            <a:off x="8247888" y="2103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8247888" y="2743200"/>
            <a:ext cx="3017520" cy="731520"/>
          </a:xfrm>
          <a:prstGeom prst="rect">
            <a:avLst/>
          </a:prstGeom>
          <a:noFill/>
          <a:ln/>
        </p:spPr>
        <p:txBody>
          <a:bodyPr wrap="square" lIns="0" tIns="0" rIns="0" bIns="0" rtlCol="0" anchor="ctr"/>
          <a:lstStyle/>
          <a:p>
            <a:pPr indent="0" marL="0">
              <a:lnSpc>
                <a:spcPts val="2100"/>
              </a:lnSpc>
              <a:buNone/>
            </a:pPr>
            <a:r>
              <a:rPr lang="en-US" sz="1700" b="1" dirty="0">
                <a:solidFill>
                  <a:srgbClr val="1E2761"/>
                </a:solidFill>
                <a:latin typeface="Cambria" pitchFamily="34" charset="0"/>
                <a:ea typeface="Cambria" pitchFamily="34" charset="-122"/>
                <a:cs typeface="Cambria" pitchFamily="34" charset="-120"/>
              </a:rPr>
              <a:t>Prove it before it counts</a:t>
            </a:r>
            <a:endParaRPr lang="en-US" sz="1700" dirty="0"/>
          </a:p>
        </p:txBody>
      </p:sp>
      <p:sp>
        <p:nvSpPr>
          <p:cNvPr id="19" name="Text 17"/>
          <p:cNvSpPr txBox="1"/>
          <p:nvPr/>
        </p:nvSpPr>
        <p:spPr>
          <a:xfrm>
            <a:off x="8247888" y="3520440"/>
            <a:ext cx="3017520" cy="1371600"/>
          </a:xfrm>
          <a:prstGeom prst="rect">
            <a:avLst/>
          </a:prstGeom>
          <a:noFill/>
          <a:ln/>
        </p:spPr>
        <p:txBody>
          <a:bodyPr wrap="square" lIns="0" tIns="0" rIns="0" bIns="0" rtlCol="0" anchor="ctr"/>
          <a:lstStyle/>
          <a:p>
            <a:pPr indent="0" marL="0">
              <a:lnSpc>
                <a:spcPts val="1700"/>
              </a:lnSpc>
              <a:buNone/>
            </a:pPr>
            <a:r>
              <a:rPr lang="en-US" sz="1250" dirty="0">
                <a:solidFill>
                  <a:srgbClr val="141B2E"/>
                </a:solidFill>
                <a:latin typeface="Calibri" pitchFamily="34" charset="0"/>
                <a:ea typeface="Calibri" pitchFamily="34" charset="-122"/>
                <a:cs typeface="Calibri" pitchFamily="34" charset="-120"/>
              </a:rPr>
              <a:t>A finding is only promoted once it has been run, reproduced under a memory checker, or confirmed against the project's current published code. That is the standard behind every number in this brief.</a:t>
            </a:r>
            <a:endParaRPr lang="en-US" sz="1250" dirty="0"/>
          </a:p>
        </p:txBody>
      </p:sp>
      <p:sp>
        <p:nvSpPr>
          <p:cNvPr id="20" name="Shape 18"/>
          <p:cNvSpPr/>
          <p:nvPr/>
        </p:nvSpPr>
        <p:spPr>
          <a:xfrm>
            <a:off x="548640" y="5257800"/>
            <a:ext cx="11094415" cy="868680"/>
          </a:xfrm>
          <a:prstGeom prst="roundRect">
            <a:avLst>
              <a:gd name="adj" fmla="val 8421"/>
            </a:avLst>
          </a:prstGeom>
          <a:solidFill>
            <a:srgbClr val="E3F1EA"/>
          </a:solidFill>
          <a:ln w="12700">
            <a:solidFill>
              <a:srgbClr val="BFE0CE"/>
            </a:solidFill>
            <a:prstDash val="solid"/>
          </a:ln>
          <a:effectLst>
            <a:outerShdw sx="100000" sy="100000" kx="0" ky="0" algn="bl" rotWithShape="0" blurRad="127000" dist="25400" dir="5400000">
              <a:srgbClr val="1E2761">
                <a:alpha val="10000"/>
              </a:srgbClr>
            </a:outerShdw>
          </a:effectLst>
        </p:spPr>
      </p:sp>
      <p:sp>
        <p:nvSpPr>
          <p:cNvPr id="21" name="Text 19"/>
          <p:cNvSpPr txBox="1"/>
          <p:nvPr/>
        </p:nvSpPr>
        <p:spPr>
          <a:xfrm>
            <a:off x="822960" y="5394960"/>
            <a:ext cx="10545775" cy="594360"/>
          </a:xfrm>
          <a:prstGeom prst="rect">
            <a:avLst/>
          </a:prstGeom>
          <a:noFill/>
          <a:ln/>
        </p:spPr>
        <p:txBody>
          <a:bodyPr wrap="square" lIns="0" tIns="0" rIns="0" bIns="0" rtlCol="0" anchor="ctr"/>
          <a:lstStyle/>
          <a:p>
            <a:pPr indent="0" marL="0">
              <a:buNone/>
            </a:pPr>
            <a:r>
              <a:rPr lang="en-US" sz="1400" b="1" dirty="0">
                <a:solidFill>
                  <a:srgbClr val="15794F"/>
                </a:solidFill>
                <a:latin typeface="Calibri" pitchFamily="34" charset="0"/>
                <a:ea typeface="Calibri" pitchFamily="34" charset="-122"/>
                <a:cs typeface="Calibri" pitchFamily="34" charset="-120"/>
              </a:rPr>
              <a:t>Step three is what makes the rest usable. </a:t>
            </a:r>
            <a:pPr indent="0" marL="0">
              <a:buNone/>
            </a:pPr>
            <a:r>
              <a:rPr lang="en-US" sz="1400" dirty="0">
                <a:solidFill>
                  <a:srgbClr val="141B2E"/>
                </a:solidFill>
                <a:latin typeface="Calibri" pitchFamily="34" charset="0"/>
                <a:ea typeface="Calibri" pitchFamily="34" charset="-122"/>
                <a:cs typeface="Calibri" pitchFamily="34" charset="-120"/>
              </a:rPr>
              <a:t>It is the difference between a report a maintainer acts on immediately and a claim that has to be argued about first.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C6688"/>
                </a:solidFill>
                <a:latin typeface="Calibri" pitchFamily="34" charset="0"/>
                <a:ea typeface="Calibri" pitchFamily="34" charset="-122"/>
                <a:cs typeface="Calibri" pitchFamily="34" charset="-120"/>
              </a:rPr>
              <a:t>THE FINDINGS</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we found, in plain terms</a:t>
            </a:r>
            <a:endParaRPr lang="en-US" sz="3200" dirty="0"/>
          </a:p>
        </p:txBody>
      </p:sp>
      <p:sp>
        <p:nvSpPr>
          <p:cNvPr id="4" name="Text 2"/>
          <p:cNvSpPr txBox="1"/>
          <p:nvPr/>
        </p:nvSpPr>
        <p:spPr>
          <a:xfrm>
            <a:off x="548640" y="1188720"/>
            <a:ext cx="10728655" cy="384048"/>
          </a:xfrm>
          <a:prstGeom prst="rect">
            <a:avLst/>
          </a:prstGeom>
          <a:noFill/>
          <a:ln/>
        </p:spPr>
        <p:txBody>
          <a:bodyPr wrap="square" lIns="0" tIns="0" rIns="0" bIns="0" rtlCol="0" anchor="ctr"/>
          <a:lstStyle/>
          <a:p>
            <a:pPr indent="0" marL="0">
              <a:buNone/>
            </a:pPr>
            <a:r>
              <a:rPr lang="en-US" sz="1400" dirty="0">
                <a:solidFill>
                  <a:srgbClr val="5C6688"/>
                </a:solidFill>
                <a:latin typeface="Calibri" pitchFamily="34" charset="0"/>
                <a:ea typeface="Calibri" pitchFamily="34" charset="-122"/>
                <a:cs typeface="Calibri" pitchFamily="34" charset="-120"/>
              </a:rPr>
              <a:t>Three defects, each proved. All three are present in the software people are running today.</a:t>
            </a:r>
            <a:endParaRPr lang="en-US" sz="1400" dirty="0"/>
          </a:p>
        </p:txBody>
      </p:sp>
      <p:sp>
        <p:nvSpPr>
          <p:cNvPr id="5" name="Shape 3"/>
          <p:cNvSpPr/>
          <p:nvPr/>
        </p:nvSpPr>
        <p:spPr>
          <a:xfrm>
            <a:off x="548640" y="1828800"/>
            <a:ext cx="3529584" cy="3794760"/>
          </a:xfrm>
          <a:prstGeom prst="roundRect">
            <a:avLst>
              <a:gd name="adj" fmla="val 2073"/>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6" name="Text 4"/>
          <p:cNvSpPr txBox="1"/>
          <p:nvPr/>
        </p:nvSpPr>
        <p:spPr>
          <a:xfrm>
            <a:off x="822960" y="2011680"/>
            <a:ext cx="3017520" cy="3200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kopia</a:t>
            </a:r>
            <a:endParaRPr lang="en-US" sz="2000" dirty="0"/>
          </a:p>
        </p:txBody>
      </p:sp>
      <p:sp>
        <p:nvSpPr>
          <p:cNvPr id="7" name="Text 5"/>
          <p:cNvSpPr txBox="1"/>
          <p:nvPr/>
        </p:nvSpPr>
        <p:spPr>
          <a:xfrm>
            <a:off x="822960" y="2340864"/>
            <a:ext cx="3017520" cy="457200"/>
          </a:xfrm>
          <a:prstGeom prst="rect">
            <a:avLst/>
          </a:prstGeom>
          <a:noFill/>
          <a:ln/>
        </p:spPr>
        <p:txBody>
          <a:bodyPr wrap="square" lIns="0" tIns="0" rIns="0" bIns="0" rtlCol="0" anchor="ctr"/>
          <a:lstStyle/>
          <a:p>
            <a:pPr indent="0" marL="0">
              <a:buNone/>
            </a:pPr>
            <a:r>
              <a:rPr lang="en-US" sz="1100" i="1" dirty="0">
                <a:solidFill>
                  <a:srgbClr val="5C6688"/>
                </a:solidFill>
                <a:latin typeface="Calibri" pitchFamily="34" charset="0"/>
                <a:ea typeface="Calibri" pitchFamily="34" charset="-122"/>
                <a:cs typeface="Calibri" pitchFamily="34" charset="-120"/>
              </a:rPr>
              <a:t>Backup and archiving tool</a:t>
            </a:r>
            <a:endParaRPr lang="en-US" sz="1100" dirty="0"/>
          </a:p>
        </p:txBody>
      </p:sp>
      <p:sp>
        <p:nvSpPr>
          <p:cNvPr id="8" name="Text 6"/>
          <p:cNvSpPr txBox="1"/>
          <p:nvPr/>
        </p:nvSpPr>
        <p:spPr>
          <a:xfrm>
            <a:off x="822960" y="2788920"/>
            <a:ext cx="3017520" cy="594360"/>
          </a:xfrm>
          <a:prstGeom prst="rect">
            <a:avLst/>
          </a:prstGeom>
          <a:noFill/>
          <a:ln/>
        </p:spPr>
        <p:txBody>
          <a:bodyPr wrap="square" lIns="0" tIns="0" rIns="0" bIns="0" rtlCol="0" anchor="ctr"/>
          <a:lstStyle/>
          <a:p>
            <a:pPr indent="0" marL="0">
              <a:lnSpc>
                <a:spcPts val="1800"/>
              </a:lnSpc>
              <a:buNone/>
            </a:pPr>
            <a:r>
              <a:rPr lang="en-US" sz="1450" b="1" dirty="0">
                <a:solidFill>
                  <a:srgbClr val="141B2E"/>
                </a:solidFill>
                <a:latin typeface="Calibri" pitchFamily="34" charset="0"/>
                <a:ea typeface="Calibri" pitchFamily="34" charset="-122"/>
                <a:cs typeface="Calibri" pitchFamily="34" charset="-120"/>
              </a:rPr>
              <a:t>Old permissions are never cleared</a:t>
            </a:r>
            <a:endParaRPr lang="en-US" sz="1450" dirty="0"/>
          </a:p>
        </p:txBody>
      </p:sp>
      <p:sp>
        <p:nvSpPr>
          <p:cNvPr id="9" name="Text 7"/>
          <p:cNvSpPr txBox="1"/>
          <p:nvPr/>
        </p:nvSpPr>
        <p:spPr>
          <a:xfrm>
            <a:off x="822960" y="3429000"/>
            <a:ext cx="3017520" cy="1600200"/>
          </a:xfrm>
          <a:prstGeom prst="rect">
            <a:avLst/>
          </a:prstGeom>
          <a:noFill/>
          <a:ln/>
        </p:spPr>
        <p:txBody>
          <a:bodyPr wrap="square" lIns="0" tIns="0" rIns="0" bIns="0" rtlCol="0" anchor="ctr"/>
          <a:lstStyle/>
          <a:p>
            <a:pPr indent="0" marL="0">
              <a:lnSpc>
                <a:spcPts val="1600"/>
              </a:lnSpc>
              <a:buNone/>
            </a:pPr>
            <a:r>
              <a:rPr lang="en-US" sz="1200" dirty="0">
                <a:solidFill>
                  <a:srgbClr val="141B2E"/>
                </a:solidFill>
                <a:latin typeface="Calibri" pitchFamily="34" charset="0"/>
                <a:ea typeface="Calibri" pitchFamily="34" charset="-122"/>
                <a:cs typeface="Calibri" pitchFamily="34" charset="-120"/>
              </a:rPr>
              <a:t>When the tool is pointed at a different data store, it is supposed to forget the previous store's access rules. The step that does the forgetting can never run. In the worst case, any valid user is handed full read and write access to data they should not reach.</a:t>
            </a:r>
            <a:endParaRPr lang="en-US" sz="1200" dirty="0"/>
          </a:p>
        </p:txBody>
      </p:sp>
      <p:sp>
        <p:nvSpPr>
          <p:cNvPr id="10" name="Shape 8"/>
          <p:cNvSpPr/>
          <p:nvPr/>
        </p:nvSpPr>
        <p:spPr>
          <a:xfrm>
            <a:off x="822960" y="5120640"/>
            <a:ext cx="1143000" cy="292608"/>
          </a:xfrm>
          <a:prstGeom prst="roundRect">
            <a:avLst>
              <a:gd name="adj" fmla="val 50000"/>
            </a:avLst>
          </a:prstGeom>
          <a:solidFill>
            <a:srgbClr val="E3F1EA"/>
          </a:solidFill>
          <a:ln w="12700">
            <a:solidFill>
              <a:srgbClr val="E3F1EA"/>
            </a:solidFill>
            <a:prstDash val="solid"/>
          </a:ln>
        </p:spPr>
      </p:sp>
      <p:sp>
        <p:nvSpPr>
          <p:cNvPr id="11" name="Text 9"/>
          <p:cNvSpPr txBox="1"/>
          <p:nvPr/>
        </p:nvSpPr>
        <p:spPr>
          <a:xfrm>
            <a:off x="822960" y="5120640"/>
            <a:ext cx="1143000" cy="292608"/>
          </a:xfrm>
          <a:prstGeom prst="rect">
            <a:avLst/>
          </a:prstGeom>
          <a:noFill/>
          <a:ln/>
        </p:spPr>
        <p:txBody>
          <a:bodyPr wrap="square" lIns="0" tIns="0" rIns="0" bIns="0" rtlCol="0" anchor="ctr"/>
          <a:lstStyle/>
          <a:p>
            <a:pPr algn="ctr" indent="0" marL="0">
              <a:buNone/>
            </a:pPr>
            <a:r>
              <a:rPr lang="en-US" sz="1000" b="1" spc="100" kern="0" dirty="0">
                <a:solidFill>
                  <a:srgbClr val="15794F"/>
                </a:solidFill>
                <a:latin typeface="Calibri" pitchFamily="34" charset="0"/>
                <a:ea typeface="Calibri" pitchFamily="34" charset="-122"/>
                <a:cs typeface="Calibri" pitchFamily="34" charset="-120"/>
              </a:rPr>
              <a:t>PROVED</a:t>
            </a:r>
            <a:endParaRPr lang="en-US" sz="1000" dirty="0"/>
          </a:p>
        </p:txBody>
      </p:sp>
      <p:sp>
        <p:nvSpPr>
          <p:cNvPr id="12" name="Text 10"/>
          <p:cNvSpPr txBox="1"/>
          <p:nvPr/>
        </p:nvSpPr>
        <p:spPr>
          <a:xfrm>
            <a:off x="2057400" y="5120640"/>
            <a:ext cx="1783080" cy="292608"/>
          </a:xfrm>
          <a:prstGeom prst="rect">
            <a:avLst/>
          </a:prstGeom>
          <a:noFill/>
          <a:ln/>
        </p:spPr>
        <p:txBody>
          <a:bodyPr wrap="square" lIns="0" tIns="0" rIns="0" bIns="0" rtlCol="0" anchor="ctr"/>
          <a:lstStyle/>
          <a:p>
            <a:pPr indent="0" marL="0">
              <a:buNone/>
            </a:pPr>
            <a:r>
              <a:rPr lang="en-US" sz="950" b="1" spc="50" kern="0" dirty="0">
                <a:solidFill>
                  <a:srgbClr val="5C6688"/>
                </a:solidFill>
                <a:latin typeface="Calibri" pitchFamily="34" charset="0"/>
                <a:ea typeface="Calibri" pitchFamily="34" charset="-122"/>
                <a:cs typeface="Calibri" pitchFamily="34" charset="-120"/>
              </a:rPr>
              <a:t>PRESENT SINCE 2021</a:t>
            </a:r>
            <a:endParaRPr lang="en-US" sz="950" dirty="0"/>
          </a:p>
        </p:txBody>
      </p:sp>
      <p:sp>
        <p:nvSpPr>
          <p:cNvPr id="13" name="Shape 11"/>
          <p:cNvSpPr/>
          <p:nvPr/>
        </p:nvSpPr>
        <p:spPr>
          <a:xfrm>
            <a:off x="4261104" y="1828800"/>
            <a:ext cx="3529584" cy="3794760"/>
          </a:xfrm>
          <a:prstGeom prst="roundRect">
            <a:avLst>
              <a:gd name="adj" fmla="val 2073"/>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4" name="Text 12"/>
          <p:cNvSpPr txBox="1"/>
          <p:nvPr/>
        </p:nvSpPr>
        <p:spPr>
          <a:xfrm>
            <a:off x="4535424" y="2011680"/>
            <a:ext cx="3017520" cy="3200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nokogiri</a:t>
            </a:r>
            <a:endParaRPr lang="en-US" sz="2000" dirty="0"/>
          </a:p>
        </p:txBody>
      </p:sp>
      <p:sp>
        <p:nvSpPr>
          <p:cNvPr id="15" name="Text 13"/>
          <p:cNvSpPr txBox="1"/>
          <p:nvPr/>
        </p:nvSpPr>
        <p:spPr>
          <a:xfrm>
            <a:off x="4535424" y="2340864"/>
            <a:ext cx="3017520" cy="457200"/>
          </a:xfrm>
          <a:prstGeom prst="rect">
            <a:avLst/>
          </a:prstGeom>
          <a:noFill/>
          <a:ln/>
        </p:spPr>
        <p:txBody>
          <a:bodyPr wrap="square" lIns="0" tIns="0" rIns="0" bIns="0" rtlCol="0" anchor="ctr"/>
          <a:lstStyle/>
          <a:p>
            <a:pPr indent="0" marL="0">
              <a:buNone/>
            </a:pPr>
            <a:r>
              <a:rPr lang="en-US" sz="1100" i="1" dirty="0">
                <a:solidFill>
                  <a:srgbClr val="5C6688"/>
                </a:solidFill>
                <a:latin typeface="Calibri" pitchFamily="34" charset="0"/>
                <a:ea typeface="Calibri" pitchFamily="34" charset="-122"/>
                <a:cs typeface="Calibri" pitchFamily="34" charset="-120"/>
              </a:rPr>
              <a:t>Reads web pages and XML for Ruby applications</a:t>
            </a:r>
            <a:endParaRPr lang="en-US" sz="1100" dirty="0"/>
          </a:p>
        </p:txBody>
      </p:sp>
      <p:sp>
        <p:nvSpPr>
          <p:cNvPr id="16" name="Text 14"/>
          <p:cNvSpPr txBox="1"/>
          <p:nvPr/>
        </p:nvSpPr>
        <p:spPr>
          <a:xfrm>
            <a:off x="4535424" y="2788920"/>
            <a:ext cx="3017520" cy="594360"/>
          </a:xfrm>
          <a:prstGeom prst="rect">
            <a:avLst/>
          </a:prstGeom>
          <a:noFill/>
          <a:ln/>
        </p:spPr>
        <p:txBody>
          <a:bodyPr wrap="square" lIns="0" tIns="0" rIns="0" bIns="0" rtlCol="0" anchor="ctr"/>
          <a:lstStyle/>
          <a:p>
            <a:pPr indent="0" marL="0">
              <a:lnSpc>
                <a:spcPts val="1800"/>
              </a:lnSpc>
              <a:buNone/>
            </a:pPr>
            <a:r>
              <a:rPr lang="en-US" sz="1450" b="1" dirty="0">
                <a:solidFill>
                  <a:srgbClr val="141B2E"/>
                </a:solidFill>
                <a:latin typeface="Calibri" pitchFamily="34" charset="0"/>
                <a:ea typeface="Calibri" pitchFamily="34" charset="-122"/>
                <a:cs typeface="Calibri" pitchFamily="34" charset="-120"/>
              </a:rPr>
              <a:t>A search can be rewritten by the person searching</a:t>
            </a:r>
            <a:endParaRPr lang="en-US" sz="1450" dirty="0"/>
          </a:p>
        </p:txBody>
      </p:sp>
      <p:sp>
        <p:nvSpPr>
          <p:cNvPr id="17" name="Text 15"/>
          <p:cNvSpPr txBox="1"/>
          <p:nvPr/>
        </p:nvSpPr>
        <p:spPr>
          <a:xfrm>
            <a:off x="4535424" y="3429000"/>
            <a:ext cx="3017520" cy="1600200"/>
          </a:xfrm>
          <a:prstGeom prst="rect">
            <a:avLst/>
          </a:prstGeom>
          <a:noFill/>
          <a:ln/>
        </p:spPr>
        <p:txBody>
          <a:bodyPr wrap="square" lIns="0" tIns="0" rIns="0" bIns="0" rtlCol="0" anchor="ctr"/>
          <a:lstStyle/>
          <a:p>
            <a:pPr indent="0" marL="0">
              <a:lnSpc>
                <a:spcPts val="1600"/>
              </a:lnSpc>
              <a:buNone/>
            </a:pPr>
            <a:r>
              <a:rPr lang="en-US" sz="1200" dirty="0">
                <a:solidFill>
                  <a:srgbClr val="141B2E"/>
                </a:solidFill>
                <a:latin typeface="Calibri" pitchFamily="34" charset="0"/>
                <a:ea typeface="Calibri" pitchFamily="34" charset="-122"/>
                <a:cs typeface="Calibri" pitchFamily="34" charset="-120"/>
              </a:rPr>
              <a:t>If a search is built from something a user typed, that user can smuggle in characters that change the query itself. We ran it: a search designed to return nothing instead returned every record in the document, including one marked SECRET.</a:t>
            </a:r>
            <a:endParaRPr lang="en-US" sz="1200" dirty="0"/>
          </a:p>
        </p:txBody>
      </p:sp>
      <p:sp>
        <p:nvSpPr>
          <p:cNvPr id="18" name="Shape 16"/>
          <p:cNvSpPr/>
          <p:nvPr/>
        </p:nvSpPr>
        <p:spPr>
          <a:xfrm>
            <a:off x="4535424" y="5120640"/>
            <a:ext cx="1143000" cy="292608"/>
          </a:xfrm>
          <a:prstGeom prst="roundRect">
            <a:avLst>
              <a:gd name="adj" fmla="val 50000"/>
            </a:avLst>
          </a:prstGeom>
          <a:solidFill>
            <a:srgbClr val="E3F1EA"/>
          </a:solidFill>
          <a:ln w="12700">
            <a:solidFill>
              <a:srgbClr val="E3F1EA"/>
            </a:solidFill>
            <a:prstDash val="solid"/>
          </a:ln>
        </p:spPr>
      </p:sp>
      <p:sp>
        <p:nvSpPr>
          <p:cNvPr id="19" name="Text 17"/>
          <p:cNvSpPr txBox="1"/>
          <p:nvPr/>
        </p:nvSpPr>
        <p:spPr>
          <a:xfrm>
            <a:off x="4535424" y="5120640"/>
            <a:ext cx="1143000" cy="292608"/>
          </a:xfrm>
          <a:prstGeom prst="rect">
            <a:avLst/>
          </a:prstGeom>
          <a:noFill/>
          <a:ln/>
        </p:spPr>
        <p:txBody>
          <a:bodyPr wrap="square" lIns="0" tIns="0" rIns="0" bIns="0" rtlCol="0" anchor="ctr"/>
          <a:lstStyle/>
          <a:p>
            <a:pPr algn="ctr" indent="0" marL="0">
              <a:buNone/>
            </a:pPr>
            <a:r>
              <a:rPr lang="en-US" sz="1000" b="1" spc="100" kern="0" dirty="0">
                <a:solidFill>
                  <a:srgbClr val="15794F"/>
                </a:solidFill>
                <a:latin typeface="Calibri" pitchFamily="34" charset="0"/>
                <a:ea typeface="Calibri" pitchFamily="34" charset="-122"/>
                <a:cs typeface="Calibri" pitchFamily="34" charset="-120"/>
              </a:rPr>
              <a:t>PROVED</a:t>
            </a:r>
            <a:endParaRPr lang="en-US" sz="1000" dirty="0"/>
          </a:p>
        </p:txBody>
      </p:sp>
      <p:sp>
        <p:nvSpPr>
          <p:cNvPr id="20" name="Text 18"/>
          <p:cNvSpPr txBox="1"/>
          <p:nvPr/>
        </p:nvSpPr>
        <p:spPr>
          <a:xfrm>
            <a:off x="5769864" y="5120640"/>
            <a:ext cx="1783080" cy="292608"/>
          </a:xfrm>
          <a:prstGeom prst="rect">
            <a:avLst/>
          </a:prstGeom>
          <a:noFill/>
          <a:ln/>
        </p:spPr>
        <p:txBody>
          <a:bodyPr wrap="square" lIns="0" tIns="0" rIns="0" bIns="0" rtlCol="0" anchor="ctr"/>
          <a:lstStyle/>
          <a:p>
            <a:pPr indent="0" marL="0">
              <a:buNone/>
            </a:pPr>
            <a:r>
              <a:rPr lang="en-US" sz="950" b="1" spc="50" kern="0" dirty="0">
                <a:solidFill>
                  <a:srgbClr val="5C6688"/>
                </a:solidFill>
                <a:latin typeface="Calibri" pitchFamily="34" charset="0"/>
                <a:ea typeface="Calibri" pitchFamily="34" charset="-122"/>
                <a:cs typeface="Calibri" pitchFamily="34" charset="-120"/>
              </a:rPr>
              <a:t>DEMONSTRATED LIVE</a:t>
            </a:r>
            <a:endParaRPr lang="en-US" sz="950" dirty="0"/>
          </a:p>
        </p:txBody>
      </p:sp>
      <p:sp>
        <p:nvSpPr>
          <p:cNvPr id="21" name="Shape 19"/>
          <p:cNvSpPr/>
          <p:nvPr/>
        </p:nvSpPr>
        <p:spPr>
          <a:xfrm>
            <a:off x="7973568" y="1828800"/>
            <a:ext cx="3529584" cy="3794760"/>
          </a:xfrm>
          <a:prstGeom prst="roundRect">
            <a:avLst>
              <a:gd name="adj" fmla="val 2073"/>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22" name="Text 20"/>
          <p:cNvSpPr txBox="1"/>
          <p:nvPr/>
        </p:nvSpPr>
        <p:spPr>
          <a:xfrm>
            <a:off x="8247888" y="2011680"/>
            <a:ext cx="3017520" cy="3200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facil.io</a:t>
            </a:r>
            <a:endParaRPr lang="en-US" sz="2000" dirty="0"/>
          </a:p>
        </p:txBody>
      </p:sp>
      <p:sp>
        <p:nvSpPr>
          <p:cNvPr id="23" name="Text 21"/>
          <p:cNvSpPr txBox="1"/>
          <p:nvPr/>
        </p:nvSpPr>
        <p:spPr>
          <a:xfrm>
            <a:off x="8247888" y="2340864"/>
            <a:ext cx="3017520" cy="457200"/>
          </a:xfrm>
          <a:prstGeom prst="rect">
            <a:avLst/>
          </a:prstGeom>
          <a:noFill/>
          <a:ln/>
        </p:spPr>
        <p:txBody>
          <a:bodyPr wrap="square" lIns="0" tIns="0" rIns="0" bIns="0" rtlCol="0" anchor="ctr"/>
          <a:lstStyle/>
          <a:p>
            <a:pPr indent="0" marL="0">
              <a:buNone/>
            </a:pPr>
            <a:r>
              <a:rPr lang="en-US" sz="1100" i="1" dirty="0">
                <a:solidFill>
                  <a:srgbClr val="5C6688"/>
                </a:solidFill>
                <a:latin typeface="Calibri" pitchFamily="34" charset="0"/>
                <a:ea typeface="Calibri" pitchFamily="34" charset="-122"/>
                <a:cs typeface="Calibri" pitchFamily="34" charset="-120"/>
              </a:rPr>
              <a:t>Web server framework</a:t>
            </a:r>
            <a:endParaRPr lang="en-US" sz="1100" dirty="0"/>
          </a:p>
        </p:txBody>
      </p:sp>
      <p:sp>
        <p:nvSpPr>
          <p:cNvPr id="24" name="Text 22"/>
          <p:cNvSpPr txBox="1"/>
          <p:nvPr/>
        </p:nvSpPr>
        <p:spPr>
          <a:xfrm>
            <a:off x="8247888" y="2788920"/>
            <a:ext cx="3017520" cy="594360"/>
          </a:xfrm>
          <a:prstGeom prst="rect">
            <a:avLst/>
          </a:prstGeom>
          <a:noFill/>
          <a:ln/>
        </p:spPr>
        <p:txBody>
          <a:bodyPr wrap="square" lIns="0" tIns="0" rIns="0" bIns="0" rtlCol="0" anchor="ctr"/>
          <a:lstStyle/>
          <a:p>
            <a:pPr indent="0" marL="0">
              <a:lnSpc>
                <a:spcPts val="1800"/>
              </a:lnSpc>
              <a:buNone/>
            </a:pPr>
            <a:r>
              <a:rPr lang="en-US" sz="1450" b="1" dirty="0">
                <a:solidFill>
                  <a:srgbClr val="141B2E"/>
                </a:solidFill>
                <a:latin typeface="Calibri" pitchFamily="34" charset="0"/>
                <a:ea typeface="Calibri" pitchFamily="34" charset="-122"/>
                <a:cs typeface="Calibri" pitchFamily="34" charset="-120"/>
              </a:rPr>
              <a:t>Writes past the end of its own container</a:t>
            </a:r>
            <a:endParaRPr lang="en-US" sz="1450" dirty="0"/>
          </a:p>
        </p:txBody>
      </p:sp>
      <p:sp>
        <p:nvSpPr>
          <p:cNvPr id="25" name="Text 23"/>
          <p:cNvSpPr txBox="1"/>
          <p:nvPr/>
        </p:nvSpPr>
        <p:spPr>
          <a:xfrm>
            <a:off x="8247888" y="3429000"/>
            <a:ext cx="3017520" cy="1600200"/>
          </a:xfrm>
          <a:prstGeom prst="rect">
            <a:avLst/>
          </a:prstGeom>
          <a:noFill/>
          <a:ln/>
        </p:spPr>
        <p:txBody>
          <a:bodyPr wrap="square" lIns="0" tIns="0" rIns="0" bIns="0" rtlCol="0" anchor="ctr"/>
          <a:lstStyle/>
          <a:p>
            <a:pPr indent="0" marL="0">
              <a:lnSpc>
                <a:spcPts val="1600"/>
              </a:lnSpc>
              <a:buNone/>
            </a:pPr>
            <a:r>
              <a:rPr lang="en-US" sz="1200" dirty="0">
                <a:solidFill>
                  <a:srgbClr val="141B2E"/>
                </a:solidFill>
                <a:latin typeface="Calibri" pitchFamily="34" charset="0"/>
                <a:ea typeface="Calibri" pitchFamily="34" charset="-122"/>
                <a:cs typeface="Calibri" pitchFamily="34" charset="-120"/>
              </a:rPr>
              <a:t>A size check is written backwards, so the program keeps writing after it runs out of room and corrupts memory next to it. It is reachable through an ordinary, public file-serving function. Confirmed with a memory checker.</a:t>
            </a:r>
            <a:endParaRPr lang="en-US" sz="1200" dirty="0"/>
          </a:p>
        </p:txBody>
      </p:sp>
      <p:sp>
        <p:nvSpPr>
          <p:cNvPr id="26" name="Shape 24"/>
          <p:cNvSpPr/>
          <p:nvPr/>
        </p:nvSpPr>
        <p:spPr>
          <a:xfrm>
            <a:off x="8247888" y="5120640"/>
            <a:ext cx="1143000" cy="292608"/>
          </a:xfrm>
          <a:prstGeom prst="roundRect">
            <a:avLst>
              <a:gd name="adj" fmla="val 50000"/>
            </a:avLst>
          </a:prstGeom>
          <a:solidFill>
            <a:srgbClr val="E3F1EA"/>
          </a:solidFill>
          <a:ln w="12700">
            <a:solidFill>
              <a:srgbClr val="E3F1EA"/>
            </a:solidFill>
            <a:prstDash val="solid"/>
          </a:ln>
        </p:spPr>
      </p:sp>
      <p:sp>
        <p:nvSpPr>
          <p:cNvPr id="27" name="Text 25"/>
          <p:cNvSpPr txBox="1"/>
          <p:nvPr/>
        </p:nvSpPr>
        <p:spPr>
          <a:xfrm>
            <a:off x="8247888" y="5120640"/>
            <a:ext cx="1143000" cy="292608"/>
          </a:xfrm>
          <a:prstGeom prst="rect">
            <a:avLst/>
          </a:prstGeom>
          <a:noFill/>
          <a:ln/>
        </p:spPr>
        <p:txBody>
          <a:bodyPr wrap="square" lIns="0" tIns="0" rIns="0" bIns="0" rtlCol="0" anchor="ctr"/>
          <a:lstStyle/>
          <a:p>
            <a:pPr algn="ctr" indent="0" marL="0">
              <a:buNone/>
            </a:pPr>
            <a:r>
              <a:rPr lang="en-US" sz="1000" b="1" spc="100" kern="0" dirty="0">
                <a:solidFill>
                  <a:srgbClr val="15794F"/>
                </a:solidFill>
                <a:latin typeface="Calibri" pitchFamily="34" charset="0"/>
                <a:ea typeface="Calibri" pitchFamily="34" charset="-122"/>
                <a:cs typeface="Calibri" pitchFamily="34" charset="-120"/>
              </a:rPr>
              <a:t>PROVED</a:t>
            </a:r>
            <a:endParaRPr lang="en-US" sz="1000" dirty="0"/>
          </a:p>
        </p:txBody>
      </p:sp>
      <p:sp>
        <p:nvSpPr>
          <p:cNvPr id="28" name="Text 26"/>
          <p:cNvSpPr txBox="1"/>
          <p:nvPr/>
        </p:nvSpPr>
        <p:spPr>
          <a:xfrm>
            <a:off x="9482328" y="5120640"/>
            <a:ext cx="1783080" cy="292608"/>
          </a:xfrm>
          <a:prstGeom prst="rect">
            <a:avLst/>
          </a:prstGeom>
          <a:noFill/>
          <a:ln/>
        </p:spPr>
        <p:txBody>
          <a:bodyPr wrap="square" lIns="0" tIns="0" rIns="0" bIns="0" rtlCol="0" anchor="ctr"/>
          <a:lstStyle/>
          <a:p>
            <a:pPr indent="0" marL="0">
              <a:buNone/>
            </a:pPr>
            <a:r>
              <a:rPr lang="en-US" sz="950" b="1" spc="50" kern="0" dirty="0">
                <a:solidFill>
                  <a:srgbClr val="5C6688"/>
                </a:solidFill>
                <a:latin typeface="Calibri" pitchFamily="34" charset="0"/>
                <a:ea typeface="Calibri" pitchFamily="34" charset="-122"/>
                <a:cs typeface="Calibri" pitchFamily="34" charset="-120"/>
              </a:rPr>
              <a:t>REPRODUCED UNDER ASAN</a:t>
            </a:r>
            <a:endParaRPr lang="en-US" sz="950" dirty="0"/>
          </a:p>
        </p:txBody>
      </p:sp>
      <p:sp>
        <p:nvSpPr>
          <p:cNvPr id="29" name="Text 27"/>
          <p:cNvSpPr txBox="1"/>
          <p:nvPr/>
        </p:nvSpPr>
        <p:spPr>
          <a:xfrm>
            <a:off x="548640" y="5852160"/>
            <a:ext cx="11094415" cy="320040"/>
          </a:xfrm>
          <a:prstGeom prst="rect">
            <a:avLst/>
          </a:prstGeom>
          <a:noFill/>
          <a:ln/>
        </p:spPr>
        <p:txBody>
          <a:bodyPr wrap="square" lIns="0" tIns="0" rIns="0" bIns="0" rtlCol="0" anchor="ctr"/>
          <a:lstStyle/>
          <a:p>
            <a:pPr indent="0" marL="0">
              <a:buNone/>
            </a:pPr>
            <a:r>
              <a:rPr lang="en-US" sz="1200" i="1" dirty="0">
                <a:solidFill>
                  <a:srgbClr val="5C6688"/>
                </a:solidFill>
                <a:latin typeface="Calibri" pitchFamily="34" charset="0"/>
                <a:ea typeface="Calibri" pitchFamily="34" charset="-122"/>
                <a:cs typeface="Calibri" pitchFamily="34" charset="-120"/>
              </a:rPr>
              <a:t>All three defects were checked against each project's current published code and are unrepaired there.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C6688"/>
                </a:solidFill>
                <a:latin typeface="Calibri" pitchFamily="34" charset="0"/>
                <a:ea typeface="Calibri" pitchFamily="34" charset="-122"/>
                <a:cs typeface="Calibri" pitchFamily="34" charset="-120"/>
              </a:rPr>
              <a:t>THE STANDOUT FINDING</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Five years in plain sight</a:t>
            </a:r>
            <a:endParaRPr lang="en-US" sz="3200" dirty="0"/>
          </a:p>
        </p:txBody>
      </p:sp>
      <p:sp>
        <p:nvSpPr>
          <p:cNvPr id="4" name="Text 2"/>
          <p:cNvSpPr txBox="1"/>
          <p:nvPr/>
        </p:nvSpPr>
        <p:spPr>
          <a:xfrm>
            <a:off x="548640" y="1188720"/>
            <a:ext cx="10728655" cy="384048"/>
          </a:xfrm>
          <a:prstGeom prst="rect">
            <a:avLst/>
          </a:prstGeom>
          <a:noFill/>
          <a:ln/>
        </p:spPr>
        <p:txBody>
          <a:bodyPr wrap="square" lIns="0" tIns="0" rIns="0" bIns="0" rtlCol="0" anchor="ctr"/>
          <a:lstStyle/>
          <a:p>
            <a:pPr indent="0" marL="0">
              <a:buNone/>
            </a:pPr>
            <a:r>
              <a:rPr lang="en-US" sz="1400" dirty="0">
                <a:solidFill>
                  <a:srgbClr val="5C6688"/>
                </a:solidFill>
                <a:latin typeface="Calibri" pitchFamily="34" charset="0"/>
                <a:ea typeface="Calibri" pitchFamily="34" charset="-122"/>
                <a:cs typeface="Calibri" pitchFamily="34" charset="-120"/>
              </a:rPr>
              <a:t>The kopia defect has shipped in every release since 2021 and nobody has reported it.</a:t>
            </a:r>
            <a:endParaRPr lang="en-US" sz="1400" dirty="0"/>
          </a:p>
        </p:txBody>
      </p:sp>
      <p:sp>
        <p:nvSpPr>
          <p:cNvPr id="5" name="Shape 3"/>
          <p:cNvSpPr/>
          <p:nvPr/>
        </p:nvSpPr>
        <p:spPr>
          <a:xfrm>
            <a:off x="1554480" y="2286000"/>
            <a:ext cx="8869680" cy="0"/>
          </a:xfrm>
          <a:prstGeom prst="line">
            <a:avLst/>
          </a:prstGeom>
          <a:noFill/>
          <a:ln w="38100">
            <a:solidFill>
              <a:srgbClr val="DCE2F2"/>
            </a:solidFill>
            <a:prstDash val="solid"/>
          </a:ln>
        </p:spPr>
      </p:sp>
      <p:sp>
        <p:nvSpPr>
          <p:cNvPr id="6" name="Shape 4"/>
          <p:cNvSpPr/>
          <p:nvPr/>
        </p:nvSpPr>
        <p:spPr>
          <a:xfrm>
            <a:off x="1435608" y="2167128"/>
            <a:ext cx="237744" cy="237744"/>
          </a:xfrm>
          <a:prstGeom prst="ellipse">
            <a:avLst/>
          </a:prstGeom>
          <a:solidFill>
            <a:srgbClr val="1E2761"/>
          </a:solidFill>
          <a:ln w="25400">
            <a:solidFill>
              <a:srgbClr val="FFFFFF"/>
            </a:solidFill>
            <a:prstDash val="solid"/>
          </a:ln>
        </p:spPr>
      </p:sp>
      <p:sp>
        <p:nvSpPr>
          <p:cNvPr id="7" name="Text 5"/>
          <p:cNvSpPr txBox="1"/>
          <p:nvPr/>
        </p:nvSpPr>
        <p:spPr>
          <a:xfrm>
            <a:off x="182880" y="1783080"/>
            <a:ext cx="2743200" cy="274320"/>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2021</a:t>
            </a:r>
            <a:endParaRPr lang="en-US" sz="1400" dirty="0"/>
          </a:p>
        </p:txBody>
      </p:sp>
      <p:sp>
        <p:nvSpPr>
          <p:cNvPr id="8" name="Text 6"/>
          <p:cNvSpPr txBox="1"/>
          <p:nvPr/>
        </p:nvSpPr>
        <p:spPr>
          <a:xfrm>
            <a:off x="91440" y="2487168"/>
            <a:ext cx="2926080" cy="457200"/>
          </a:xfrm>
          <a:prstGeom prst="rect">
            <a:avLst/>
          </a:prstGeom>
          <a:noFill/>
          <a:ln/>
        </p:spPr>
        <p:txBody>
          <a:bodyPr wrap="square" lIns="0" tIns="0" rIns="0" bIns="0" rtlCol="0" anchor="ctr"/>
          <a:lstStyle/>
          <a:p>
            <a:pPr algn="ctr" indent="0" marL="0">
              <a:lnSpc>
                <a:spcPts val="1500"/>
              </a:lnSpc>
              <a:buNone/>
            </a:pPr>
            <a:r>
              <a:rPr lang="en-US" sz="1150" dirty="0">
                <a:solidFill>
                  <a:srgbClr val="5C6688"/>
                </a:solidFill>
                <a:latin typeface="Calibri" pitchFamily="34" charset="0"/>
                <a:ea typeface="Calibri" pitchFamily="34" charset="-122"/>
                <a:cs typeface="Calibri" pitchFamily="34" charset="-120"/>
              </a:rPr>
              <a:t>Defect introduced</a:t>
            </a:r>
            <a:endParaRPr lang="en-US" sz="1150" dirty="0"/>
          </a:p>
        </p:txBody>
      </p:sp>
      <p:sp>
        <p:nvSpPr>
          <p:cNvPr id="9" name="Shape 7"/>
          <p:cNvSpPr/>
          <p:nvPr/>
        </p:nvSpPr>
        <p:spPr>
          <a:xfrm>
            <a:off x="5870448" y="2167128"/>
            <a:ext cx="237744" cy="237744"/>
          </a:xfrm>
          <a:prstGeom prst="ellipse">
            <a:avLst/>
          </a:prstGeom>
          <a:solidFill>
            <a:srgbClr val="1E2761"/>
          </a:solidFill>
          <a:ln w="25400">
            <a:solidFill>
              <a:srgbClr val="FFFFFF"/>
            </a:solidFill>
            <a:prstDash val="solid"/>
          </a:ln>
        </p:spPr>
      </p:sp>
      <p:sp>
        <p:nvSpPr>
          <p:cNvPr id="10" name="Text 8"/>
          <p:cNvSpPr txBox="1"/>
          <p:nvPr/>
        </p:nvSpPr>
        <p:spPr>
          <a:xfrm>
            <a:off x="4617720" y="1783080"/>
            <a:ext cx="2743200" cy="274320"/>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2021 to 2026</a:t>
            </a:r>
            <a:endParaRPr lang="en-US" sz="1400" dirty="0"/>
          </a:p>
        </p:txBody>
      </p:sp>
      <p:sp>
        <p:nvSpPr>
          <p:cNvPr id="11" name="Text 9"/>
          <p:cNvSpPr txBox="1"/>
          <p:nvPr/>
        </p:nvSpPr>
        <p:spPr>
          <a:xfrm>
            <a:off x="4526280" y="2487168"/>
            <a:ext cx="2926080" cy="457200"/>
          </a:xfrm>
          <a:prstGeom prst="rect">
            <a:avLst/>
          </a:prstGeom>
          <a:noFill/>
          <a:ln/>
        </p:spPr>
        <p:txBody>
          <a:bodyPr wrap="square" lIns="0" tIns="0" rIns="0" bIns="0" rtlCol="0" anchor="ctr"/>
          <a:lstStyle/>
          <a:p>
            <a:pPr algn="ctr" indent="0" marL="0">
              <a:lnSpc>
                <a:spcPts val="1500"/>
              </a:lnSpc>
              <a:buNone/>
            </a:pPr>
            <a:r>
              <a:rPr lang="en-US" sz="1150" dirty="0">
                <a:solidFill>
                  <a:srgbClr val="5C6688"/>
                </a:solidFill>
                <a:latin typeface="Calibri" pitchFamily="34" charset="0"/>
                <a:ea typeface="Calibri" pitchFamily="34" charset="-122"/>
                <a:cs typeface="Calibri" pitchFamily="34" charset="-120"/>
              </a:rPr>
              <a:t>Ships in every release, unreported</a:t>
            </a:r>
            <a:endParaRPr lang="en-US" sz="1150" dirty="0"/>
          </a:p>
        </p:txBody>
      </p:sp>
      <p:sp>
        <p:nvSpPr>
          <p:cNvPr id="12" name="Shape 10"/>
          <p:cNvSpPr/>
          <p:nvPr/>
        </p:nvSpPr>
        <p:spPr>
          <a:xfrm>
            <a:off x="10305288" y="2167128"/>
            <a:ext cx="237744" cy="237744"/>
          </a:xfrm>
          <a:prstGeom prst="ellipse">
            <a:avLst/>
          </a:prstGeom>
          <a:solidFill>
            <a:srgbClr val="15794F"/>
          </a:solidFill>
          <a:ln w="25400">
            <a:solidFill>
              <a:srgbClr val="FFFFFF"/>
            </a:solidFill>
            <a:prstDash val="solid"/>
          </a:ln>
        </p:spPr>
      </p:sp>
      <p:sp>
        <p:nvSpPr>
          <p:cNvPr id="13" name="Text 11"/>
          <p:cNvSpPr txBox="1"/>
          <p:nvPr/>
        </p:nvSpPr>
        <p:spPr>
          <a:xfrm>
            <a:off x="9052560" y="1783080"/>
            <a:ext cx="2743200" cy="274320"/>
          </a:xfrm>
          <a:prstGeom prst="rect">
            <a:avLst/>
          </a:prstGeom>
          <a:noFill/>
          <a:ln/>
        </p:spPr>
        <p:txBody>
          <a:bodyPr wrap="square" lIns="0" tIns="0" rIns="0" bIns="0" rtlCol="0" anchor="ctr"/>
          <a:lstStyle/>
          <a:p>
            <a:pPr algn="ctr" indent="0" marL="0">
              <a:buNone/>
            </a:pPr>
            <a:r>
              <a:rPr lang="en-US" sz="1400" b="1" dirty="0">
                <a:solidFill>
                  <a:srgbClr val="15794F"/>
                </a:solidFill>
                <a:latin typeface="Cambria" pitchFamily="34" charset="0"/>
                <a:ea typeface="Cambria" pitchFamily="34" charset="-122"/>
                <a:cs typeface="Cambria" pitchFamily="34" charset="-120"/>
              </a:rPr>
              <a:t>Aug 2026</a:t>
            </a:r>
            <a:endParaRPr lang="en-US" sz="1400" dirty="0"/>
          </a:p>
        </p:txBody>
      </p:sp>
      <p:sp>
        <p:nvSpPr>
          <p:cNvPr id="14" name="Text 12"/>
          <p:cNvSpPr txBox="1"/>
          <p:nvPr/>
        </p:nvSpPr>
        <p:spPr>
          <a:xfrm>
            <a:off x="8961120" y="2487168"/>
            <a:ext cx="2926080" cy="457200"/>
          </a:xfrm>
          <a:prstGeom prst="rect">
            <a:avLst/>
          </a:prstGeom>
          <a:noFill/>
          <a:ln/>
        </p:spPr>
        <p:txBody>
          <a:bodyPr wrap="square" lIns="0" tIns="0" rIns="0" bIns="0" rtlCol="0" anchor="ctr"/>
          <a:lstStyle/>
          <a:p>
            <a:pPr algn="ctr" indent="0" marL="0">
              <a:lnSpc>
                <a:spcPts val="1500"/>
              </a:lnSpc>
              <a:buNone/>
            </a:pPr>
            <a:r>
              <a:rPr lang="en-US" sz="1150" dirty="0">
                <a:solidFill>
                  <a:srgbClr val="5C6688"/>
                </a:solidFill>
                <a:latin typeface="Calibri" pitchFamily="34" charset="0"/>
                <a:ea typeface="Calibri" pitchFamily="34" charset="-122"/>
                <a:cs typeface="Calibri" pitchFamily="34" charset="-120"/>
              </a:rPr>
              <a:t>Found by the harness</a:t>
            </a:r>
            <a:endParaRPr lang="en-US" sz="1150" dirty="0"/>
          </a:p>
        </p:txBody>
      </p:sp>
      <p:sp>
        <p:nvSpPr>
          <p:cNvPr id="15" name="Shape 13"/>
          <p:cNvSpPr/>
          <p:nvPr/>
        </p:nvSpPr>
        <p:spPr>
          <a:xfrm>
            <a:off x="548640" y="3246120"/>
            <a:ext cx="3529584" cy="2423160"/>
          </a:xfrm>
          <a:prstGeom prst="roundRect">
            <a:avLst>
              <a:gd name="adj" fmla="val 3019"/>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6" name="Text 14"/>
          <p:cNvSpPr txBox="1"/>
          <p:nvPr/>
        </p:nvSpPr>
        <p:spPr>
          <a:xfrm>
            <a:off x="822960" y="3456432"/>
            <a:ext cx="301752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What it could allow</a:t>
            </a:r>
            <a:endParaRPr lang="en-US" sz="1600" dirty="0"/>
          </a:p>
        </p:txBody>
      </p:sp>
      <p:sp>
        <p:nvSpPr>
          <p:cNvPr id="17" name="Text 15"/>
          <p:cNvSpPr txBox="1"/>
          <p:nvPr/>
        </p:nvSpPr>
        <p:spPr>
          <a:xfrm>
            <a:off x="822960" y="3840480"/>
            <a:ext cx="3017520" cy="1737360"/>
          </a:xfrm>
          <a:prstGeom prst="rect">
            <a:avLst/>
          </a:prstGeom>
          <a:noFill/>
          <a:ln/>
        </p:spPr>
        <p:txBody>
          <a:bodyPr wrap="square" lIns="0" tIns="0" rIns="0" bIns="0" rtlCol="0" anchor="ctr"/>
          <a:lstStyle/>
          <a:p>
            <a:pPr indent="0" marL="0">
              <a:lnSpc>
                <a:spcPts val="1600"/>
              </a:lnSpc>
              <a:buNone/>
            </a:pPr>
            <a:r>
              <a:rPr lang="en-US" sz="1200" dirty="0">
                <a:solidFill>
                  <a:srgbClr val="141B2E"/>
                </a:solidFill>
                <a:latin typeface="Calibri" pitchFamily="34" charset="0"/>
                <a:ea typeface="Calibri" pitchFamily="34" charset="-122"/>
                <a:cs typeface="Calibri" pitchFamily="34" charset="-120"/>
              </a:rPr>
              <a:t>During the window after the tool is pointed at a different data store, a user who is already valid there can be authorised against the previous store's rules. If the previous store had no rules at all, the fallback grants full read and write.</a:t>
            </a:r>
            <a:endParaRPr lang="en-US" sz="1200" dirty="0"/>
          </a:p>
        </p:txBody>
      </p:sp>
      <p:sp>
        <p:nvSpPr>
          <p:cNvPr id="18" name="Shape 16"/>
          <p:cNvSpPr/>
          <p:nvPr/>
        </p:nvSpPr>
        <p:spPr>
          <a:xfrm>
            <a:off x="4261104" y="3246120"/>
            <a:ext cx="3529584" cy="2423160"/>
          </a:xfrm>
          <a:prstGeom prst="roundRect">
            <a:avLst>
              <a:gd name="adj" fmla="val 3019"/>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9" name="Text 17"/>
          <p:cNvSpPr txBox="1"/>
          <p:nvPr/>
        </p:nvSpPr>
        <p:spPr>
          <a:xfrm>
            <a:off x="4535424" y="3456432"/>
            <a:ext cx="301752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Why it stayed hidden</a:t>
            </a:r>
            <a:endParaRPr lang="en-US" sz="1600" dirty="0"/>
          </a:p>
        </p:txBody>
      </p:sp>
      <p:sp>
        <p:nvSpPr>
          <p:cNvPr id="20" name="Text 18"/>
          <p:cNvSpPr txBox="1"/>
          <p:nvPr/>
        </p:nvSpPr>
        <p:spPr>
          <a:xfrm>
            <a:off x="4535424" y="3840480"/>
            <a:ext cx="3017520" cy="1737360"/>
          </a:xfrm>
          <a:prstGeom prst="rect">
            <a:avLst/>
          </a:prstGeom>
          <a:noFill/>
          <a:ln/>
        </p:spPr>
        <p:txBody>
          <a:bodyPr wrap="square" lIns="0" tIns="0" rIns="0" bIns="0" rtlCol="0" anchor="ctr"/>
          <a:lstStyle/>
          <a:p>
            <a:pPr indent="0" marL="0">
              <a:lnSpc>
                <a:spcPts val="1600"/>
              </a:lnSpc>
              <a:buNone/>
            </a:pPr>
            <a:r>
              <a:rPr lang="en-US" sz="1200" dirty="0">
                <a:solidFill>
                  <a:srgbClr val="141B2E"/>
                </a:solidFill>
                <a:latin typeface="Calibri" pitchFamily="34" charset="0"/>
                <a:ea typeface="Calibri" pitchFamily="34" charset="-122"/>
                <a:cs typeface="Calibri" pitchFamily="34" charset="-120"/>
              </a:rPr>
              <a:t>The project's issue tracker holds no report, no pull request and no fix for it. The project's own test suite has no test that switches data stores, so the case was never exercised.</a:t>
            </a:r>
            <a:endParaRPr lang="en-US" sz="1200" dirty="0"/>
          </a:p>
        </p:txBody>
      </p:sp>
      <p:sp>
        <p:nvSpPr>
          <p:cNvPr id="21" name="Shape 19"/>
          <p:cNvSpPr/>
          <p:nvPr/>
        </p:nvSpPr>
        <p:spPr>
          <a:xfrm>
            <a:off x="7973568" y="3246120"/>
            <a:ext cx="3529584" cy="2423160"/>
          </a:xfrm>
          <a:prstGeom prst="roundRect">
            <a:avLst>
              <a:gd name="adj" fmla="val 3019"/>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22" name="Text 20"/>
          <p:cNvSpPr txBox="1"/>
          <p:nvPr/>
        </p:nvSpPr>
        <p:spPr>
          <a:xfrm>
            <a:off x="8247888" y="3456432"/>
            <a:ext cx="301752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Why the harness caught it</a:t>
            </a:r>
            <a:endParaRPr lang="en-US" sz="1600" dirty="0"/>
          </a:p>
        </p:txBody>
      </p:sp>
      <p:sp>
        <p:nvSpPr>
          <p:cNvPr id="23" name="Text 21"/>
          <p:cNvSpPr txBox="1"/>
          <p:nvPr/>
        </p:nvSpPr>
        <p:spPr>
          <a:xfrm>
            <a:off x="8247888" y="3840480"/>
            <a:ext cx="3017520" cy="1737360"/>
          </a:xfrm>
          <a:prstGeom prst="rect">
            <a:avLst/>
          </a:prstGeom>
          <a:noFill/>
          <a:ln/>
        </p:spPr>
        <p:txBody>
          <a:bodyPr wrap="square" lIns="0" tIns="0" rIns="0" bIns="0" rtlCol="0" anchor="ctr"/>
          <a:lstStyle/>
          <a:p>
            <a:pPr indent="0" marL="0">
              <a:lnSpc>
                <a:spcPts val="1600"/>
              </a:lnSpc>
              <a:buNone/>
            </a:pPr>
            <a:r>
              <a:rPr lang="en-US" sz="1200" dirty="0">
                <a:solidFill>
                  <a:srgbClr val="141B2E"/>
                </a:solidFill>
                <a:latin typeface="Calibri" pitchFamily="34" charset="0"/>
                <a:ea typeface="Calibri" pitchFamily="34" charset="-122"/>
                <a:cs typeface="Calibri" pitchFamily="34" charset="-120"/>
              </a:rPr>
              <a:t>The defect is not a suspicious pattern. It only appears once you follow how one value is set and where it is read, which is exactly what the harness models and a text scanner cannot.</a:t>
            </a:r>
            <a:endParaRPr lang="en-US" sz="1200" dirty="0"/>
          </a:p>
        </p:txBody>
      </p:sp>
      <p:sp>
        <p:nvSpPr>
          <p:cNvPr id="24" name="Text 22"/>
          <p:cNvSpPr txBox="1"/>
          <p:nvPr/>
        </p:nvSpPr>
        <p:spPr>
          <a:xfrm>
            <a:off x="548640" y="5852160"/>
            <a:ext cx="11094415" cy="320040"/>
          </a:xfrm>
          <a:prstGeom prst="rect">
            <a:avLst/>
          </a:prstGeom>
          <a:noFill/>
          <a:ln/>
        </p:spPr>
        <p:txBody>
          <a:bodyPr wrap="square" lIns="0" tIns="0" rIns="0" bIns="0" rtlCol="0" anchor="ctr"/>
          <a:lstStyle/>
          <a:p>
            <a:pPr indent="0" marL="0">
              <a:buNone/>
            </a:pPr>
            <a:r>
              <a:rPr lang="en-US" sz="1200" i="1" dirty="0">
                <a:solidFill>
                  <a:srgbClr val="5C6688"/>
                </a:solidFill>
                <a:latin typeface="Calibri" pitchFamily="34" charset="0"/>
                <a:ea typeface="Calibri" pitchFamily="34" charset="-122"/>
                <a:cs typeface="Calibri" pitchFamily="34" charset="-120"/>
              </a:rPr>
              <a:t>Scoped precisely: this raises what an existing valid user can reach. Sign in itself is unaffected.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C6688"/>
                </a:solidFill>
                <a:latin typeface="Calibri" pitchFamily="34" charset="0"/>
                <a:ea typeface="Calibri" pitchFamily="34" charset="-122"/>
                <a:cs typeface="Calibri" pitchFamily="34" charset="-120"/>
              </a:rPr>
              <a:t>QUANTITATIVE RECORD</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accurate has it been so far?</a:t>
            </a:r>
            <a:endParaRPr lang="en-US" sz="3200" dirty="0"/>
          </a:p>
        </p:txBody>
      </p:sp>
      <p:sp>
        <p:nvSpPr>
          <p:cNvPr id="4" name="Text 2"/>
          <p:cNvSpPr txBox="1"/>
          <p:nvPr/>
        </p:nvSpPr>
        <p:spPr>
          <a:xfrm>
            <a:off x="548640" y="1188720"/>
            <a:ext cx="10728655" cy="384048"/>
          </a:xfrm>
          <a:prstGeom prst="rect">
            <a:avLst/>
          </a:prstGeom>
          <a:noFill/>
          <a:ln/>
        </p:spPr>
        <p:txBody>
          <a:bodyPr wrap="square" lIns="0" tIns="0" rIns="0" bIns="0" rtlCol="0" anchor="ctr"/>
          <a:lstStyle/>
          <a:p>
            <a:pPr indent="0" marL="0">
              <a:buNone/>
            </a:pPr>
            <a:r>
              <a:rPr lang="en-US" sz="1400" dirty="0">
                <a:solidFill>
                  <a:srgbClr val="5C6688"/>
                </a:solidFill>
                <a:latin typeface="Calibri" pitchFamily="34" charset="0"/>
                <a:ea typeface="Calibri" pitchFamily="34" charset="-122"/>
                <a:cs typeface="Calibri" pitchFamily="34" charset="-120"/>
              </a:rPr>
              <a:t>Measured on the benchmark corpus, where every finding was chased to a conclusion.</a:t>
            </a:r>
            <a:endParaRPr lang="en-US" sz="1400" dirty="0"/>
          </a:p>
        </p:txBody>
      </p:sp>
      <p:graphicFrame>
        <p:nvGraphicFramePr>
          <p:cNvPr id="5" name="Chart 0" descr=""/>
          <p:cNvGraphicFramePr/>
          <p:nvPr/>
        </p:nvGraphicFramePr>
        <p:xfrm>
          <a:off x="548640" y="1874520"/>
          <a:ext cx="649224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269480" y="1965960"/>
            <a:ext cx="4370832" cy="1024128"/>
          </a:xfrm>
          <a:prstGeom prst="roundRect">
            <a:avLst>
              <a:gd name="adj" fmla="val 7143"/>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7" name="Text 4"/>
          <p:cNvSpPr txBox="1"/>
          <p:nvPr/>
        </p:nvSpPr>
        <p:spPr>
          <a:xfrm>
            <a:off x="7498080" y="2075688"/>
            <a:ext cx="1005840" cy="777240"/>
          </a:xfrm>
          <a:prstGeom prst="rect">
            <a:avLst/>
          </a:prstGeom>
          <a:noFill/>
          <a:ln/>
        </p:spPr>
        <p:txBody>
          <a:bodyPr wrap="square" lIns="0" tIns="0" rIns="0" bIns="0" rtlCol="0" anchor="ctr"/>
          <a:lstStyle/>
          <a:p>
            <a:pPr indent="0" marL="0">
              <a:buNone/>
            </a:pPr>
            <a:r>
              <a:rPr lang="en-US" sz="2800" b="1" dirty="0">
                <a:solidFill>
                  <a:srgbClr val="15794F"/>
                </a:solidFill>
                <a:latin typeface="Cambria" pitchFamily="34" charset="0"/>
                <a:ea typeface="Cambria" pitchFamily="34" charset="-122"/>
                <a:cs typeface="Cambria" pitchFamily="34" charset="-120"/>
              </a:rPr>
              <a:t>89%</a:t>
            </a:r>
            <a:endParaRPr lang="en-US" sz="2800" dirty="0"/>
          </a:p>
        </p:txBody>
      </p:sp>
      <p:sp>
        <p:nvSpPr>
          <p:cNvPr id="8" name="Text 5"/>
          <p:cNvSpPr txBox="1"/>
          <p:nvPr/>
        </p:nvSpPr>
        <p:spPr>
          <a:xfrm>
            <a:off x="8549640" y="2075688"/>
            <a:ext cx="2926080" cy="822960"/>
          </a:xfrm>
          <a:prstGeom prst="rect">
            <a:avLst/>
          </a:prstGeom>
          <a:noFill/>
          <a:ln/>
        </p:spPr>
        <p:txBody>
          <a:bodyPr wrap="square" lIns="0" tIns="0" rIns="0" bIns="0" rtlCol="0" anchor="ctr"/>
          <a:lstStyle/>
          <a:p>
            <a:pPr indent="0" marL="0">
              <a:lnSpc>
                <a:spcPts val="1500"/>
              </a:lnSpc>
              <a:buNone/>
            </a:pPr>
            <a:r>
              <a:rPr lang="en-US" sz="1150" dirty="0">
                <a:solidFill>
                  <a:srgbClr val="141B2E"/>
                </a:solidFill>
                <a:latin typeface="Calibri" pitchFamily="34" charset="0"/>
                <a:ea typeface="Calibri" pitchFamily="34" charset="-122"/>
                <a:cs typeface="Calibri" pitchFamily="34" charset="-120"/>
              </a:rPr>
              <a:t>of findings were genuinely real defects at the point they were found. This is reader accuracy.</a:t>
            </a:r>
            <a:endParaRPr lang="en-US" sz="1150" dirty="0"/>
          </a:p>
        </p:txBody>
      </p:sp>
      <p:sp>
        <p:nvSpPr>
          <p:cNvPr id="9" name="Shape 6"/>
          <p:cNvSpPr/>
          <p:nvPr/>
        </p:nvSpPr>
        <p:spPr>
          <a:xfrm>
            <a:off x="7269480" y="3154680"/>
            <a:ext cx="4370832" cy="1024128"/>
          </a:xfrm>
          <a:prstGeom prst="roundRect">
            <a:avLst>
              <a:gd name="adj" fmla="val 7143"/>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0" name="Text 7"/>
          <p:cNvSpPr txBox="1"/>
          <p:nvPr/>
        </p:nvSpPr>
        <p:spPr>
          <a:xfrm>
            <a:off x="7498080" y="3264408"/>
            <a:ext cx="1005840" cy="777240"/>
          </a:xfrm>
          <a:prstGeom prst="rect">
            <a:avLst/>
          </a:prstGeom>
          <a:noFill/>
          <a:ln/>
        </p:spPr>
        <p:txBody>
          <a:bodyPr wrap="square" lIns="0" tIns="0" rIns="0" bIns="0" rtlCol="0" anchor="ctr"/>
          <a:lstStyle/>
          <a:p>
            <a:pPr indent="0" marL="0">
              <a:buNone/>
            </a:pPr>
            <a:r>
              <a:rPr lang="en-US" sz="2800" b="1" dirty="0">
                <a:solidFill>
                  <a:srgbClr val="15794F"/>
                </a:solidFill>
                <a:latin typeface="Cambria" pitchFamily="34" charset="0"/>
                <a:ea typeface="Cambria" pitchFamily="34" charset="-122"/>
                <a:cs typeface="Cambria" pitchFamily="34" charset="-120"/>
              </a:rPr>
              <a:t>68%</a:t>
            </a:r>
            <a:endParaRPr lang="en-US" sz="2800" dirty="0"/>
          </a:p>
        </p:txBody>
      </p:sp>
      <p:sp>
        <p:nvSpPr>
          <p:cNvPr id="11" name="Text 8"/>
          <p:cNvSpPr txBox="1"/>
          <p:nvPr/>
        </p:nvSpPr>
        <p:spPr>
          <a:xfrm>
            <a:off x="8549640" y="3264408"/>
            <a:ext cx="2926080" cy="822960"/>
          </a:xfrm>
          <a:prstGeom prst="rect">
            <a:avLst/>
          </a:prstGeom>
          <a:noFill/>
          <a:ln/>
        </p:spPr>
        <p:txBody>
          <a:bodyPr wrap="square" lIns="0" tIns="0" rIns="0" bIns="0" rtlCol="0" anchor="ctr"/>
          <a:lstStyle/>
          <a:p>
            <a:pPr indent="0" marL="0">
              <a:lnSpc>
                <a:spcPts val="1500"/>
              </a:lnSpc>
              <a:buNone/>
            </a:pPr>
            <a:r>
              <a:rPr lang="en-US" sz="1150" dirty="0">
                <a:solidFill>
                  <a:srgbClr val="141B2E"/>
                </a:solidFill>
                <a:latin typeface="Calibri" pitchFamily="34" charset="0"/>
                <a:ea typeface="Calibri" pitchFamily="34" charset="-122"/>
                <a:cs typeface="Calibri" pitchFamily="34" charset="-120"/>
              </a:rPr>
              <a:t>are still unfixed in the current public release. This is the number a maintainer or a buyer cares about.</a:t>
            </a:r>
            <a:endParaRPr lang="en-US" sz="1150" dirty="0"/>
          </a:p>
        </p:txBody>
      </p:sp>
      <p:sp>
        <p:nvSpPr>
          <p:cNvPr id="12" name="Shape 9"/>
          <p:cNvSpPr/>
          <p:nvPr/>
        </p:nvSpPr>
        <p:spPr>
          <a:xfrm>
            <a:off x="7269480" y="4343400"/>
            <a:ext cx="4370832" cy="1024128"/>
          </a:xfrm>
          <a:prstGeom prst="roundRect">
            <a:avLst>
              <a:gd name="adj" fmla="val 7143"/>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3" name="Text 10"/>
          <p:cNvSpPr txBox="1"/>
          <p:nvPr/>
        </p:nvSpPr>
        <p:spPr>
          <a:xfrm>
            <a:off x="7498080" y="4453128"/>
            <a:ext cx="1005840" cy="777240"/>
          </a:xfrm>
          <a:prstGeom prst="rect">
            <a:avLst/>
          </a:prstGeom>
          <a:noFill/>
          <a:ln/>
        </p:spPr>
        <p:txBody>
          <a:bodyPr wrap="square" lIns="0" tIns="0" rIns="0" bIns="0" rtlCol="0" anchor="ctr"/>
          <a:lstStyle/>
          <a:p>
            <a:pPr indent="0" marL="0">
              <a:buNone/>
            </a:pPr>
            <a:r>
              <a:rPr lang="en-US" sz="2800" b="1" dirty="0">
                <a:solidFill>
                  <a:srgbClr val="15794F"/>
                </a:solidFill>
                <a:latin typeface="Cambria" pitchFamily="34" charset="0"/>
                <a:ea typeface="Cambria" pitchFamily="34" charset="-122"/>
                <a:cs typeface="Cambria" pitchFamily="34" charset="-120"/>
              </a:rPr>
              <a:t>0</a:t>
            </a:r>
            <a:endParaRPr lang="en-US" sz="2800" dirty="0"/>
          </a:p>
        </p:txBody>
      </p:sp>
      <p:sp>
        <p:nvSpPr>
          <p:cNvPr id="14" name="Text 11"/>
          <p:cNvSpPr txBox="1"/>
          <p:nvPr/>
        </p:nvSpPr>
        <p:spPr>
          <a:xfrm>
            <a:off x="8549640" y="4453128"/>
            <a:ext cx="2926080" cy="822960"/>
          </a:xfrm>
          <a:prstGeom prst="rect">
            <a:avLst/>
          </a:prstGeom>
          <a:noFill/>
          <a:ln/>
        </p:spPr>
        <p:txBody>
          <a:bodyPr wrap="square" lIns="0" tIns="0" rIns="0" bIns="0" rtlCol="0" anchor="ctr"/>
          <a:lstStyle/>
          <a:p>
            <a:pPr indent="0" marL="0">
              <a:lnSpc>
                <a:spcPts val="1500"/>
              </a:lnSpc>
              <a:buNone/>
            </a:pPr>
            <a:r>
              <a:rPr lang="en-US" sz="1150" dirty="0">
                <a:solidFill>
                  <a:srgbClr val="141B2E"/>
                </a:solidFill>
                <a:latin typeface="Calibri" pitchFamily="34" charset="0"/>
                <a:ea typeface="Calibri" pitchFamily="34" charset="-122"/>
                <a:cs typeface="Calibri" pitchFamily="34" charset="-120"/>
              </a:rPr>
              <a:t>cases were left undetermined. Every single one was chased to a conclusion.</a:t>
            </a:r>
            <a:endParaRPr lang="en-US" sz="1150" dirty="0"/>
          </a:p>
        </p:txBody>
      </p:sp>
      <p:sp>
        <p:nvSpPr>
          <p:cNvPr id="15" name="Text 12"/>
          <p:cNvSpPr txBox="1"/>
          <p:nvPr/>
        </p:nvSpPr>
        <p:spPr>
          <a:xfrm>
            <a:off x="548640" y="5623560"/>
            <a:ext cx="11094415" cy="548640"/>
          </a:xfrm>
          <a:prstGeom prst="rect">
            <a:avLst/>
          </a:prstGeom>
          <a:noFill/>
          <a:ln/>
        </p:spPr>
        <p:txBody>
          <a:bodyPr wrap="square" lIns="0" tIns="0" rIns="0" bIns="0" rtlCol="0" anchor="ctr"/>
          <a:lstStyle/>
          <a:p>
            <a:pPr indent="0" marL="0">
              <a:lnSpc>
                <a:spcPts val="1600"/>
              </a:lnSpc>
              <a:buNone/>
            </a:pPr>
            <a:r>
              <a:rPr lang="en-US" sz="1200" i="1" dirty="0">
                <a:solidFill>
                  <a:srgbClr val="5C6688"/>
                </a:solidFill>
                <a:latin typeface="Calibri" pitchFamily="34" charset="0"/>
                <a:ea typeface="Calibri" pitchFamily="34" charset="-122"/>
                <a:cs typeface="Calibri" pitchFamily="34" charset="-120"/>
              </a:rPr>
              <a:t>A correct finding does not become wrong because a maintainer later repairs it. Reader accuracy and live count are reported separately for that reason.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C6688"/>
                </a:solidFill>
                <a:latin typeface="Calibri" pitchFamily="34" charset="0"/>
                <a:ea typeface="Calibri" pitchFamily="34" charset="-122"/>
                <a:cs typeface="Calibri" pitchFamily="34" charset="-120"/>
              </a:rPr>
              <a:t>CAPABILITY</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this gives us</a:t>
            </a:r>
            <a:endParaRPr lang="en-US" sz="3200" dirty="0"/>
          </a:p>
        </p:txBody>
      </p:sp>
      <p:sp>
        <p:nvSpPr>
          <p:cNvPr id="4" name="Text 2"/>
          <p:cNvSpPr txBox="1"/>
          <p:nvPr/>
        </p:nvSpPr>
        <p:spPr>
          <a:xfrm>
            <a:off x="548640" y="1188720"/>
            <a:ext cx="10728655" cy="384048"/>
          </a:xfrm>
          <a:prstGeom prst="rect">
            <a:avLst/>
          </a:prstGeom>
          <a:noFill/>
          <a:ln/>
        </p:spPr>
        <p:txBody>
          <a:bodyPr wrap="square" lIns="0" tIns="0" rIns="0" bIns="0" rtlCol="0" anchor="ctr"/>
          <a:lstStyle/>
          <a:p>
            <a:pPr indent="0" marL="0">
              <a:buNone/>
            </a:pPr>
            <a:r>
              <a:rPr lang="en-US" sz="1400" dirty="0">
                <a:solidFill>
                  <a:srgbClr val="5C6688"/>
                </a:solidFill>
                <a:latin typeface="Calibri" pitchFamily="34" charset="0"/>
                <a:ea typeface="Calibri" pitchFamily="34" charset="-122"/>
                <a:cs typeface="Calibri" pitchFamily="34" charset="-120"/>
              </a:rPr>
              <a:t>Three things this brief demonstrates that a conventional scanning tool does not.</a:t>
            </a:r>
            <a:endParaRPr lang="en-US" sz="1400" dirty="0"/>
          </a:p>
        </p:txBody>
      </p:sp>
      <p:sp>
        <p:nvSpPr>
          <p:cNvPr id="5" name="Shape 3"/>
          <p:cNvSpPr/>
          <p:nvPr/>
        </p:nvSpPr>
        <p:spPr>
          <a:xfrm>
            <a:off x="548640" y="1828800"/>
            <a:ext cx="11094415" cy="1188720"/>
          </a:xfrm>
          <a:prstGeom prst="roundRect">
            <a:avLst>
              <a:gd name="adj" fmla="val 6154"/>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6" name="Shape 4"/>
          <p:cNvSpPr/>
          <p:nvPr/>
        </p:nvSpPr>
        <p:spPr>
          <a:xfrm>
            <a:off x="868680" y="2185416"/>
            <a:ext cx="475488" cy="475488"/>
          </a:xfrm>
          <a:prstGeom prst="ellipse">
            <a:avLst/>
          </a:prstGeom>
          <a:solidFill>
            <a:srgbClr val="1E2761"/>
          </a:solidFill>
          <a:ln w="12700">
            <a:solidFill>
              <a:srgbClr val="1E2761"/>
            </a:solidFill>
            <a:prstDash val="solid"/>
          </a:ln>
        </p:spPr>
      </p:sp>
      <p:sp>
        <p:nvSpPr>
          <p:cNvPr id="7" name="Text 5"/>
          <p:cNvSpPr txBox="1"/>
          <p:nvPr/>
        </p:nvSpPr>
        <p:spPr>
          <a:xfrm>
            <a:off x="868680" y="218541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600200" y="2011680"/>
            <a:ext cx="969264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Depth</a:t>
            </a:r>
            <a:endParaRPr lang="en-US" sz="1700" dirty="0"/>
          </a:p>
        </p:txBody>
      </p:sp>
      <p:sp>
        <p:nvSpPr>
          <p:cNvPr id="9" name="Text 7"/>
          <p:cNvSpPr txBox="1"/>
          <p:nvPr/>
        </p:nvSpPr>
        <p:spPr>
          <a:xfrm>
            <a:off x="1600200" y="2377440"/>
            <a:ext cx="9692640" cy="548640"/>
          </a:xfrm>
          <a:prstGeom prst="rect">
            <a:avLst/>
          </a:prstGeom>
          <a:noFill/>
          <a:ln/>
        </p:spPr>
        <p:txBody>
          <a:bodyPr wrap="square" lIns="0" tIns="0" rIns="0" bIns="0" rtlCol="0" anchor="ctr"/>
          <a:lstStyle/>
          <a:p>
            <a:pPr indent="0" marL="0">
              <a:lnSpc>
                <a:spcPts val="1700"/>
              </a:lnSpc>
              <a:buNone/>
            </a:pPr>
            <a:r>
              <a:rPr lang="en-US" sz="1300" dirty="0">
                <a:solidFill>
                  <a:srgbClr val="141B2E"/>
                </a:solidFill>
                <a:latin typeface="Calibri" pitchFamily="34" charset="0"/>
                <a:ea typeface="Calibri" pitchFamily="34" charset="-122"/>
                <a:cs typeface="Calibri" pitchFamily="34" charset="-120"/>
              </a:rPr>
              <a:t>It reaches defects that human review, existing scanners and the projects' own test suites all passed over, in one case for five years running.</a:t>
            </a:r>
            <a:endParaRPr lang="en-US" sz="1300" dirty="0"/>
          </a:p>
        </p:txBody>
      </p:sp>
      <p:sp>
        <p:nvSpPr>
          <p:cNvPr id="10" name="Shape 8"/>
          <p:cNvSpPr/>
          <p:nvPr/>
        </p:nvSpPr>
        <p:spPr>
          <a:xfrm>
            <a:off x="548640" y="3127248"/>
            <a:ext cx="11094415" cy="1188720"/>
          </a:xfrm>
          <a:prstGeom prst="roundRect">
            <a:avLst>
              <a:gd name="adj" fmla="val 6154"/>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1" name="Shape 9"/>
          <p:cNvSpPr/>
          <p:nvPr/>
        </p:nvSpPr>
        <p:spPr>
          <a:xfrm>
            <a:off x="868680" y="3483864"/>
            <a:ext cx="475488" cy="475488"/>
          </a:xfrm>
          <a:prstGeom prst="ellipse">
            <a:avLst/>
          </a:prstGeom>
          <a:solidFill>
            <a:srgbClr val="1E2761"/>
          </a:solidFill>
          <a:ln w="12700">
            <a:solidFill>
              <a:srgbClr val="1E2761"/>
            </a:solidFill>
            <a:prstDash val="solid"/>
          </a:ln>
        </p:spPr>
      </p:sp>
      <p:sp>
        <p:nvSpPr>
          <p:cNvPr id="12" name="Text 10"/>
          <p:cNvSpPr txBox="1"/>
          <p:nvPr/>
        </p:nvSpPr>
        <p:spPr>
          <a:xfrm>
            <a:off x="868680" y="348386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600200" y="3310128"/>
            <a:ext cx="969264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Precision</a:t>
            </a:r>
            <a:endParaRPr lang="en-US" sz="1700" dirty="0"/>
          </a:p>
        </p:txBody>
      </p:sp>
      <p:sp>
        <p:nvSpPr>
          <p:cNvPr id="14" name="Text 12"/>
          <p:cNvSpPr txBox="1"/>
          <p:nvPr/>
        </p:nvSpPr>
        <p:spPr>
          <a:xfrm>
            <a:off x="1600200" y="3675888"/>
            <a:ext cx="9692640" cy="548640"/>
          </a:xfrm>
          <a:prstGeom prst="rect">
            <a:avLst/>
          </a:prstGeom>
          <a:noFill/>
          <a:ln/>
        </p:spPr>
        <p:txBody>
          <a:bodyPr wrap="square" lIns="0" tIns="0" rIns="0" bIns="0" rtlCol="0" anchor="ctr"/>
          <a:lstStyle/>
          <a:p>
            <a:pPr indent="0" marL="0">
              <a:lnSpc>
                <a:spcPts val="1700"/>
              </a:lnSpc>
              <a:buNone/>
            </a:pPr>
            <a:r>
              <a:rPr lang="en-US" sz="1300" dirty="0">
                <a:solidFill>
                  <a:srgbClr val="141B2E"/>
                </a:solidFill>
                <a:latin typeface="Calibri" pitchFamily="34" charset="0"/>
                <a:ea typeface="Calibri" pitchFamily="34" charset="-122"/>
                <a:cs typeface="Calibri" pitchFamily="34" charset="-120"/>
              </a:rPr>
              <a:t>Every finding lands with a file, a line, a mechanism and a reproduction. A maintainer can act on it without a conversation first.</a:t>
            </a:r>
            <a:endParaRPr lang="en-US" sz="1300" dirty="0"/>
          </a:p>
        </p:txBody>
      </p:sp>
      <p:sp>
        <p:nvSpPr>
          <p:cNvPr id="15" name="Shape 13"/>
          <p:cNvSpPr/>
          <p:nvPr/>
        </p:nvSpPr>
        <p:spPr>
          <a:xfrm>
            <a:off x="548640" y="4425696"/>
            <a:ext cx="11094415" cy="1188720"/>
          </a:xfrm>
          <a:prstGeom prst="roundRect">
            <a:avLst>
              <a:gd name="adj" fmla="val 6154"/>
            </a:avLst>
          </a:prstGeom>
          <a:solidFill>
            <a:srgbClr val="F3F5FB"/>
          </a:solidFill>
          <a:ln w="12700">
            <a:solidFill>
              <a:srgbClr val="DCE2F2"/>
            </a:solidFill>
            <a:prstDash val="solid"/>
          </a:ln>
          <a:effectLst>
            <a:outerShdw sx="100000" sy="100000" kx="0" ky="0" algn="bl" rotWithShape="0" blurRad="127000" dist="25400" dir="5400000">
              <a:srgbClr val="1E2761">
                <a:alpha val="10000"/>
              </a:srgbClr>
            </a:outerShdw>
          </a:effectLst>
        </p:spPr>
      </p:sp>
      <p:sp>
        <p:nvSpPr>
          <p:cNvPr id="16" name="Shape 14"/>
          <p:cNvSpPr/>
          <p:nvPr/>
        </p:nvSpPr>
        <p:spPr>
          <a:xfrm>
            <a:off x="868680" y="4782312"/>
            <a:ext cx="475488" cy="475488"/>
          </a:xfrm>
          <a:prstGeom prst="ellipse">
            <a:avLst/>
          </a:prstGeom>
          <a:solidFill>
            <a:srgbClr val="1E2761"/>
          </a:solidFill>
          <a:ln w="12700">
            <a:solidFill>
              <a:srgbClr val="1E2761"/>
            </a:solidFill>
            <a:prstDash val="solid"/>
          </a:ln>
        </p:spPr>
      </p:sp>
      <p:sp>
        <p:nvSpPr>
          <p:cNvPr id="17" name="Text 15"/>
          <p:cNvSpPr txBox="1"/>
          <p:nvPr/>
        </p:nvSpPr>
        <p:spPr>
          <a:xfrm>
            <a:off x="868680" y="478231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600200" y="4608576"/>
            <a:ext cx="969264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Speed and reach</a:t>
            </a:r>
            <a:endParaRPr lang="en-US" sz="1700" dirty="0"/>
          </a:p>
        </p:txBody>
      </p:sp>
      <p:sp>
        <p:nvSpPr>
          <p:cNvPr id="19" name="Text 17"/>
          <p:cNvSpPr txBox="1"/>
          <p:nvPr/>
        </p:nvSpPr>
        <p:spPr>
          <a:xfrm>
            <a:off x="1600200" y="4974336"/>
            <a:ext cx="9692640" cy="548640"/>
          </a:xfrm>
          <a:prstGeom prst="rect">
            <a:avLst/>
          </a:prstGeom>
          <a:noFill/>
          <a:ln/>
        </p:spPr>
        <p:txBody>
          <a:bodyPr wrap="square" lIns="0" tIns="0" rIns="0" bIns="0" rtlCol="0" anchor="ctr"/>
          <a:lstStyle/>
          <a:p>
            <a:pPr indent="0" marL="0">
              <a:lnSpc>
                <a:spcPts val="1700"/>
              </a:lnSpc>
              <a:buNone/>
            </a:pPr>
            <a:r>
              <a:rPr lang="en-US" sz="1300" dirty="0">
                <a:solidFill>
                  <a:srgbClr val="141B2E"/>
                </a:solidFill>
                <a:latin typeface="Calibri" pitchFamily="34" charset="0"/>
                <a:ea typeface="Calibri" pitchFamily="34" charset="-122"/>
                <a:cs typeface="Calibri" pitchFamily="34" charset="-120"/>
              </a:rPr>
              <a:t>Three separate projects in three different languages, covered in a single week, with the evidence standard held constant across all of them.</a:t>
            </a:r>
            <a:endParaRPr lang="en-US" sz="1300" dirty="0"/>
          </a:p>
        </p:txBody>
      </p:sp>
      <p:sp>
        <p:nvSpPr>
          <p:cNvPr id="20" name="Shape 18"/>
          <p:cNvSpPr/>
          <p:nvPr/>
        </p:nvSpPr>
        <p:spPr>
          <a:xfrm>
            <a:off x="548640" y="5852160"/>
            <a:ext cx="11094415" cy="685800"/>
          </a:xfrm>
          <a:prstGeom prst="roundRect">
            <a:avLst>
              <a:gd name="adj" fmla="val 10667"/>
            </a:avLst>
          </a:prstGeom>
          <a:solidFill>
            <a:srgbClr val="E3F1EA"/>
          </a:solidFill>
          <a:ln w="12700">
            <a:solidFill>
              <a:srgbClr val="BFE0CE"/>
            </a:solidFill>
            <a:prstDash val="solid"/>
          </a:ln>
          <a:effectLst>
            <a:outerShdw sx="100000" sy="100000" kx="0" ky="0" algn="bl" rotWithShape="0" blurRad="127000" dist="25400" dir="5400000">
              <a:srgbClr val="1E2761">
                <a:alpha val="10000"/>
              </a:srgbClr>
            </a:outerShdw>
          </a:effectLst>
        </p:spPr>
      </p:sp>
      <p:sp>
        <p:nvSpPr>
          <p:cNvPr id="21" name="Text 19"/>
          <p:cNvSpPr txBox="1"/>
          <p:nvPr/>
        </p:nvSpPr>
        <p:spPr>
          <a:xfrm>
            <a:off x="868680" y="5943600"/>
            <a:ext cx="10454335" cy="502920"/>
          </a:xfrm>
          <a:prstGeom prst="rect">
            <a:avLst/>
          </a:prstGeom>
          <a:noFill/>
          <a:ln/>
        </p:spPr>
        <p:txBody>
          <a:bodyPr wrap="square" lIns="0" tIns="0" rIns="0" bIns="0" rtlCol="0" anchor="ctr"/>
          <a:lstStyle/>
          <a:p>
            <a:pPr indent="0" marL="0">
              <a:buNone/>
            </a:pPr>
            <a:r>
              <a:rPr lang="en-US" sz="1400" b="1" dirty="0">
                <a:solidFill>
                  <a:srgbClr val="15794F"/>
                </a:solidFill>
                <a:latin typeface="Calibri" pitchFamily="34" charset="0"/>
                <a:ea typeface="Calibri" pitchFamily="34" charset="-122"/>
                <a:cs typeface="Calibri" pitchFamily="34" charset="-120"/>
              </a:rPr>
              <a:t>The same standard that produced these three results is the standard the harness runs at every time.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30"/>
        </a:solidFill>
      </p:bgPr>
    </p:bg>
    <p:spTree>
      <p:nvGrpSpPr>
        <p:cNvPr id="1" name=""/>
        <p:cNvGrpSpPr/>
        <p:nvPr/>
      </p:nvGrpSpPr>
      <p:grpSpPr>
        <a:xfrm>
          <a:off x="0" y="0"/>
          <a:ext cx="0" cy="0"/>
          <a:chOff x="0" y="0"/>
          <a:chExt cx="0" cy="0"/>
        </a:xfrm>
      </p:grpSpPr>
      <p:sp>
        <p:nvSpPr>
          <p:cNvPr id="2" name="Text 0"/>
          <p:cNvSpPr txBox="1"/>
          <p:nvPr/>
        </p:nvSpPr>
        <p:spPr>
          <a:xfrm>
            <a:off x="548640" y="685800"/>
            <a:ext cx="11094415" cy="274320"/>
          </a:xfrm>
          <a:prstGeom prst="rect">
            <a:avLst/>
          </a:prstGeom>
          <a:noFill/>
          <a:ln/>
        </p:spPr>
        <p:txBody>
          <a:bodyPr wrap="square" lIns="0" tIns="0" rIns="0" bIns="0" rtlCol="0" anchor="ctr"/>
          <a:lstStyle/>
          <a:p>
            <a:pPr indent="0" marL="0">
              <a:buNone/>
            </a:pPr>
            <a:r>
              <a:rPr lang="en-US" sz="1100" b="1" spc="250" kern="0" dirty="0">
                <a:solidFill>
                  <a:srgbClr val="CADCFC"/>
                </a:solidFill>
                <a:latin typeface="Calibri" pitchFamily="34" charset="0"/>
                <a:ea typeface="Calibri" pitchFamily="34" charset="-122"/>
                <a:cs typeface="Calibri" pitchFamily="34" charset="-120"/>
              </a:rPr>
              <a:t>DISCLOSURE POSTURE</a:t>
            </a:r>
            <a:endParaRPr lang="en-US" sz="1100" dirty="0"/>
          </a:p>
        </p:txBody>
      </p:sp>
      <p:sp>
        <p:nvSpPr>
          <p:cNvPr id="3" name="Text 1"/>
          <p:cNvSpPr txBox="1"/>
          <p:nvPr/>
        </p:nvSpPr>
        <p:spPr>
          <a:xfrm>
            <a:off x="548640" y="1051560"/>
            <a:ext cx="105156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Proved first, then reported once</a:t>
            </a:r>
            <a:endParaRPr lang="en-US" sz="3600" dirty="0"/>
          </a:p>
        </p:txBody>
      </p:sp>
      <p:sp>
        <p:nvSpPr>
          <p:cNvPr id="4" name="Text 2"/>
          <p:cNvSpPr txBox="1"/>
          <p:nvPr/>
        </p:nvSpPr>
        <p:spPr>
          <a:xfrm>
            <a:off x="548640" y="1828800"/>
            <a:ext cx="9692640" cy="640080"/>
          </a:xfrm>
          <a:prstGeom prst="rect">
            <a:avLst/>
          </a:prstGeom>
          <a:noFill/>
          <a:ln/>
        </p:spPr>
        <p:txBody>
          <a:bodyPr wrap="square" lIns="0" tIns="0" rIns="0" bIns="0" rtlCol="0" anchor="ctr"/>
          <a:lstStyle/>
          <a:p>
            <a:pPr indent="0" marL="0">
              <a:lnSpc>
                <a:spcPts val="2100"/>
              </a:lnSpc>
              <a:buNone/>
            </a:pPr>
            <a:r>
              <a:rPr lang="en-US" sz="1500" dirty="0">
                <a:solidFill>
                  <a:srgbClr val="CADCFC"/>
                </a:solidFill>
                <a:latin typeface="Calibri" pitchFamily="34" charset="0"/>
                <a:ea typeface="Calibri" pitchFamily="34" charset="-122"/>
                <a:cs typeface="Calibri" pitchFamily="34" charset="-120"/>
              </a:rPr>
              <a:t>These findings sit with the team under a deliberate hold. They go out as one coordinated package per project, on a timing leadership sets.</a:t>
            </a:r>
            <a:endParaRPr lang="en-US" sz="1500" dirty="0"/>
          </a:p>
        </p:txBody>
      </p:sp>
      <p:sp>
        <p:nvSpPr>
          <p:cNvPr id="5" name="Shape 3"/>
          <p:cNvSpPr/>
          <p:nvPr/>
        </p:nvSpPr>
        <p:spPr>
          <a:xfrm>
            <a:off x="548640" y="2880360"/>
            <a:ext cx="3529584" cy="2468880"/>
          </a:xfrm>
          <a:prstGeom prst="roundRect">
            <a:avLst>
              <a:gd name="adj" fmla="val 2963"/>
            </a:avLst>
          </a:prstGeom>
          <a:solidFill>
            <a:srgbClr val="2C3B7A"/>
          </a:solidFill>
          <a:ln w="12700">
            <a:solidFill>
              <a:srgbClr val="44559C"/>
            </a:solidFill>
            <a:prstDash val="solid"/>
          </a:ln>
          <a:effectLst>
            <a:outerShdw sx="100000" sy="100000" kx="0" ky="0" algn="bl" rotWithShape="0" blurRad="127000" dist="25400" dir="5400000">
              <a:srgbClr val="1E2761">
                <a:alpha val="10000"/>
              </a:srgbClr>
            </a:outerShdw>
          </a:effectLst>
        </p:spPr>
      </p:sp>
      <p:sp>
        <p:nvSpPr>
          <p:cNvPr id="6" name="Text 4"/>
          <p:cNvSpPr txBox="1"/>
          <p:nvPr/>
        </p:nvSpPr>
        <p:spPr>
          <a:xfrm>
            <a:off x="822960" y="3108960"/>
            <a:ext cx="3017520"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One package, not a stream</a:t>
            </a:r>
            <a:endParaRPr lang="en-US" sz="1700" dirty="0"/>
          </a:p>
        </p:txBody>
      </p:sp>
      <p:sp>
        <p:nvSpPr>
          <p:cNvPr id="7" name="Text 5"/>
          <p:cNvSpPr txBox="1"/>
          <p:nvPr/>
        </p:nvSpPr>
        <p:spPr>
          <a:xfrm>
            <a:off x="822960" y="3749040"/>
            <a:ext cx="3017520" cy="1463040"/>
          </a:xfrm>
          <a:prstGeom prst="rect">
            <a:avLst/>
          </a:prstGeom>
          <a:noFill/>
          <a:ln/>
        </p:spPr>
        <p:txBody>
          <a:bodyPr wrap="square" lIns="0" tIns="0" rIns="0" bIns="0" rtlCol="0" anchor="ctr"/>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Maintainers judge a reporter by the first thing they receive. One complete, verified package lands better than a drip of partial claims.</a:t>
            </a:r>
            <a:endParaRPr lang="en-US" sz="1250" dirty="0"/>
          </a:p>
        </p:txBody>
      </p:sp>
      <p:sp>
        <p:nvSpPr>
          <p:cNvPr id="8" name="Shape 6"/>
          <p:cNvSpPr/>
          <p:nvPr/>
        </p:nvSpPr>
        <p:spPr>
          <a:xfrm>
            <a:off x="4261104" y="2880360"/>
            <a:ext cx="3529584" cy="2468880"/>
          </a:xfrm>
          <a:prstGeom prst="roundRect">
            <a:avLst>
              <a:gd name="adj" fmla="val 2963"/>
            </a:avLst>
          </a:prstGeom>
          <a:solidFill>
            <a:srgbClr val="2C3B7A"/>
          </a:solidFill>
          <a:ln w="12700">
            <a:solidFill>
              <a:srgbClr val="44559C"/>
            </a:solidFill>
            <a:prstDash val="solid"/>
          </a:ln>
          <a:effectLst>
            <a:outerShdw sx="100000" sy="100000" kx="0" ky="0" algn="bl" rotWithShape="0" blurRad="127000" dist="25400" dir="5400000">
              <a:srgbClr val="1E2761">
                <a:alpha val="10000"/>
              </a:srgbClr>
            </a:outerShdw>
          </a:effectLst>
        </p:spPr>
      </p:sp>
      <p:sp>
        <p:nvSpPr>
          <p:cNvPr id="9" name="Text 7"/>
          <p:cNvSpPr txBox="1"/>
          <p:nvPr/>
        </p:nvSpPr>
        <p:spPr>
          <a:xfrm>
            <a:off x="4535424" y="3108960"/>
            <a:ext cx="3017520"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Every claim reproducible</a:t>
            </a:r>
            <a:endParaRPr lang="en-US" sz="1700" dirty="0"/>
          </a:p>
        </p:txBody>
      </p:sp>
      <p:sp>
        <p:nvSpPr>
          <p:cNvPr id="10" name="Text 8"/>
          <p:cNvSpPr txBox="1"/>
          <p:nvPr/>
        </p:nvSpPr>
        <p:spPr>
          <a:xfrm>
            <a:off x="4535424" y="3749040"/>
            <a:ext cx="3017520" cy="1463040"/>
          </a:xfrm>
          <a:prstGeom prst="rect">
            <a:avLst/>
          </a:prstGeom>
          <a:noFill/>
          <a:ln/>
        </p:spPr>
        <p:txBody>
          <a:bodyPr wrap="square" lIns="0" tIns="0" rIns="0" bIns="0" rtlCol="0" anchor="ctr"/>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Each report carries the evidence that proves it, so a maintainer can confirm it on their own machine the same day.</a:t>
            </a:r>
            <a:endParaRPr lang="en-US" sz="1250" dirty="0"/>
          </a:p>
        </p:txBody>
      </p:sp>
      <p:sp>
        <p:nvSpPr>
          <p:cNvPr id="11" name="Shape 9"/>
          <p:cNvSpPr/>
          <p:nvPr/>
        </p:nvSpPr>
        <p:spPr>
          <a:xfrm>
            <a:off x="7973568" y="2880360"/>
            <a:ext cx="3529584" cy="2468880"/>
          </a:xfrm>
          <a:prstGeom prst="roundRect">
            <a:avLst>
              <a:gd name="adj" fmla="val 2963"/>
            </a:avLst>
          </a:prstGeom>
          <a:solidFill>
            <a:srgbClr val="2C3B7A"/>
          </a:solidFill>
          <a:ln w="12700">
            <a:solidFill>
              <a:srgbClr val="44559C"/>
            </a:solidFill>
            <a:prstDash val="solid"/>
          </a:ln>
          <a:effectLst>
            <a:outerShdw sx="100000" sy="100000" kx="0" ky="0" algn="bl" rotWithShape="0" blurRad="127000" dist="25400" dir="5400000">
              <a:srgbClr val="1E2761">
                <a:alpha val="10000"/>
              </a:srgbClr>
            </a:outerShdw>
          </a:effectLst>
        </p:spPr>
      </p:sp>
      <p:sp>
        <p:nvSpPr>
          <p:cNvPr id="12" name="Text 10"/>
          <p:cNvSpPr txBox="1"/>
          <p:nvPr/>
        </p:nvSpPr>
        <p:spPr>
          <a:xfrm>
            <a:off x="8247888" y="3108960"/>
            <a:ext cx="3017520"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Controlled and private</a:t>
            </a:r>
            <a:endParaRPr lang="en-US" sz="1700" dirty="0"/>
          </a:p>
        </p:txBody>
      </p:sp>
      <p:sp>
        <p:nvSpPr>
          <p:cNvPr id="13" name="Text 11"/>
          <p:cNvSpPr txBox="1"/>
          <p:nvPr/>
        </p:nvSpPr>
        <p:spPr>
          <a:xfrm>
            <a:off x="8247888" y="3749040"/>
            <a:ext cx="3017520" cy="1463040"/>
          </a:xfrm>
          <a:prstGeom prst="rect">
            <a:avLst/>
          </a:prstGeom>
          <a:noFill/>
          <a:ln/>
        </p:spPr>
        <p:txBody>
          <a:bodyPr wrap="square" lIns="0" tIns="0" rIns="0" bIns="0" rtlCol="0" anchor="ctr"/>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Nothing has been shared outside the team. The record stays internal and is released only by deliberate decision.</a:t>
            </a:r>
            <a:endParaRPr lang="en-US" sz="1250" dirty="0"/>
          </a:p>
        </p:txBody>
      </p:sp>
      <p:sp>
        <p:nvSpPr>
          <p:cNvPr id="14" name="Text 12"/>
          <p:cNvSpPr txBox="1"/>
          <p:nvPr/>
        </p:nvSpPr>
        <p:spPr>
          <a:xfrm>
            <a:off x="548640" y="5669280"/>
            <a:ext cx="11094415"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Three proved defects, three widely used projects, one week of running time.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Harness: Verified Findings</dc:title>
  <dc:subject>PptxGenJS Presentation</dc:subject>
  <dc:creator>Security Architecture &amp; Emerging Technology</dc:creator>
  <cp:lastModifiedBy>Security Architecture &amp; Emerging Technology</cp:lastModifiedBy>
  <cp:revision>1</cp:revision>
  <dcterms:created xsi:type="dcterms:W3CDTF">2026-08-26T18:42:09Z</dcterms:created>
  <dcterms:modified xsi:type="dcterms:W3CDTF">2026-08-26T18:42:09Z</dcterms:modified>
</cp:coreProperties>
</file>