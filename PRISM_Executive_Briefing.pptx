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PRISM is a model agnostic AI security research system. It combines complementary ways of investigating a repository, consolidates them into distinct root causes, challenges weak findings before they reach users, and uses runtime validation selectively. Ten minutes, four questions: what it is, how it works, why it finds more, why it costs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up front. Nine slides. The first three explain what PRISM is and how it works, the middle four explain why the architecture should find more, deliver cleaner results, cost less and survive model change, and the last two are the scorecard and the direction. Everything here is either built or measurable, and slide eight is explicit about what is not yet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Leadership framing: we are not choosing between scale and depth. The gap is that neither approach separates finding an issue from proving it. That separation is the core of the PRISM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Stage three is the difference: instead of one detection strategy, PRISM runs complementary investigation strategies over the same understood system. Stages four and five are the evidence layer. Runtime proof is applied selectively, not universally.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11 versus 42 comparison is not a performance claim. It is evidence that how AI investigation is organized changes what it discovers, even without spending more on inference. A controlled head to head against a strong external baseline is part of the MVP evaluation and has not been run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scanners surface findings directly. PRISM adds a challenge layer between discovery and delivery. Leadership takeaway: fewer, better findings reach engineering teams, and each one arrives with a stated evidence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investment is the cost story. The expensive model is not applied evenly across the repository. Broad screening is cheap, escalation is selective, and runtime validation is reserved for findings where the answer changes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strategic point: PRISM is the security system, not the model. Model quality will keep improving. Owning the workflow means we capture that improvement without rebuilding, and without locking the security program to one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high level. We are describing architectural categories, not asserting what a named competitor cannot do. The rows in the PRISM column are design commitments that the MVP evaluation will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deliberately a scorecard rather than marketing. If PRISM cannot clear these five measures, we should know early. The external head to head comparison is still ahead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thesis. The architecture is the asset. As frontier models improve, PRISM gets better without a redesign, and the evidence discipline is what makes the output trustworthy enough to put in front of engineering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233"/>
        </a:solidFill>
      </p:bgPr>
    </p:bg>
    <p:spTree>
      <p:nvGrpSpPr>
        <p:cNvPr id="1" name=""/>
        <p:cNvGrpSpPr/>
        <p:nvPr/>
      </p:nvGrpSpPr>
      <p:grpSpPr>
        <a:xfrm>
          <a:off x="0" y="0"/>
          <a:ext cx="0" cy="0"/>
          <a:chOff x="0" y="0"/>
          <a:chExt cx="0" cy="0"/>
        </a:xfrm>
      </p:grpSpPr>
      <p:sp>
        <p:nvSpPr>
          <p:cNvPr id="2" name="Text 0"/>
          <p:cNvSpPr txBox="1"/>
          <p:nvPr/>
        </p:nvSpPr>
        <p:spPr>
          <a:xfrm>
            <a:off x="822960" y="1600200"/>
            <a:ext cx="5852160" cy="1143000"/>
          </a:xfrm>
          <a:prstGeom prst="rect">
            <a:avLst/>
          </a:prstGeom>
          <a:noFill/>
          <a:ln/>
        </p:spPr>
        <p:txBody>
          <a:bodyPr wrap="square" lIns="0" tIns="0" rIns="0" bIns="0" rtlCol="0" anchor="ctr"/>
          <a:lstStyle/>
          <a:p>
            <a:pPr indent="0" marL="0">
              <a:buNone/>
            </a:pPr>
            <a:r>
              <a:rPr lang="en-US" sz="6800" b="1" spc="300" kern="0" dirty="0">
                <a:solidFill>
                  <a:srgbClr val="FFFFFF"/>
                </a:solidFill>
                <a:latin typeface="Cambria" pitchFamily="34" charset="0"/>
                <a:ea typeface="Cambria" pitchFamily="34" charset="-122"/>
                <a:cs typeface="Cambria" pitchFamily="34" charset="-120"/>
              </a:rPr>
              <a:t>PRISM</a:t>
            </a:r>
            <a:endParaRPr lang="en-US" sz="6800" dirty="0"/>
          </a:p>
        </p:txBody>
      </p:sp>
      <p:sp>
        <p:nvSpPr>
          <p:cNvPr id="3" name="Text 1"/>
          <p:cNvSpPr txBox="1"/>
          <p:nvPr/>
        </p:nvSpPr>
        <p:spPr>
          <a:xfrm>
            <a:off x="841248" y="2788920"/>
            <a:ext cx="6035040" cy="822960"/>
          </a:xfrm>
          <a:prstGeom prst="rect">
            <a:avLst/>
          </a:prstGeom>
          <a:noFill/>
          <a:ln/>
        </p:spPr>
        <p:txBody>
          <a:bodyPr wrap="square" lIns="0" tIns="0" rIns="0" bIns="0" rtlCol="0" anchor="ctr"/>
          <a:lstStyle/>
          <a:p>
            <a:pPr indent="0" marL="0">
              <a:lnSpc>
                <a:spcPct val="115000"/>
              </a:lnSpc>
              <a:buNone/>
            </a:pPr>
            <a:r>
              <a:rPr lang="en-US" sz="2200" dirty="0">
                <a:solidFill>
                  <a:srgbClr val="9BCAEB"/>
                </a:solidFill>
                <a:latin typeface="Cambria" pitchFamily="34" charset="0"/>
                <a:ea typeface="Cambria" pitchFamily="34" charset="-122"/>
                <a:cs typeface="Cambria" pitchFamily="34" charset="-120"/>
              </a:rPr>
              <a:t>AI Security Research Beyond a Single Scanner or Agent</a:t>
            </a:r>
            <a:endParaRPr lang="en-US" sz="2200" dirty="0"/>
          </a:p>
        </p:txBody>
      </p:sp>
      <p:sp>
        <p:nvSpPr>
          <p:cNvPr id="4" name="Text 2"/>
          <p:cNvSpPr txBox="1"/>
          <p:nvPr/>
        </p:nvSpPr>
        <p:spPr>
          <a:xfrm>
            <a:off x="841248" y="3794760"/>
            <a:ext cx="5669280" cy="822960"/>
          </a:xfrm>
          <a:prstGeom prst="rect">
            <a:avLst/>
          </a:prstGeom>
          <a:noFill/>
          <a:ln/>
        </p:spPr>
        <p:txBody>
          <a:bodyPr wrap="square" lIns="0" tIns="0" rIns="0" bIns="0" rtlCol="0" anchor="ctr"/>
          <a:lstStyle/>
          <a:p>
            <a:pPr indent="0" marL="0">
              <a:lnSpc>
                <a:spcPct val="125000"/>
              </a:lnSpc>
              <a:buNone/>
            </a:pPr>
            <a:r>
              <a:rPr lang="en-US" sz="1450" dirty="0">
                <a:solidFill>
                  <a:srgbClr val="C5D9EE"/>
                </a:solidFill>
                <a:latin typeface="Calibri" pitchFamily="34" charset="0"/>
                <a:ea typeface="Calibri" pitchFamily="34" charset="-122"/>
                <a:cs typeface="Calibri" pitchFamily="34" charset="-120"/>
              </a:rPr>
              <a:t>Find broader vulnerability coverage, reduce noise through evidence, and spend deep AI reasoning only where it matters.</a:t>
            </a:r>
            <a:endParaRPr lang="en-US" sz="1450" dirty="0"/>
          </a:p>
        </p:txBody>
      </p:sp>
      <p:sp>
        <p:nvSpPr>
          <p:cNvPr id="5" name="Text 3"/>
          <p:cNvSpPr txBox="1"/>
          <p:nvPr/>
        </p:nvSpPr>
        <p:spPr>
          <a:xfrm>
            <a:off x="841248" y="5897880"/>
            <a:ext cx="7315200" cy="310896"/>
          </a:xfrm>
          <a:prstGeom prst="rect">
            <a:avLst/>
          </a:prstGeom>
          <a:noFill/>
          <a:ln/>
        </p:spPr>
        <p:txBody>
          <a:bodyPr wrap="square" lIns="0" tIns="0" rIns="0" bIns="0" rtlCol="0" anchor="ctr"/>
          <a:lstStyle/>
          <a:p>
            <a:pPr indent="0" marL="0">
              <a:buNone/>
            </a:pPr>
            <a:r>
              <a:rPr lang="en-US" sz="1100" spc="80" kern="0" dirty="0">
                <a:solidFill>
                  <a:srgbClr val="7D93AE"/>
                </a:solidFill>
                <a:latin typeface="Calibri" pitchFamily="34" charset="0"/>
                <a:ea typeface="Calibri" pitchFamily="34" charset="-122"/>
                <a:cs typeface="Calibri" pitchFamily="34" charset="-120"/>
              </a:rPr>
              <a:t>Executive Briefing   |   Security Architecture and Emerging Technology</a:t>
            </a:r>
            <a:endParaRPr lang="en-US" sz="1100" dirty="0"/>
          </a:p>
        </p:txBody>
      </p:sp>
      <p:sp>
        <p:nvSpPr>
          <p:cNvPr id="6" name="Shape 4"/>
          <p:cNvSpPr/>
          <p:nvPr/>
        </p:nvSpPr>
        <p:spPr>
          <a:xfrm>
            <a:off x="6720840" y="3566160"/>
            <a:ext cx="1956816" cy="0"/>
          </a:xfrm>
          <a:prstGeom prst="line">
            <a:avLst/>
          </a:prstGeom>
          <a:noFill/>
          <a:ln w="28575">
            <a:solidFill>
              <a:srgbClr val="FFFFFF"/>
            </a:solidFill>
            <a:prstDash val="solid"/>
          </a:ln>
        </p:spPr>
      </p:sp>
      <p:sp>
        <p:nvSpPr>
          <p:cNvPr id="7" name="Shape 5"/>
          <p:cNvSpPr/>
          <p:nvPr/>
        </p:nvSpPr>
        <p:spPr>
          <a:xfrm>
            <a:off x="8229600" y="2194560"/>
            <a:ext cx="2377440" cy="2194560"/>
          </a:xfrm>
          <a:prstGeom prst="triangle">
            <a:avLst/>
          </a:prstGeom>
          <a:solidFill>
            <a:srgbClr val="002050"/>
          </a:solidFill>
          <a:ln w="25400">
            <a:solidFill>
              <a:srgbClr val="9BCAEB"/>
            </a:solidFill>
            <a:prstDash val="solid"/>
          </a:ln>
        </p:spPr>
      </p:sp>
      <p:sp>
        <p:nvSpPr>
          <p:cNvPr id="8" name="Shape 6"/>
          <p:cNvSpPr/>
          <p:nvPr/>
        </p:nvSpPr>
        <p:spPr>
          <a:xfrm flipV="1">
            <a:off x="10158984" y="2606040"/>
            <a:ext cx="1499616" cy="960120"/>
          </a:xfrm>
          <a:prstGeom prst="line">
            <a:avLst/>
          </a:prstGeom>
          <a:noFill/>
          <a:ln w="25400">
            <a:solidFill>
              <a:srgbClr val="9BCAEB"/>
            </a:solidFill>
            <a:prstDash val="solid"/>
          </a:ln>
        </p:spPr>
      </p:sp>
      <p:sp>
        <p:nvSpPr>
          <p:cNvPr id="9" name="Shape 7"/>
          <p:cNvSpPr/>
          <p:nvPr/>
        </p:nvSpPr>
        <p:spPr>
          <a:xfrm flipV="1">
            <a:off x="10158984" y="3154680"/>
            <a:ext cx="1499616" cy="411480"/>
          </a:xfrm>
          <a:prstGeom prst="line">
            <a:avLst/>
          </a:prstGeom>
          <a:noFill/>
          <a:ln w="25400">
            <a:solidFill>
              <a:srgbClr val="7FC3F5"/>
            </a:solidFill>
            <a:prstDash val="solid"/>
          </a:ln>
        </p:spPr>
      </p:sp>
      <p:sp>
        <p:nvSpPr>
          <p:cNvPr id="10" name="Shape 8"/>
          <p:cNvSpPr/>
          <p:nvPr/>
        </p:nvSpPr>
        <p:spPr>
          <a:xfrm>
            <a:off x="10158984" y="3566160"/>
            <a:ext cx="1499616" cy="137160"/>
          </a:xfrm>
          <a:prstGeom prst="line">
            <a:avLst/>
          </a:prstGeom>
          <a:noFill/>
          <a:ln w="25400">
            <a:solidFill>
              <a:srgbClr val="D9B36C"/>
            </a:solidFill>
            <a:prstDash val="solid"/>
          </a:ln>
        </p:spPr>
      </p:sp>
      <p:sp>
        <p:nvSpPr>
          <p:cNvPr id="11" name="Shape 9"/>
          <p:cNvSpPr/>
          <p:nvPr/>
        </p:nvSpPr>
        <p:spPr>
          <a:xfrm>
            <a:off x="10158984" y="3566160"/>
            <a:ext cx="1499616" cy="685800"/>
          </a:xfrm>
          <a:prstGeom prst="line">
            <a:avLst/>
          </a:prstGeom>
          <a:noFill/>
          <a:ln w="25400">
            <a:solidFill>
              <a:srgbClr val="E8EEF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WHAT THIS BRIEFING COVERS</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Four questions, answered in under ten minutes</a:t>
            </a:r>
            <a:endParaRPr lang="en-US" sz="3100" dirty="0"/>
          </a:p>
        </p:txBody>
      </p:sp>
      <p:sp>
        <p:nvSpPr>
          <p:cNvPr id="5" name="Text 3"/>
          <p:cNvSpPr txBox="1"/>
          <p:nvPr/>
        </p:nvSpPr>
        <p:spPr>
          <a:xfrm>
            <a:off x="548640" y="1298448"/>
            <a:ext cx="10607040" cy="310896"/>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What PRISM is, how it works, why it is designed to find more, and why it can do that at lower cost with cleaner results.</a:t>
            </a:r>
            <a:endParaRPr lang="en-US" sz="1400" dirty="0"/>
          </a:p>
        </p:txBody>
      </p:sp>
      <p:sp>
        <p:nvSpPr>
          <p:cNvPr id="6" name="Shape 4"/>
          <p:cNvSpPr/>
          <p:nvPr/>
        </p:nvSpPr>
        <p:spPr>
          <a:xfrm>
            <a:off x="457200" y="210312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7" name="Text 5"/>
          <p:cNvSpPr txBox="1"/>
          <p:nvPr/>
        </p:nvSpPr>
        <p:spPr>
          <a:xfrm>
            <a:off x="731520" y="224942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01</a:t>
            </a:r>
            <a:endParaRPr lang="en-US" sz="1050" dirty="0"/>
          </a:p>
        </p:txBody>
      </p:sp>
      <p:sp>
        <p:nvSpPr>
          <p:cNvPr id="8" name="Text 6"/>
          <p:cNvSpPr txBox="1"/>
          <p:nvPr/>
        </p:nvSpPr>
        <p:spPr>
          <a:xfrm>
            <a:off x="731520" y="250545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The problem</a:t>
            </a:r>
            <a:endParaRPr lang="en-US" sz="1450" dirty="0"/>
          </a:p>
        </p:txBody>
      </p:sp>
      <p:sp>
        <p:nvSpPr>
          <p:cNvPr id="9" name="Text 7"/>
          <p:cNvSpPr txBox="1"/>
          <p:nvPr/>
        </p:nvSpPr>
        <p:spPr>
          <a:xfrm>
            <a:off x="731520" y="282549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Where scale and depth trade off against each other today</a:t>
            </a:r>
            <a:endParaRPr lang="en-US" sz="1050" dirty="0"/>
          </a:p>
        </p:txBody>
      </p:sp>
      <p:sp>
        <p:nvSpPr>
          <p:cNvPr id="10" name="Shape 8"/>
          <p:cNvSpPr/>
          <p:nvPr/>
        </p:nvSpPr>
        <p:spPr>
          <a:xfrm>
            <a:off x="4297680" y="210312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1" name="Text 9"/>
          <p:cNvSpPr txBox="1"/>
          <p:nvPr/>
        </p:nvSpPr>
        <p:spPr>
          <a:xfrm>
            <a:off x="4572000" y="224942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02</a:t>
            </a:r>
            <a:endParaRPr lang="en-US" sz="1050" dirty="0"/>
          </a:p>
        </p:txBody>
      </p:sp>
      <p:sp>
        <p:nvSpPr>
          <p:cNvPr id="12" name="Text 10"/>
          <p:cNvSpPr txBox="1"/>
          <p:nvPr/>
        </p:nvSpPr>
        <p:spPr>
          <a:xfrm>
            <a:off x="4572000" y="250545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High level architecture</a:t>
            </a:r>
            <a:endParaRPr lang="en-US" sz="1450" dirty="0"/>
          </a:p>
        </p:txBody>
      </p:sp>
      <p:sp>
        <p:nvSpPr>
          <p:cNvPr id="13" name="Text 11"/>
          <p:cNvSpPr txBox="1"/>
          <p:nvPr/>
        </p:nvSpPr>
        <p:spPr>
          <a:xfrm>
            <a:off x="4572000" y="282549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The single workflow that runs from repository to delivered evidence</a:t>
            </a:r>
            <a:endParaRPr lang="en-US" sz="1050" dirty="0"/>
          </a:p>
        </p:txBody>
      </p:sp>
      <p:sp>
        <p:nvSpPr>
          <p:cNvPr id="14" name="Shape 12"/>
          <p:cNvSpPr/>
          <p:nvPr/>
        </p:nvSpPr>
        <p:spPr>
          <a:xfrm>
            <a:off x="8138160" y="210312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5" name="Text 13"/>
          <p:cNvSpPr txBox="1"/>
          <p:nvPr/>
        </p:nvSpPr>
        <p:spPr>
          <a:xfrm>
            <a:off x="8412480" y="224942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03</a:t>
            </a:r>
            <a:endParaRPr lang="en-US" sz="1050" dirty="0"/>
          </a:p>
        </p:txBody>
      </p:sp>
      <p:sp>
        <p:nvSpPr>
          <p:cNvPr id="16" name="Text 14"/>
          <p:cNvSpPr txBox="1"/>
          <p:nvPr/>
        </p:nvSpPr>
        <p:spPr>
          <a:xfrm>
            <a:off x="8412480" y="250545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Why PRISM finds more</a:t>
            </a:r>
            <a:endParaRPr lang="en-US" sz="1450" dirty="0"/>
          </a:p>
        </p:txBody>
      </p:sp>
      <p:sp>
        <p:nvSpPr>
          <p:cNvPr id="17" name="Text 15"/>
          <p:cNvSpPr txBox="1"/>
          <p:nvPr/>
        </p:nvSpPr>
        <p:spPr>
          <a:xfrm>
            <a:off x="8412480" y="282549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Complementary discovery, and the early internal proof point behind it</a:t>
            </a:r>
            <a:endParaRPr lang="en-US" sz="1050" dirty="0"/>
          </a:p>
        </p:txBody>
      </p:sp>
      <p:sp>
        <p:nvSpPr>
          <p:cNvPr id="18" name="Shape 16"/>
          <p:cNvSpPr/>
          <p:nvPr/>
        </p:nvSpPr>
        <p:spPr>
          <a:xfrm>
            <a:off x="457200" y="352044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9" name="Text 17"/>
          <p:cNvSpPr txBox="1"/>
          <p:nvPr/>
        </p:nvSpPr>
        <p:spPr>
          <a:xfrm>
            <a:off x="731520" y="366674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04</a:t>
            </a:r>
            <a:endParaRPr lang="en-US" sz="1050" dirty="0"/>
          </a:p>
        </p:txBody>
      </p:sp>
      <p:sp>
        <p:nvSpPr>
          <p:cNvPr id="20" name="Text 18"/>
          <p:cNvSpPr txBox="1"/>
          <p:nvPr/>
        </p:nvSpPr>
        <p:spPr>
          <a:xfrm>
            <a:off x="731520" y="392277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Cleaner results</a:t>
            </a:r>
            <a:endParaRPr lang="en-US" sz="1450" dirty="0"/>
          </a:p>
        </p:txBody>
      </p:sp>
      <p:sp>
        <p:nvSpPr>
          <p:cNvPr id="21" name="Text 19"/>
          <p:cNvSpPr txBox="1"/>
          <p:nvPr/>
        </p:nvSpPr>
        <p:spPr>
          <a:xfrm>
            <a:off x="731520" y="424281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The evidence layer that sits between discovery and delivery</a:t>
            </a:r>
            <a:endParaRPr lang="en-US" sz="1050" dirty="0"/>
          </a:p>
        </p:txBody>
      </p:sp>
      <p:sp>
        <p:nvSpPr>
          <p:cNvPr id="22" name="Shape 20"/>
          <p:cNvSpPr/>
          <p:nvPr/>
        </p:nvSpPr>
        <p:spPr>
          <a:xfrm>
            <a:off x="4297680" y="352044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23" name="Text 21"/>
          <p:cNvSpPr txBox="1"/>
          <p:nvPr/>
        </p:nvSpPr>
        <p:spPr>
          <a:xfrm>
            <a:off x="4572000" y="366674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05</a:t>
            </a:r>
            <a:endParaRPr lang="en-US" sz="1050" dirty="0"/>
          </a:p>
        </p:txBody>
      </p:sp>
      <p:sp>
        <p:nvSpPr>
          <p:cNvPr id="24" name="Text 22"/>
          <p:cNvSpPr txBox="1"/>
          <p:nvPr/>
        </p:nvSpPr>
        <p:spPr>
          <a:xfrm>
            <a:off x="4572000" y="392277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Why it can cost less</a:t>
            </a:r>
            <a:endParaRPr lang="en-US" sz="1450" dirty="0"/>
          </a:p>
        </p:txBody>
      </p:sp>
      <p:sp>
        <p:nvSpPr>
          <p:cNvPr id="25" name="Text 23"/>
          <p:cNvSpPr txBox="1"/>
          <p:nvPr/>
        </p:nvSpPr>
        <p:spPr>
          <a:xfrm>
            <a:off x="4572000" y="424281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Progressive investment, and the cost measure that actually matters</a:t>
            </a:r>
            <a:endParaRPr lang="en-US" sz="1050" dirty="0"/>
          </a:p>
        </p:txBody>
      </p:sp>
      <p:sp>
        <p:nvSpPr>
          <p:cNvPr id="26" name="Shape 24"/>
          <p:cNvSpPr/>
          <p:nvPr/>
        </p:nvSpPr>
        <p:spPr>
          <a:xfrm>
            <a:off x="8138160" y="352044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27" name="Text 25"/>
          <p:cNvSpPr txBox="1"/>
          <p:nvPr/>
        </p:nvSpPr>
        <p:spPr>
          <a:xfrm>
            <a:off x="8412480" y="366674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06</a:t>
            </a:r>
            <a:endParaRPr lang="en-US" sz="1050" dirty="0"/>
          </a:p>
        </p:txBody>
      </p:sp>
      <p:sp>
        <p:nvSpPr>
          <p:cNvPr id="28" name="Text 26"/>
          <p:cNvSpPr txBox="1"/>
          <p:nvPr/>
        </p:nvSpPr>
        <p:spPr>
          <a:xfrm>
            <a:off x="8412480" y="392277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Model agnostic by design</a:t>
            </a:r>
            <a:endParaRPr lang="en-US" sz="1450" dirty="0"/>
          </a:p>
        </p:txBody>
      </p:sp>
      <p:sp>
        <p:nvSpPr>
          <p:cNvPr id="29" name="Text 27"/>
          <p:cNvSpPr txBox="1"/>
          <p:nvPr/>
        </p:nvSpPr>
        <p:spPr>
          <a:xfrm>
            <a:off x="8412480" y="424281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Why the security workflow is the asset, not the model underneath it</a:t>
            </a:r>
            <a:endParaRPr lang="en-US" sz="1050" dirty="0"/>
          </a:p>
        </p:txBody>
      </p:sp>
      <p:sp>
        <p:nvSpPr>
          <p:cNvPr id="30" name="Shape 28"/>
          <p:cNvSpPr/>
          <p:nvPr/>
        </p:nvSpPr>
        <p:spPr>
          <a:xfrm>
            <a:off x="457200" y="493776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31" name="Text 29"/>
          <p:cNvSpPr txBox="1"/>
          <p:nvPr/>
        </p:nvSpPr>
        <p:spPr>
          <a:xfrm>
            <a:off x="731520" y="508406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07</a:t>
            </a:r>
            <a:endParaRPr lang="en-US" sz="1050" dirty="0"/>
          </a:p>
        </p:txBody>
      </p:sp>
      <p:sp>
        <p:nvSpPr>
          <p:cNvPr id="32" name="Text 30"/>
          <p:cNvSpPr txBox="1"/>
          <p:nvPr/>
        </p:nvSpPr>
        <p:spPr>
          <a:xfrm>
            <a:off x="731520" y="534009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How PRISM differs</a:t>
            </a:r>
            <a:endParaRPr lang="en-US" sz="1450" dirty="0"/>
          </a:p>
        </p:txBody>
      </p:sp>
      <p:sp>
        <p:nvSpPr>
          <p:cNvPr id="33" name="Text 31"/>
          <p:cNvSpPr txBox="1"/>
          <p:nvPr/>
        </p:nvSpPr>
        <p:spPr>
          <a:xfrm>
            <a:off x="731520" y="566013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A capability comparison against the common approaches on the market</a:t>
            </a:r>
            <a:endParaRPr lang="en-US" sz="1050" dirty="0"/>
          </a:p>
        </p:txBody>
      </p:sp>
      <p:sp>
        <p:nvSpPr>
          <p:cNvPr id="34" name="Shape 32"/>
          <p:cNvSpPr/>
          <p:nvPr/>
        </p:nvSpPr>
        <p:spPr>
          <a:xfrm>
            <a:off x="4297680" y="493776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35" name="Text 33"/>
          <p:cNvSpPr txBox="1"/>
          <p:nvPr/>
        </p:nvSpPr>
        <p:spPr>
          <a:xfrm>
            <a:off x="4572000" y="508406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08</a:t>
            </a:r>
            <a:endParaRPr lang="en-US" sz="1050" dirty="0"/>
          </a:p>
        </p:txBody>
      </p:sp>
      <p:sp>
        <p:nvSpPr>
          <p:cNvPr id="36" name="Text 34"/>
          <p:cNvSpPr txBox="1"/>
          <p:nvPr/>
        </p:nvSpPr>
        <p:spPr>
          <a:xfrm>
            <a:off x="4572000" y="534009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MVP success criteria</a:t>
            </a:r>
            <a:endParaRPr lang="en-US" sz="1450" dirty="0"/>
          </a:p>
        </p:txBody>
      </p:sp>
      <p:sp>
        <p:nvSpPr>
          <p:cNvPr id="37" name="Text 35"/>
          <p:cNvSpPr txBox="1"/>
          <p:nvPr/>
        </p:nvSpPr>
        <p:spPr>
          <a:xfrm>
            <a:off x="4572000" y="566013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The five measures that decide whether this works, and what is not yet claimed</a:t>
            </a:r>
            <a:endParaRPr lang="en-US" sz="1050" dirty="0"/>
          </a:p>
        </p:txBody>
      </p:sp>
      <p:sp>
        <p:nvSpPr>
          <p:cNvPr id="38" name="Shape 36"/>
          <p:cNvSpPr/>
          <p:nvPr/>
        </p:nvSpPr>
        <p:spPr>
          <a:xfrm>
            <a:off x="8138160" y="493776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39" name="Text 37"/>
          <p:cNvSpPr txBox="1"/>
          <p:nvPr/>
        </p:nvSpPr>
        <p:spPr>
          <a:xfrm>
            <a:off x="8412480" y="508406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09</a:t>
            </a:r>
            <a:endParaRPr lang="en-US" sz="1050" dirty="0"/>
          </a:p>
        </p:txBody>
      </p:sp>
      <p:sp>
        <p:nvSpPr>
          <p:cNvPr id="40" name="Text 38"/>
          <p:cNvSpPr txBox="1"/>
          <p:nvPr/>
        </p:nvSpPr>
        <p:spPr>
          <a:xfrm>
            <a:off x="8412480" y="534009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Where this goes</a:t>
            </a:r>
            <a:endParaRPr lang="en-US" sz="1450" dirty="0"/>
          </a:p>
        </p:txBody>
      </p:sp>
      <p:sp>
        <p:nvSpPr>
          <p:cNvPr id="41" name="Text 39"/>
          <p:cNvSpPr txBox="1"/>
          <p:nvPr/>
        </p:nvSpPr>
        <p:spPr>
          <a:xfrm>
            <a:off x="8412480" y="566013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Today, next and future for evidence first security research</a:t>
            </a:r>
            <a:endParaRPr lang="en-US" sz="1050" dirty="0"/>
          </a:p>
        </p:txBody>
      </p:sp>
      <p:sp>
        <p:nvSpPr>
          <p:cNvPr id="42" name="Text 40"/>
          <p:cNvSpPr txBox="1"/>
          <p:nvPr/>
        </p:nvSpPr>
        <p:spPr>
          <a:xfrm>
            <a:off x="457200" y="6355080"/>
            <a:ext cx="11247120" cy="365760"/>
          </a:xfrm>
          <a:prstGeom prst="rect">
            <a:avLst/>
          </a:prstGeom>
          <a:noFill/>
          <a:ln/>
        </p:spPr>
        <p:txBody>
          <a:bodyPr wrap="square" lIns="0" tIns="0" rIns="0" bIns="0" rtlCol="0" anchor="ctr"/>
          <a:lstStyle/>
          <a:p>
            <a:pPr indent="0" marL="0">
              <a:buNone/>
            </a:pPr>
            <a:r>
              <a:rPr lang="en-US" sz="1150" i="1" dirty="0">
                <a:solidFill>
                  <a:srgbClr val="53565A"/>
                </a:solidFill>
                <a:latin typeface="Calibri" pitchFamily="34" charset="0"/>
                <a:ea typeface="Calibri" pitchFamily="34" charset="-122"/>
                <a:cs typeface="Calibri" pitchFamily="34" charset="-120"/>
              </a:rPr>
              <a:t>The takeaway to leave with: why this architecture could find more, send engineering teams fewer weak findings, cost less per validated vulnerability, and stay useful as models improve.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01  THE PROBLEM</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Today's tools force a trade-off</a:t>
            </a:r>
            <a:endParaRPr lang="en-US" sz="3100" dirty="0"/>
          </a:p>
        </p:txBody>
      </p:sp>
      <p:sp>
        <p:nvSpPr>
          <p:cNvPr id="5" name="Text 3"/>
          <p:cNvSpPr txBox="1"/>
          <p:nvPr/>
        </p:nvSpPr>
        <p:spPr>
          <a:xfrm>
            <a:off x="548640" y="1298448"/>
            <a:ext cx="10607040" cy="310896"/>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Scale and depth currently come from two different kinds of tool, and neither one settles whether a finding is real.</a:t>
            </a:r>
            <a:endParaRPr lang="en-US" sz="1400" dirty="0"/>
          </a:p>
        </p:txBody>
      </p:sp>
      <p:sp>
        <p:nvSpPr>
          <p:cNvPr id="6" name="Shape 4"/>
          <p:cNvSpPr/>
          <p:nvPr/>
        </p:nvSpPr>
        <p:spPr>
          <a:xfrm>
            <a:off x="548640" y="1783080"/>
            <a:ext cx="5376672" cy="3246120"/>
          </a:xfrm>
          <a:prstGeom prst="roundRect">
            <a:avLst>
              <a:gd name="adj" fmla="val 2254"/>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7" name="Text 5"/>
          <p:cNvSpPr txBox="1"/>
          <p:nvPr/>
        </p:nvSpPr>
        <p:spPr>
          <a:xfrm>
            <a:off x="932688" y="2029968"/>
            <a:ext cx="4206240" cy="256032"/>
          </a:xfrm>
          <a:prstGeom prst="rect">
            <a:avLst/>
          </a:prstGeom>
          <a:noFill/>
          <a:ln/>
        </p:spPr>
        <p:txBody>
          <a:bodyPr wrap="square" lIns="0" tIns="0" rIns="0" bIns="0" rtlCol="0" anchor="ctr"/>
          <a:lstStyle/>
          <a:p>
            <a:pPr indent="0" marL="0">
              <a:buNone/>
            </a:pPr>
            <a:r>
              <a:rPr lang="en-US" sz="1050" b="1" spc="140" kern="0" dirty="0">
                <a:solidFill>
                  <a:srgbClr val="006FCF"/>
                </a:solidFill>
                <a:latin typeface="Calibri" pitchFamily="34" charset="0"/>
                <a:ea typeface="Calibri" pitchFamily="34" charset="-122"/>
                <a:cs typeface="Calibri" pitchFamily="34" charset="-120"/>
              </a:rPr>
              <a:t>HIGH SCALE</a:t>
            </a:r>
            <a:endParaRPr lang="en-US" sz="1050" dirty="0"/>
          </a:p>
        </p:txBody>
      </p:sp>
      <p:sp>
        <p:nvSpPr>
          <p:cNvPr id="8" name="Text 6"/>
          <p:cNvSpPr txBox="1"/>
          <p:nvPr/>
        </p:nvSpPr>
        <p:spPr>
          <a:xfrm>
            <a:off x="932688" y="2286000"/>
            <a:ext cx="4572000" cy="384048"/>
          </a:xfrm>
          <a:prstGeom prst="rect">
            <a:avLst/>
          </a:prstGeom>
          <a:noFill/>
          <a:ln/>
        </p:spPr>
        <p:txBody>
          <a:bodyPr wrap="square" lIns="0" tIns="0" rIns="0" bIns="0" rtlCol="0" anchor="ctr"/>
          <a:lstStyle/>
          <a:p>
            <a:pPr indent="0" marL="0">
              <a:buNone/>
            </a:pPr>
            <a:r>
              <a:rPr lang="en-US" sz="2100" b="1" dirty="0">
                <a:solidFill>
                  <a:srgbClr val="1B2A44"/>
                </a:solidFill>
                <a:latin typeface="Cambria" pitchFamily="34" charset="0"/>
                <a:ea typeface="Cambria" pitchFamily="34" charset="-122"/>
                <a:cs typeface="Cambria" pitchFamily="34" charset="-120"/>
              </a:rPr>
              <a:t>Traditional scanners</a:t>
            </a:r>
            <a:endParaRPr lang="en-US" sz="2100" dirty="0"/>
          </a:p>
        </p:txBody>
      </p:sp>
      <p:sp>
        <p:nvSpPr>
          <p:cNvPr id="9" name="Shape 7"/>
          <p:cNvSpPr/>
          <p:nvPr/>
        </p:nvSpPr>
        <p:spPr>
          <a:xfrm rot="5400000">
            <a:off x="932688" y="2907792"/>
            <a:ext cx="118872" cy="137160"/>
          </a:xfrm>
          <a:prstGeom prst="triangle">
            <a:avLst/>
          </a:prstGeom>
          <a:solidFill>
            <a:srgbClr val="2E7CC8"/>
          </a:solidFill>
          <a:ln/>
        </p:spPr>
      </p:sp>
      <p:sp>
        <p:nvSpPr>
          <p:cNvPr id="10" name="Text 8"/>
          <p:cNvSpPr txBox="1"/>
          <p:nvPr/>
        </p:nvSpPr>
        <p:spPr>
          <a:xfrm>
            <a:off x="1188720" y="2825496"/>
            <a:ext cx="4343400" cy="566928"/>
          </a:xfrm>
          <a:prstGeom prst="rect">
            <a:avLst/>
          </a:prstGeom>
          <a:noFill/>
          <a:ln/>
        </p:spPr>
        <p:txBody>
          <a:bodyPr wrap="square" lIns="0" tIns="0" rIns="0" bIns="0" rtlCol="0" anchor="t"/>
          <a:lstStyle/>
          <a:p>
            <a:pPr indent="0" marL="0">
              <a:lnSpc>
                <a:spcPct val="112000"/>
              </a:lnSpc>
              <a:buNone/>
            </a:pPr>
            <a:r>
              <a:rPr lang="en-US" sz="1200" b="1" dirty="0">
                <a:solidFill>
                  <a:srgbClr val="1B2A44"/>
                </a:solidFill>
                <a:latin typeface="Calibri" pitchFamily="34" charset="0"/>
                <a:ea typeface="Calibri" pitchFamily="34" charset="-122"/>
                <a:cs typeface="Calibri" pitchFamily="34" charset="-120"/>
              </a:rPr>
              <a:t>Fixed detection methodology</a:t>
            </a:r>
            <a:endParaRPr lang="en-US" sz="1200" dirty="0"/>
          </a:p>
          <a:p>
            <a:pPr indent="0" marL="0">
              <a:lnSpc>
                <a:spcPct val="112000"/>
              </a:lnSpc>
              <a:buNone/>
            </a:pPr>
            <a:r>
              <a:rPr lang="en-US" sz="1200" dirty="0">
                <a:solidFill>
                  <a:srgbClr val="53565A"/>
                </a:solidFill>
                <a:latin typeface="Calibri" pitchFamily="34" charset="0"/>
                <a:ea typeface="Calibri" pitchFamily="34" charset="-122"/>
                <a:cs typeface="Calibri" pitchFamily="34" charset="-120"/>
              </a:rPr>
              <a:t>One strategy, applied the same way to every repository</a:t>
            </a:r>
            <a:endParaRPr lang="en-US" sz="1200" dirty="0"/>
          </a:p>
        </p:txBody>
      </p:sp>
      <p:sp>
        <p:nvSpPr>
          <p:cNvPr id="11" name="Shape 9"/>
          <p:cNvSpPr/>
          <p:nvPr/>
        </p:nvSpPr>
        <p:spPr>
          <a:xfrm rot="5400000">
            <a:off x="932688" y="3621024"/>
            <a:ext cx="118872" cy="137160"/>
          </a:xfrm>
          <a:prstGeom prst="triangle">
            <a:avLst/>
          </a:prstGeom>
          <a:solidFill>
            <a:srgbClr val="2E7CC8"/>
          </a:solidFill>
          <a:ln/>
        </p:spPr>
      </p:sp>
      <p:sp>
        <p:nvSpPr>
          <p:cNvPr id="12" name="Text 10"/>
          <p:cNvSpPr txBox="1"/>
          <p:nvPr/>
        </p:nvSpPr>
        <p:spPr>
          <a:xfrm>
            <a:off x="1188720" y="3538728"/>
            <a:ext cx="4343400" cy="566928"/>
          </a:xfrm>
          <a:prstGeom prst="rect">
            <a:avLst/>
          </a:prstGeom>
          <a:noFill/>
          <a:ln/>
        </p:spPr>
        <p:txBody>
          <a:bodyPr wrap="square" lIns="0" tIns="0" rIns="0" bIns="0" rtlCol="0" anchor="t"/>
          <a:lstStyle/>
          <a:p>
            <a:pPr indent="0" marL="0">
              <a:lnSpc>
                <a:spcPct val="112000"/>
              </a:lnSpc>
              <a:buNone/>
            </a:pPr>
            <a:r>
              <a:rPr lang="en-US" sz="1200" b="1" dirty="0">
                <a:solidFill>
                  <a:srgbClr val="1B2A44"/>
                </a:solidFill>
                <a:latin typeface="Calibri" pitchFamily="34" charset="0"/>
                <a:ea typeface="Calibri" pitchFamily="34" charset="-122"/>
                <a:cs typeface="Calibri" pitchFamily="34" charset="-120"/>
              </a:rPr>
              <a:t>Limited semantic depth</a:t>
            </a:r>
            <a:endParaRPr lang="en-US" sz="1200" dirty="0"/>
          </a:p>
          <a:p>
            <a:pPr indent="0" marL="0">
              <a:lnSpc>
                <a:spcPct val="112000"/>
              </a:lnSpc>
              <a:buNone/>
            </a:pPr>
            <a:r>
              <a:rPr lang="en-US" sz="1200" dirty="0">
                <a:solidFill>
                  <a:srgbClr val="53565A"/>
                </a:solidFill>
                <a:latin typeface="Calibri" pitchFamily="34" charset="0"/>
                <a:ea typeface="Calibri" pitchFamily="34" charset="-122"/>
                <a:cs typeface="Calibri" pitchFamily="34" charset="-120"/>
              </a:rPr>
              <a:t>Patterns rather than an understanding of the application</a:t>
            </a:r>
            <a:endParaRPr lang="en-US" sz="1200" dirty="0"/>
          </a:p>
        </p:txBody>
      </p:sp>
      <p:sp>
        <p:nvSpPr>
          <p:cNvPr id="13" name="Shape 11"/>
          <p:cNvSpPr/>
          <p:nvPr/>
        </p:nvSpPr>
        <p:spPr>
          <a:xfrm rot="5400000">
            <a:off x="932688" y="4334256"/>
            <a:ext cx="118872" cy="137160"/>
          </a:xfrm>
          <a:prstGeom prst="triangle">
            <a:avLst/>
          </a:prstGeom>
          <a:solidFill>
            <a:srgbClr val="2E7CC8"/>
          </a:solidFill>
          <a:ln/>
        </p:spPr>
      </p:sp>
      <p:sp>
        <p:nvSpPr>
          <p:cNvPr id="14" name="Text 12"/>
          <p:cNvSpPr txBox="1"/>
          <p:nvPr/>
        </p:nvSpPr>
        <p:spPr>
          <a:xfrm>
            <a:off x="1188720" y="4251960"/>
            <a:ext cx="4343400" cy="566928"/>
          </a:xfrm>
          <a:prstGeom prst="rect">
            <a:avLst/>
          </a:prstGeom>
          <a:noFill/>
          <a:ln/>
        </p:spPr>
        <p:txBody>
          <a:bodyPr wrap="square" lIns="0" tIns="0" rIns="0" bIns="0" rtlCol="0" anchor="t"/>
          <a:lstStyle/>
          <a:p>
            <a:pPr indent="0" marL="0">
              <a:lnSpc>
                <a:spcPct val="112000"/>
              </a:lnSpc>
              <a:buNone/>
            </a:pPr>
            <a:r>
              <a:rPr lang="en-US" sz="1200" b="1" dirty="0">
                <a:solidFill>
                  <a:srgbClr val="1B2A44"/>
                </a:solidFill>
                <a:latin typeface="Calibri" pitchFamily="34" charset="0"/>
                <a:ea typeface="Calibri" pitchFamily="34" charset="-122"/>
                <a:cs typeface="Calibri" pitchFamily="34" charset="-120"/>
              </a:rPr>
              <a:t>Volume reaches engineering</a:t>
            </a:r>
            <a:endParaRPr lang="en-US" sz="1200" dirty="0"/>
          </a:p>
          <a:p>
            <a:pPr indent="0" marL="0">
              <a:lnSpc>
                <a:spcPct val="112000"/>
              </a:lnSpc>
              <a:buNone/>
            </a:pPr>
            <a:r>
              <a:rPr lang="en-US" sz="1200" dirty="0">
                <a:solidFill>
                  <a:srgbClr val="53565A"/>
                </a:solidFill>
                <a:latin typeface="Calibri" pitchFamily="34" charset="0"/>
                <a:ea typeface="Calibri" pitchFamily="34" charset="-122"/>
                <a:cs typeface="Calibri" pitchFamily="34" charset="-120"/>
              </a:rPr>
              <a:t>Duplicates and unreachable findings consume review time</a:t>
            </a:r>
            <a:endParaRPr lang="en-US" sz="1200" dirty="0"/>
          </a:p>
        </p:txBody>
      </p:sp>
      <p:sp>
        <p:nvSpPr>
          <p:cNvPr id="15" name="Shape 13"/>
          <p:cNvSpPr/>
          <p:nvPr/>
        </p:nvSpPr>
        <p:spPr>
          <a:xfrm>
            <a:off x="6263640" y="1783080"/>
            <a:ext cx="5376672" cy="3246120"/>
          </a:xfrm>
          <a:prstGeom prst="roundRect">
            <a:avLst>
              <a:gd name="adj" fmla="val 2254"/>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6" name="Text 14"/>
          <p:cNvSpPr txBox="1"/>
          <p:nvPr/>
        </p:nvSpPr>
        <p:spPr>
          <a:xfrm>
            <a:off x="6647688" y="2029968"/>
            <a:ext cx="4206240" cy="256032"/>
          </a:xfrm>
          <a:prstGeom prst="rect">
            <a:avLst/>
          </a:prstGeom>
          <a:noFill/>
          <a:ln/>
        </p:spPr>
        <p:txBody>
          <a:bodyPr wrap="square" lIns="0" tIns="0" rIns="0" bIns="0" rtlCol="0" anchor="ctr"/>
          <a:lstStyle/>
          <a:p>
            <a:pPr indent="0" marL="0">
              <a:buNone/>
            </a:pPr>
            <a:r>
              <a:rPr lang="en-US" sz="1050" b="1" spc="140" kern="0" dirty="0">
                <a:solidFill>
                  <a:srgbClr val="006FCF"/>
                </a:solidFill>
                <a:latin typeface="Calibri" pitchFamily="34" charset="0"/>
                <a:ea typeface="Calibri" pitchFamily="34" charset="-122"/>
                <a:cs typeface="Calibri" pitchFamily="34" charset="-120"/>
              </a:rPr>
              <a:t>DEEP REASONING</a:t>
            </a:r>
            <a:endParaRPr lang="en-US" sz="1050" dirty="0"/>
          </a:p>
        </p:txBody>
      </p:sp>
      <p:sp>
        <p:nvSpPr>
          <p:cNvPr id="17" name="Text 15"/>
          <p:cNvSpPr txBox="1"/>
          <p:nvPr/>
        </p:nvSpPr>
        <p:spPr>
          <a:xfrm>
            <a:off x="6647688" y="2286000"/>
            <a:ext cx="4572000" cy="384048"/>
          </a:xfrm>
          <a:prstGeom prst="rect">
            <a:avLst/>
          </a:prstGeom>
          <a:noFill/>
          <a:ln/>
        </p:spPr>
        <p:txBody>
          <a:bodyPr wrap="square" lIns="0" tIns="0" rIns="0" bIns="0" rtlCol="0" anchor="ctr"/>
          <a:lstStyle/>
          <a:p>
            <a:pPr indent="0" marL="0">
              <a:buNone/>
            </a:pPr>
            <a:r>
              <a:rPr lang="en-US" sz="2100" b="1" dirty="0">
                <a:solidFill>
                  <a:srgbClr val="1B2A44"/>
                </a:solidFill>
                <a:latin typeface="Cambria" pitchFamily="34" charset="0"/>
                <a:ea typeface="Cambria" pitchFamily="34" charset="-122"/>
                <a:cs typeface="Cambria" pitchFamily="34" charset="-120"/>
              </a:rPr>
              <a:t>Frontier AI agents</a:t>
            </a:r>
            <a:endParaRPr lang="en-US" sz="2100" dirty="0"/>
          </a:p>
        </p:txBody>
      </p:sp>
      <p:sp>
        <p:nvSpPr>
          <p:cNvPr id="18" name="Shape 16"/>
          <p:cNvSpPr/>
          <p:nvPr/>
        </p:nvSpPr>
        <p:spPr>
          <a:xfrm rot="5400000">
            <a:off x="6647688" y="2907792"/>
            <a:ext cx="118872" cy="137160"/>
          </a:xfrm>
          <a:prstGeom prst="triangle">
            <a:avLst/>
          </a:prstGeom>
          <a:solidFill>
            <a:srgbClr val="2E7CC8"/>
          </a:solidFill>
          <a:ln/>
        </p:spPr>
      </p:sp>
      <p:sp>
        <p:nvSpPr>
          <p:cNvPr id="19" name="Text 17"/>
          <p:cNvSpPr txBox="1"/>
          <p:nvPr/>
        </p:nvSpPr>
        <p:spPr>
          <a:xfrm>
            <a:off x="6903720" y="2825496"/>
            <a:ext cx="4343400" cy="566928"/>
          </a:xfrm>
          <a:prstGeom prst="rect">
            <a:avLst/>
          </a:prstGeom>
          <a:noFill/>
          <a:ln/>
        </p:spPr>
        <p:txBody>
          <a:bodyPr wrap="square" lIns="0" tIns="0" rIns="0" bIns="0" rtlCol="0" anchor="t"/>
          <a:lstStyle/>
          <a:p>
            <a:pPr indent="0" marL="0">
              <a:lnSpc>
                <a:spcPct val="112000"/>
              </a:lnSpc>
              <a:buNone/>
            </a:pPr>
            <a:r>
              <a:rPr lang="en-US" sz="1200" b="1" dirty="0">
                <a:solidFill>
                  <a:srgbClr val="1B2A44"/>
                </a:solidFill>
                <a:latin typeface="Calibri" pitchFamily="34" charset="0"/>
                <a:ea typeface="Calibri" pitchFamily="34" charset="-122"/>
                <a:cs typeface="Calibri" pitchFamily="34" charset="-120"/>
              </a:rPr>
              <a:t>One search trajectory</a:t>
            </a:r>
            <a:endParaRPr lang="en-US" sz="1200" dirty="0"/>
          </a:p>
          <a:p>
            <a:pPr indent="0" marL="0">
              <a:lnSpc>
                <a:spcPct val="112000"/>
              </a:lnSpc>
              <a:buNone/>
            </a:pPr>
            <a:r>
              <a:rPr lang="en-US" sz="1200" dirty="0">
                <a:solidFill>
                  <a:srgbClr val="53565A"/>
                </a:solidFill>
                <a:latin typeface="Calibri" pitchFamily="34" charset="0"/>
                <a:ea typeface="Calibri" pitchFamily="34" charset="-122"/>
                <a:cs typeface="Calibri" pitchFamily="34" charset="-120"/>
              </a:rPr>
              <a:t>A single line of reasoning shapes what gets examined</a:t>
            </a:r>
            <a:endParaRPr lang="en-US" sz="1200" dirty="0"/>
          </a:p>
        </p:txBody>
      </p:sp>
      <p:sp>
        <p:nvSpPr>
          <p:cNvPr id="20" name="Shape 18"/>
          <p:cNvSpPr/>
          <p:nvPr/>
        </p:nvSpPr>
        <p:spPr>
          <a:xfrm rot="5400000">
            <a:off x="6647688" y="3621024"/>
            <a:ext cx="118872" cy="137160"/>
          </a:xfrm>
          <a:prstGeom prst="triangle">
            <a:avLst/>
          </a:prstGeom>
          <a:solidFill>
            <a:srgbClr val="2E7CC8"/>
          </a:solidFill>
          <a:ln/>
        </p:spPr>
      </p:sp>
      <p:sp>
        <p:nvSpPr>
          <p:cNvPr id="21" name="Text 19"/>
          <p:cNvSpPr txBox="1"/>
          <p:nvPr/>
        </p:nvSpPr>
        <p:spPr>
          <a:xfrm>
            <a:off x="6903720" y="3538728"/>
            <a:ext cx="4343400" cy="566928"/>
          </a:xfrm>
          <a:prstGeom prst="rect">
            <a:avLst/>
          </a:prstGeom>
          <a:noFill/>
          <a:ln/>
        </p:spPr>
        <p:txBody>
          <a:bodyPr wrap="square" lIns="0" tIns="0" rIns="0" bIns="0" rtlCol="0" anchor="t"/>
          <a:lstStyle/>
          <a:p>
            <a:pPr indent="0" marL="0">
              <a:lnSpc>
                <a:spcPct val="112000"/>
              </a:lnSpc>
              <a:buNone/>
            </a:pPr>
            <a:r>
              <a:rPr lang="en-US" sz="1200" b="1" dirty="0">
                <a:solidFill>
                  <a:srgbClr val="1B2A44"/>
                </a:solidFill>
                <a:latin typeface="Calibri" pitchFamily="34" charset="0"/>
                <a:ea typeface="Calibri" pitchFamily="34" charset="-122"/>
                <a:cs typeface="Calibri" pitchFamily="34" charset="-120"/>
              </a:rPr>
              <a:t>Expensive at repository scale</a:t>
            </a:r>
            <a:endParaRPr lang="en-US" sz="1200" dirty="0"/>
          </a:p>
          <a:p>
            <a:pPr indent="0" marL="0">
              <a:lnSpc>
                <a:spcPct val="112000"/>
              </a:lnSpc>
              <a:buNone/>
            </a:pPr>
            <a:r>
              <a:rPr lang="en-US" sz="1200" dirty="0">
                <a:solidFill>
                  <a:srgbClr val="53565A"/>
                </a:solidFill>
                <a:latin typeface="Calibri" pitchFamily="34" charset="0"/>
                <a:ea typeface="Calibri" pitchFamily="34" charset="-122"/>
                <a:cs typeface="Calibri" pitchFamily="34" charset="-120"/>
              </a:rPr>
              <a:t>Maximum inference applied broadly, not selectively</a:t>
            </a:r>
            <a:endParaRPr lang="en-US" sz="1200" dirty="0"/>
          </a:p>
        </p:txBody>
      </p:sp>
      <p:sp>
        <p:nvSpPr>
          <p:cNvPr id="22" name="Shape 20"/>
          <p:cNvSpPr/>
          <p:nvPr/>
        </p:nvSpPr>
        <p:spPr>
          <a:xfrm rot="5400000">
            <a:off x="6647688" y="4334256"/>
            <a:ext cx="118872" cy="137160"/>
          </a:xfrm>
          <a:prstGeom prst="triangle">
            <a:avLst/>
          </a:prstGeom>
          <a:solidFill>
            <a:srgbClr val="2E7CC8"/>
          </a:solidFill>
          <a:ln/>
        </p:spPr>
      </p:sp>
      <p:sp>
        <p:nvSpPr>
          <p:cNvPr id="23" name="Text 21"/>
          <p:cNvSpPr txBox="1"/>
          <p:nvPr/>
        </p:nvSpPr>
        <p:spPr>
          <a:xfrm>
            <a:off x="6903720" y="4251960"/>
            <a:ext cx="4343400" cy="566928"/>
          </a:xfrm>
          <a:prstGeom prst="rect">
            <a:avLst/>
          </a:prstGeom>
          <a:noFill/>
          <a:ln/>
        </p:spPr>
        <p:txBody>
          <a:bodyPr wrap="square" lIns="0" tIns="0" rIns="0" bIns="0" rtlCol="0" anchor="t"/>
          <a:lstStyle/>
          <a:p>
            <a:pPr indent="0" marL="0">
              <a:lnSpc>
                <a:spcPct val="112000"/>
              </a:lnSpc>
              <a:buNone/>
            </a:pPr>
            <a:r>
              <a:rPr lang="en-US" sz="1200" b="1" dirty="0">
                <a:solidFill>
                  <a:srgbClr val="1B2A44"/>
                </a:solidFill>
                <a:latin typeface="Calibri" pitchFamily="34" charset="0"/>
                <a:ea typeface="Calibri" pitchFamily="34" charset="-122"/>
                <a:cs typeface="Calibri" pitchFamily="34" charset="-120"/>
              </a:rPr>
              <a:t>Often self judged</a:t>
            </a:r>
            <a:endParaRPr lang="en-US" sz="1200" dirty="0"/>
          </a:p>
          <a:p>
            <a:pPr indent="0" marL="0">
              <a:lnSpc>
                <a:spcPct val="112000"/>
              </a:lnSpc>
              <a:buNone/>
            </a:pPr>
            <a:r>
              <a:rPr lang="en-US" sz="1200" dirty="0">
                <a:solidFill>
                  <a:srgbClr val="53565A"/>
                </a:solidFill>
                <a:latin typeface="Calibri" pitchFamily="34" charset="0"/>
                <a:ea typeface="Calibri" pitchFamily="34" charset="-122"/>
                <a:cs typeface="Calibri" pitchFamily="34" charset="-120"/>
              </a:rPr>
              <a:t>The system that raises a finding also rules on it</a:t>
            </a:r>
            <a:endParaRPr lang="en-US" sz="1200" dirty="0"/>
          </a:p>
        </p:txBody>
      </p:sp>
      <p:sp>
        <p:nvSpPr>
          <p:cNvPr id="24" name="Shape 22"/>
          <p:cNvSpPr/>
          <p:nvPr/>
        </p:nvSpPr>
        <p:spPr>
          <a:xfrm>
            <a:off x="548640" y="5285232"/>
            <a:ext cx="11091672" cy="960120"/>
          </a:xfrm>
          <a:prstGeom prst="roundRect">
            <a:avLst>
              <a:gd name="adj" fmla="val 7619"/>
            </a:avLst>
          </a:prstGeom>
          <a:solidFill>
            <a:srgbClr val="00175A"/>
          </a:solidFill>
          <a:ln/>
          <a:effectLst>
            <a:outerShdw sx="100000" sy="100000" kx="0" ky="0" algn="bl" rotWithShape="0" blurRad="152400" dist="25400" dir="5400000">
              <a:srgbClr val="8FA0B8">
                <a:alpha val="20000"/>
              </a:srgbClr>
            </a:outerShdw>
          </a:effectLst>
        </p:spPr>
      </p:sp>
      <p:sp>
        <p:nvSpPr>
          <p:cNvPr id="25" name="Text 23"/>
          <p:cNvSpPr txBox="1"/>
          <p:nvPr/>
        </p:nvSpPr>
        <p:spPr>
          <a:xfrm>
            <a:off x="822960" y="5285232"/>
            <a:ext cx="10515600" cy="96012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PRISM combines breadth, depth and evidence discipline in one system.</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02  HIGH LEVEL ARCHITECTURE</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One workflow, from repository to evidence</a:t>
            </a:r>
            <a:endParaRPr lang="en-US" sz="3100" dirty="0"/>
          </a:p>
        </p:txBody>
      </p:sp>
      <p:sp>
        <p:nvSpPr>
          <p:cNvPr id="5" name="Text 3"/>
          <p:cNvSpPr txBox="1"/>
          <p:nvPr/>
        </p:nvSpPr>
        <p:spPr>
          <a:xfrm>
            <a:off x="548640" y="1298448"/>
            <a:ext cx="10607040" cy="310896"/>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One detection strategy becomes a portfolio of complementary strategies, followed by an evidence layer.</a:t>
            </a:r>
            <a:endParaRPr lang="en-US" sz="1400" dirty="0"/>
          </a:p>
        </p:txBody>
      </p:sp>
      <p:sp>
        <p:nvSpPr>
          <p:cNvPr id="6" name="Text 4"/>
          <p:cNvSpPr txBox="1"/>
          <p:nvPr/>
        </p:nvSpPr>
        <p:spPr>
          <a:xfrm>
            <a:off x="457200" y="2286000"/>
            <a:ext cx="5513832" cy="274320"/>
          </a:xfrm>
          <a:prstGeom prst="rect">
            <a:avLst/>
          </a:prstGeom>
          <a:noFill/>
          <a:ln/>
        </p:spPr>
        <p:txBody>
          <a:bodyPr wrap="square" lIns="0" tIns="0" rIns="0" bIns="0" rtlCol="0" anchor="ctr"/>
          <a:lstStyle/>
          <a:p>
            <a:pPr indent="0" marL="0">
              <a:buNone/>
            </a:pPr>
            <a:r>
              <a:rPr lang="en-US" sz="1000" b="1" spc="140" kern="0" dirty="0">
                <a:solidFill>
                  <a:srgbClr val="8C959E"/>
                </a:solidFill>
                <a:latin typeface="Calibri" pitchFamily="34" charset="0"/>
                <a:ea typeface="Calibri" pitchFamily="34" charset="-122"/>
                <a:cs typeface="Calibri" pitchFamily="34" charset="-120"/>
              </a:rPr>
              <a:t>UNDERSTAND AND DISCOVER</a:t>
            </a:r>
            <a:endParaRPr lang="en-US" sz="1000" dirty="0"/>
          </a:p>
        </p:txBody>
      </p:sp>
      <p:sp>
        <p:nvSpPr>
          <p:cNvPr id="7" name="Text 5"/>
          <p:cNvSpPr txBox="1"/>
          <p:nvPr/>
        </p:nvSpPr>
        <p:spPr>
          <a:xfrm>
            <a:off x="6190488" y="2286000"/>
            <a:ext cx="5513832" cy="274320"/>
          </a:xfrm>
          <a:prstGeom prst="rect">
            <a:avLst/>
          </a:prstGeom>
          <a:noFill/>
          <a:ln/>
        </p:spPr>
        <p:txBody>
          <a:bodyPr wrap="square" lIns="0" tIns="0" rIns="0" bIns="0" rtlCol="0" anchor="ctr"/>
          <a:lstStyle/>
          <a:p>
            <a:pPr indent="0" marL="0">
              <a:buNone/>
            </a:pPr>
            <a:r>
              <a:rPr lang="en-US" sz="1000" b="1" spc="140" kern="0" dirty="0">
                <a:solidFill>
                  <a:srgbClr val="8C959E"/>
                </a:solidFill>
                <a:latin typeface="Calibri" pitchFamily="34" charset="0"/>
                <a:ea typeface="Calibri" pitchFamily="34" charset="-122"/>
                <a:cs typeface="Calibri" pitchFamily="34" charset="-120"/>
              </a:rPr>
              <a:t>CONSOLIDATE, CHALLENGE AND PROVE</a:t>
            </a:r>
            <a:endParaRPr lang="en-US" sz="1000" dirty="0"/>
          </a:p>
        </p:txBody>
      </p:sp>
      <p:sp>
        <p:nvSpPr>
          <p:cNvPr id="8" name="Shape 6"/>
          <p:cNvSpPr/>
          <p:nvPr/>
        </p:nvSpPr>
        <p:spPr>
          <a:xfrm>
            <a:off x="457200" y="2697480"/>
            <a:ext cx="1691640" cy="1828800"/>
          </a:xfrm>
          <a:prstGeom prst="roundRect">
            <a:avLst>
              <a:gd name="adj" fmla="val 4324"/>
            </a:avLst>
          </a:prstGeom>
          <a:solidFill>
            <a:srgbClr val="00175A"/>
          </a:solidFill>
          <a:ln/>
          <a:effectLst>
            <a:outerShdw sx="100000" sy="100000" kx="0" ky="0" algn="bl" rotWithShape="0" blurRad="152400" dist="25400" dir="5400000">
              <a:srgbClr val="8FA0B8">
                <a:alpha val="20000"/>
              </a:srgbClr>
            </a:outerShdw>
          </a:effectLst>
        </p:spPr>
      </p:sp>
      <p:sp>
        <p:nvSpPr>
          <p:cNvPr id="9" name="Text 7"/>
          <p:cNvSpPr txBox="1"/>
          <p:nvPr/>
        </p:nvSpPr>
        <p:spPr>
          <a:xfrm>
            <a:off x="658368" y="2862072"/>
            <a:ext cx="548640" cy="237744"/>
          </a:xfrm>
          <a:prstGeom prst="rect">
            <a:avLst/>
          </a:prstGeom>
          <a:noFill/>
          <a:ln/>
        </p:spPr>
        <p:txBody>
          <a:bodyPr wrap="square" lIns="0" tIns="0" rIns="0" bIns="0" rtlCol="0" anchor="ctr"/>
          <a:lstStyle/>
          <a:p>
            <a:pPr indent="0" marL="0">
              <a:buNone/>
            </a:pPr>
            <a:r>
              <a:rPr lang="en-US" sz="1000" b="1" spc="100" kern="0" dirty="0">
                <a:solidFill>
                  <a:srgbClr val="9BCAEB"/>
                </a:solidFill>
                <a:latin typeface="Calibri" pitchFamily="34" charset="0"/>
                <a:ea typeface="Calibri" pitchFamily="34" charset="-122"/>
                <a:cs typeface="Calibri" pitchFamily="34" charset="-120"/>
              </a:rPr>
              <a:t>01</a:t>
            </a:r>
            <a:endParaRPr lang="en-US" sz="1000" dirty="0"/>
          </a:p>
        </p:txBody>
      </p:sp>
      <p:sp>
        <p:nvSpPr>
          <p:cNvPr id="10" name="Text 8"/>
          <p:cNvSpPr txBox="1"/>
          <p:nvPr/>
        </p:nvSpPr>
        <p:spPr>
          <a:xfrm>
            <a:off x="658368" y="3136392"/>
            <a:ext cx="1289304" cy="566928"/>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Cambria" pitchFamily="34" charset="0"/>
                <a:ea typeface="Cambria" pitchFamily="34" charset="-122"/>
                <a:cs typeface="Cambria" pitchFamily="34" charset="-120"/>
              </a:rPr>
              <a:t>Repository</a:t>
            </a:r>
            <a:endParaRPr lang="en-US" sz="1400" dirty="0"/>
          </a:p>
        </p:txBody>
      </p:sp>
      <p:sp>
        <p:nvSpPr>
          <p:cNvPr id="11" name="Text 9"/>
          <p:cNvSpPr txBox="1"/>
          <p:nvPr/>
        </p:nvSpPr>
        <p:spPr>
          <a:xfrm>
            <a:off x="658368" y="3703320"/>
            <a:ext cx="1289304" cy="731520"/>
          </a:xfrm>
          <a:prstGeom prst="rect">
            <a:avLst/>
          </a:prstGeom>
          <a:noFill/>
          <a:ln/>
        </p:spPr>
        <p:txBody>
          <a:bodyPr wrap="square" lIns="0" tIns="0" rIns="0" bIns="0" rtlCol="0" anchor="ctr"/>
          <a:lstStyle/>
          <a:p>
            <a:pPr indent="0" marL="0">
              <a:lnSpc>
                <a:spcPct val="110000"/>
              </a:lnSpc>
              <a:buNone/>
            </a:pPr>
            <a:r>
              <a:rPr lang="en-US" sz="1050" dirty="0">
                <a:solidFill>
                  <a:srgbClr val="C5D9EE"/>
                </a:solidFill>
                <a:latin typeface="Calibri" pitchFamily="34" charset="0"/>
                <a:ea typeface="Calibri" pitchFamily="34" charset="-122"/>
                <a:cs typeface="Calibri" pitchFamily="34" charset="-120"/>
              </a:rPr>
              <a:t>Application source, dependencies and configuration</a:t>
            </a:r>
            <a:endParaRPr lang="en-US" sz="1050" dirty="0"/>
          </a:p>
        </p:txBody>
      </p:sp>
      <p:sp>
        <p:nvSpPr>
          <p:cNvPr id="12" name="Shape 10"/>
          <p:cNvSpPr/>
          <p:nvPr/>
        </p:nvSpPr>
        <p:spPr>
          <a:xfrm rot="5400000">
            <a:off x="2176272" y="3511296"/>
            <a:ext cx="164592" cy="181051"/>
          </a:xfrm>
          <a:prstGeom prst="triangle">
            <a:avLst/>
          </a:prstGeom>
          <a:solidFill>
            <a:srgbClr val="2E7CC8"/>
          </a:solidFill>
          <a:ln/>
        </p:spPr>
      </p:sp>
      <p:sp>
        <p:nvSpPr>
          <p:cNvPr id="13" name="Shape 11"/>
          <p:cNvSpPr/>
          <p:nvPr/>
        </p:nvSpPr>
        <p:spPr>
          <a:xfrm>
            <a:off x="2368296" y="2697480"/>
            <a:ext cx="1691640" cy="1828800"/>
          </a:xfrm>
          <a:prstGeom prst="roundRect">
            <a:avLst>
              <a:gd name="adj" fmla="val 4324"/>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4" name="Text 12"/>
          <p:cNvSpPr txBox="1"/>
          <p:nvPr/>
        </p:nvSpPr>
        <p:spPr>
          <a:xfrm>
            <a:off x="2569464" y="2862072"/>
            <a:ext cx="548640" cy="237744"/>
          </a:xfrm>
          <a:prstGeom prst="rect">
            <a:avLst/>
          </a:prstGeom>
          <a:noFill/>
          <a:ln/>
        </p:spPr>
        <p:txBody>
          <a:bodyPr wrap="square" lIns="0" tIns="0" rIns="0" bIns="0" rtlCol="0" anchor="ctr"/>
          <a:lstStyle/>
          <a:p>
            <a:pPr indent="0" marL="0">
              <a:buNone/>
            </a:pPr>
            <a:r>
              <a:rPr lang="en-US" sz="1000" b="1" spc="100" kern="0" dirty="0">
                <a:solidFill>
                  <a:srgbClr val="2E7CC8"/>
                </a:solidFill>
                <a:latin typeface="Calibri" pitchFamily="34" charset="0"/>
                <a:ea typeface="Calibri" pitchFamily="34" charset="-122"/>
                <a:cs typeface="Calibri" pitchFamily="34" charset="-120"/>
              </a:rPr>
              <a:t>02</a:t>
            </a:r>
            <a:endParaRPr lang="en-US" sz="1000" dirty="0"/>
          </a:p>
        </p:txBody>
      </p:sp>
      <p:sp>
        <p:nvSpPr>
          <p:cNvPr id="15" name="Text 13"/>
          <p:cNvSpPr txBox="1"/>
          <p:nvPr/>
        </p:nvSpPr>
        <p:spPr>
          <a:xfrm>
            <a:off x="2569464" y="3136392"/>
            <a:ext cx="1289304" cy="566928"/>
          </a:xfrm>
          <a:prstGeom prst="rect">
            <a:avLst/>
          </a:prstGeom>
          <a:noFill/>
          <a:ln/>
        </p:spPr>
        <p:txBody>
          <a:bodyPr wrap="square" lIns="0" tIns="0" rIns="0" bIns="0" rtlCol="0" anchor="ctr"/>
          <a:lstStyle/>
          <a:p>
            <a:pPr indent="0" marL="0">
              <a:lnSpc>
                <a:spcPct val="105000"/>
              </a:lnSpc>
              <a:buNone/>
            </a:pPr>
            <a:r>
              <a:rPr lang="en-US" sz="1400" b="1" dirty="0">
                <a:solidFill>
                  <a:srgbClr val="1B2A44"/>
                </a:solidFill>
                <a:latin typeface="Cambria" pitchFamily="34" charset="0"/>
                <a:ea typeface="Cambria" pitchFamily="34" charset="-122"/>
                <a:cs typeface="Cambria" pitchFamily="34" charset="-120"/>
              </a:rPr>
              <a:t>Understand the system</a:t>
            </a:r>
            <a:endParaRPr lang="en-US" sz="1400" dirty="0"/>
          </a:p>
        </p:txBody>
      </p:sp>
      <p:sp>
        <p:nvSpPr>
          <p:cNvPr id="16" name="Text 14"/>
          <p:cNvSpPr txBox="1"/>
          <p:nvPr/>
        </p:nvSpPr>
        <p:spPr>
          <a:xfrm>
            <a:off x="2569464" y="3703320"/>
            <a:ext cx="1289304" cy="731520"/>
          </a:xfrm>
          <a:prstGeom prst="rect">
            <a:avLst/>
          </a:prstGeom>
          <a:noFill/>
          <a:ln/>
        </p:spPr>
        <p:txBody>
          <a:bodyPr wrap="square" lIns="0" tIns="0" rIns="0" bIns="0" rtlCol="0" anchor="ctr"/>
          <a:lstStyle/>
          <a:p>
            <a:pPr indent="0" marL="0">
              <a:lnSpc>
                <a:spcPct val="110000"/>
              </a:lnSpc>
              <a:buNone/>
            </a:pPr>
            <a:r>
              <a:rPr lang="en-US" sz="1050" dirty="0">
                <a:solidFill>
                  <a:srgbClr val="53565A"/>
                </a:solidFill>
                <a:latin typeface="Calibri" pitchFamily="34" charset="0"/>
                <a:ea typeface="Calibri" pitchFamily="34" charset="-122"/>
                <a:cs typeface="Calibri" pitchFamily="34" charset="-120"/>
              </a:rPr>
              <a:t>Build a working map of the application and its attack surface</a:t>
            </a:r>
            <a:endParaRPr lang="en-US" sz="1050" dirty="0"/>
          </a:p>
        </p:txBody>
      </p:sp>
      <p:sp>
        <p:nvSpPr>
          <p:cNvPr id="17" name="Shape 15"/>
          <p:cNvSpPr/>
          <p:nvPr/>
        </p:nvSpPr>
        <p:spPr>
          <a:xfrm rot="5400000">
            <a:off x="4087368" y="3511296"/>
            <a:ext cx="164592" cy="181051"/>
          </a:xfrm>
          <a:prstGeom prst="triangle">
            <a:avLst/>
          </a:prstGeom>
          <a:solidFill>
            <a:srgbClr val="2E7CC8"/>
          </a:solidFill>
          <a:ln/>
        </p:spPr>
      </p:sp>
      <p:sp>
        <p:nvSpPr>
          <p:cNvPr id="18" name="Shape 16"/>
          <p:cNvSpPr/>
          <p:nvPr/>
        </p:nvSpPr>
        <p:spPr>
          <a:xfrm>
            <a:off x="4279392" y="2697480"/>
            <a:ext cx="1691640" cy="1828800"/>
          </a:xfrm>
          <a:prstGeom prst="roundRect">
            <a:avLst>
              <a:gd name="adj" fmla="val 4324"/>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9" name="Text 17"/>
          <p:cNvSpPr txBox="1"/>
          <p:nvPr/>
        </p:nvSpPr>
        <p:spPr>
          <a:xfrm>
            <a:off x="4480560" y="2862072"/>
            <a:ext cx="548640" cy="237744"/>
          </a:xfrm>
          <a:prstGeom prst="rect">
            <a:avLst/>
          </a:prstGeom>
          <a:noFill/>
          <a:ln/>
        </p:spPr>
        <p:txBody>
          <a:bodyPr wrap="square" lIns="0" tIns="0" rIns="0" bIns="0" rtlCol="0" anchor="ctr"/>
          <a:lstStyle/>
          <a:p>
            <a:pPr indent="0" marL="0">
              <a:buNone/>
            </a:pPr>
            <a:r>
              <a:rPr lang="en-US" sz="1000" b="1" spc="100" kern="0" dirty="0">
                <a:solidFill>
                  <a:srgbClr val="2E7CC8"/>
                </a:solidFill>
                <a:latin typeface="Calibri" pitchFamily="34" charset="0"/>
                <a:ea typeface="Calibri" pitchFamily="34" charset="-122"/>
                <a:cs typeface="Calibri" pitchFamily="34" charset="-120"/>
              </a:rPr>
              <a:t>03</a:t>
            </a:r>
            <a:endParaRPr lang="en-US" sz="1000" dirty="0"/>
          </a:p>
        </p:txBody>
      </p:sp>
      <p:sp>
        <p:nvSpPr>
          <p:cNvPr id="20" name="Text 18"/>
          <p:cNvSpPr txBox="1"/>
          <p:nvPr/>
        </p:nvSpPr>
        <p:spPr>
          <a:xfrm>
            <a:off x="4480560" y="3136392"/>
            <a:ext cx="1289304" cy="566928"/>
          </a:xfrm>
          <a:prstGeom prst="rect">
            <a:avLst/>
          </a:prstGeom>
          <a:noFill/>
          <a:ln/>
        </p:spPr>
        <p:txBody>
          <a:bodyPr wrap="square" lIns="0" tIns="0" rIns="0" bIns="0" rtlCol="0" anchor="ctr"/>
          <a:lstStyle/>
          <a:p>
            <a:pPr indent="0" marL="0">
              <a:lnSpc>
                <a:spcPct val="105000"/>
              </a:lnSpc>
              <a:buNone/>
            </a:pPr>
            <a:r>
              <a:rPr lang="en-US" sz="1400" b="1" dirty="0">
                <a:solidFill>
                  <a:srgbClr val="1B2A44"/>
                </a:solidFill>
                <a:latin typeface="Cambria" pitchFamily="34" charset="0"/>
                <a:ea typeface="Cambria" pitchFamily="34" charset="-122"/>
                <a:cs typeface="Cambria" pitchFamily="34" charset="-120"/>
              </a:rPr>
              <a:t>Complementary discovery</a:t>
            </a:r>
            <a:endParaRPr lang="en-US" sz="1400" dirty="0"/>
          </a:p>
        </p:txBody>
      </p:sp>
      <p:sp>
        <p:nvSpPr>
          <p:cNvPr id="21" name="Shape 19"/>
          <p:cNvSpPr/>
          <p:nvPr/>
        </p:nvSpPr>
        <p:spPr>
          <a:xfrm>
            <a:off x="4443984" y="3666744"/>
            <a:ext cx="1362456" cy="347472"/>
          </a:xfrm>
          <a:prstGeom prst="roundRect">
            <a:avLst>
              <a:gd name="adj" fmla="val 15789"/>
            </a:avLst>
          </a:prstGeom>
          <a:solidFill>
            <a:srgbClr val="DCEAF8"/>
          </a:solidFill>
          <a:ln/>
        </p:spPr>
      </p:sp>
      <p:sp>
        <p:nvSpPr>
          <p:cNvPr id="22" name="Text 20"/>
          <p:cNvSpPr txBox="1"/>
          <p:nvPr/>
        </p:nvSpPr>
        <p:spPr>
          <a:xfrm>
            <a:off x="4443984" y="3666744"/>
            <a:ext cx="1362456" cy="347472"/>
          </a:xfrm>
          <a:prstGeom prst="rect">
            <a:avLst/>
          </a:prstGeom>
          <a:noFill/>
          <a:ln/>
        </p:spPr>
        <p:txBody>
          <a:bodyPr wrap="square" lIns="0" tIns="0" rIns="0" bIns="0" rtlCol="0" anchor="ctr"/>
          <a:lstStyle/>
          <a:p>
            <a:pPr algn="ctr" indent="0" marL="0">
              <a:buNone/>
            </a:pPr>
            <a:r>
              <a:rPr lang="en-US" sz="1000" b="1" dirty="0">
                <a:solidFill>
                  <a:srgbClr val="00175A"/>
                </a:solidFill>
                <a:latin typeface="Calibri" pitchFamily="34" charset="0"/>
                <a:ea typeface="Calibri" pitchFamily="34" charset="-122"/>
                <a:cs typeface="Calibri" pitchFamily="34" charset="-120"/>
              </a:rPr>
              <a:t>Broad security search</a:t>
            </a:r>
            <a:endParaRPr lang="en-US" sz="1000" dirty="0"/>
          </a:p>
        </p:txBody>
      </p:sp>
      <p:sp>
        <p:nvSpPr>
          <p:cNvPr id="23" name="Shape 21"/>
          <p:cNvSpPr/>
          <p:nvPr/>
        </p:nvSpPr>
        <p:spPr>
          <a:xfrm>
            <a:off x="4443984" y="4069080"/>
            <a:ext cx="1362456" cy="347472"/>
          </a:xfrm>
          <a:prstGeom prst="roundRect">
            <a:avLst>
              <a:gd name="adj" fmla="val 15789"/>
            </a:avLst>
          </a:prstGeom>
          <a:solidFill>
            <a:srgbClr val="F4EBDA"/>
          </a:solidFill>
          <a:ln/>
        </p:spPr>
      </p:sp>
      <p:sp>
        <p:nvSpPr>
          <p:cNvPr id="24" name="Text 22"/>
          <p:cNvSpPr txBox="1"/>
          <p:nvPr/>
        </p:nvSpPr>
        <p:spPr>
          <a:xfrm>
            <a:off x="4443984" y="4069080"/>
            <a:ext cx="1362456" cy="347472"/>
          </a:xfrm>
          <a:prstGeom prst="rect">
            <a:avLst/>
          </a:prstGeom>
          <a:noFill/>
          <a:ln/>
        </p:spPr>
        <p:txBody>
          <a:bodyPr wrap="square" lIns="0" tIns="0" rIns="0" bIns="0" rtlCol="0" anchor="ctr"/>
          <a:lstStyle/>
          <a:p>
            <a:pPr algn="ctr" indent="0" marL="0">
              <a:buNone/>
            </a:pPr>
            <a:r>
              <a:rPr lang="en-US" sz="1000" b="1" dirty="0">
                <a:solidFill>
                  <a:srgbClr val="A5793A"/>
                </a:solidFill>
                <a:latin typeface="Calibri" pitchFamily="34" charset="0"/>
                <a:ea typeface="Calibri" pitchFamily="34" charset="-122"/>
                <a:cs typeface="Calibri" pitchFamily="34" charset="-120"/>
              </a:rPr>
              <a:t>Deep AI research</a:t>
            </a:r>
            <a:endParaRPr lang="en-US" sz="1000" dirty="0"/>
          </a:p>
        </p:txBody>
      </p:sp>
      <p:sp>
        <p:nvSpPr>
          <p:cNvPr id="25" name="Shape 23"/>
          <p:cNvSpPr/>
          <p:nvPr/>
        </p:nvSpPr>
        <p:spPr>
          <a:xfrm rot="5400000">
            <a:off x="5998464" y="3511296"/>
            <a:ext cx="164592" cy="181051"/>
          </a:xfrm>
          <a:prstGeom prst="triangle">
            <a:avLst/>
          </a:prstGeom>
          <a:solidFill>
            <a:srgbClr val="2E7CC8"/>
          </a:solidFill>
          <a:ln/>
        </p:spPr>
      </p:sp>
      <p:sp>
        <p:nvSpPr>
          <p:cNvPr id="26" name="Shape 24"/>
          <p:cNvSpPr/>
          <p:nvPr/>
        </p:nvSpPr>
        <p:spPr>
          <a:xfrm>
            <a:off x="6190488" y="2697480"/>
            <a:ext cx="1691640" cy="1828800"/>
          </a:xfrm>
          <a:prstGeom prst="roundRect">
            <a:avLst>
              <a:gd name="adj" fmla="val 4324"/>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27" name="Text 25"/>
          <p:cNvSpPr txBox="1"/>
          <p:nvPr/>
        </p:nvSpPr>
        <p:spPr>
          <a:xfrm>
            <a:off x="6391656" y="2862072"/>
            <a:ext cx="548640" cy="237744"/>
          </a:xfrm>
          <a:prstGeom prst="rect">
            <a:avLst/>
          </a:prstGeom>
          <a:noFill/>
          <a:ln/>
        </p:spPr>
        <p:txBody>
          <a:bodyPr wrap="square" lIns="0" tIns="0" rIns="0" bIns="0" rtlCol="0" anchor="ctr"/>
          <a:lstStyle/>
          <a:p>
            <a:pPr indent="0" marL="0">
              <a:buNone/>
            </a:pPr>
            <a:r>
              <a:rPr lang="en-US" sz="1000" b="1" spc="100" kern="0" dirty="0">
                <a:solidFill>
                  <a:srgbClr val="2E7CC8"/>
                </a:solidFill>
                <a:latin typeface="Calibri" pitchFamily="34" charset="0"/>
                <a:ea typeface="Calibri" pitchFamily="34" charset="-122"/>
                <a:cs typeface="Calibri" pitchFamily="34" charset="-120"/>
              </a:rPr>
              <a:t>04</a:t>
            </a:r>
            <a:endParaRPr lang="en-US" sz="1000" dirty="0"/>
          </a:p>
        </p:txBody>
      </p:sp>
      <p:sp>
        <p:nvSpPr>
          <p:cNvPr id="28" name="Text 26"/>
          <p:cNvSpPr txBox="1"/>
          <p:nvPr/>
        </p:nvSpPr>
        <p:spPr>
          <a:xfrm>
            <a:off x="6391656" y="3136392"/>
            <a:ext cx="1289304" cy="566928"/>
          </a:xfrm>
          <a:prstGeom prst="rect">
            <a:avLst/>
          </a:prstGeom>
          <a:noFill/>
          <a:ln/>
        </p:spPr>
        <p:txBody>
          <a:bodyPr wrap="square" lIns="0" tIns="0" rIns="0" bIns="0" rtlCol="0" anchor="ctr"/>
          <a:lstStyle/>
          <a:p>
            <a:pPr indent="0" marL="0">
              <a:lnSpc>
                <a:spcPct val="105000"/>
              </a:lnSpc>
              <a:buNone/>
            </a:pPr>
            <a:r>
              <a:rPr lang="en-US" sz="1400" b="1" dirty="0">
                <a:solidFill>
                  <a:srgbClr val="1B2A44"/>
                </a:solidFill>
                <a:latin typeface="Cambria" pitchFamily="34" charset="0"/>
                <a:ea typeface="Cambria" pitchFamily="34" charset="-122"/>
                <a:cs typeface="Cambria" pitchFamily="34" charset="-120"/>
              </a:rPr>
              <a:t>Merge and consolidate</a:t>
            </a:r>
            <a:endParaRPr lang="en-US" sz="1400" dirty="0"/>
          </a:p>
        </p:txBody>
      </p:sp>
      <p:sp>
        <p:nvSpPr>
          <p:cNvPr id="29" name="Text 27"/>
          <p:cNvSpPr txBox="1"/>
          <p:nvPr/>
        </p:nvSpPr>
        <p:spPr>
          <a:xfrm>
            <a:off x="6391656" y="3703320"/>
            <a:ext cx="1289304" cy="731520"/>
          </a:xfrm>
          <a:prstGeom prst="rect">
            <a:avLst/>
          </a:prstGeom>
          <a:noFill/>
          <a:ln/>
        </p:spPr>
        <p:txBody>
          <a:bodyPr wrap="square" lIns="0" tIns="0" rIns="0" bIns="0" rtlCol="0" anchor="ctr"/>
          <a:lstStyle/>
          <a:p>
            <a:pPr indent="0" marL="0">
              <a:lnSpc>
                <a:spcPct val="110000"/>
              </a:lnSpc>
              <a:buNone/>
            </a:pPr>
            <a:r>
              <a:rPr lang="en-US" sz="1050" dirty="0">
                <a:solidFill>
                  <a:srgbClr val="53565A"/>
                </a:solidFill>
                <a:latin typeface="Calibri" pitchFamily="34" charset="0"/>
                <a:ea typeface="Calibri" pitchFamily="34" charset="-122"/>
                <a:cs typeface="Calibri" pitchFamily="34" charset="-120"/>
              </a:rPr>
              <a:t>Many observations resolve into distinct security root causes</a:t>
            </a:r>
            <a:endParaRPr lang="en-US" sz="1050" dirty="0"/>
          </a:p>
        </p:txBody>
      </p:sp>
      <p:sp>
        <p:nvSpPr>
          <p:cNvPr id="30" name="Shape 28"/>
          <p:cNvSpPr/>
          <p:nvPr/>
        </p:nvSpPr>
        <p:spPr>
          <a:xfrm rot="5400000">
            <a:off x="7909560" y="3511296"/>
            <a:ext cx="164592" cy="181051"/>
          </a:xfrm>
          <a:prstGeom prst="triangle">
            <a:avLst/>
          </a:prstGeom>
          <a:solidFill>
            <a:srgbClr val="2E7CC8"/>
          </a:solidFill>
          <a:ln/>
        </p:spPr>
      </p:sp>
      <p:sp>
        <p:nvSpPr>
          <p:cNvPr id="31" name="Shape 29"/>
          <p:cNvSpPr/>
          <p:nvPr/>
        </p:nvSpPr>
        <p:spPr>
          <a:xfrm>
            <a:off x="8101584" y="2697480"/>
            <a:ext cx="1691640" cy="1828800"/>
          </a:xfrm>
          <a:prstGeom prst="roundRect">
            <a:avLst>
              <a:gd name="adj" fmla="val 4324"/>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32" name="Text 30"/>
          <p:cNvSpPr txBox="1"/>
          <p:nvPr/>
        </p:nvSpPr>
        <p:spPr>
          <a:xfrm>
            <a:off x="8302752" y="2862072"/>
            <a:ext cx="548640" cy="237744"/>
          </a:xfrm>
          <a:prstGeom prst="rect">
            <a:avLst/>
          </a:prstGeom>
          <a:noFill/>
          <a:ln/>
        </p:spPr>
        <p:txBody>
          <a:bodyPr wrap="square" lIns="0" tIns="0" rIns="0" bIns="0" rtlCol="0" anchor="ctr"/>
          <a:lstStyle/>
          <a:p>
            <a:pPr indent="0" marL="0">
              <a:buNone/>
            </a:pPr>
            <a:r>
              <a:rPr lang="en-US" sz="1000" b="1" spc="100" kern="0" dirty="0">
                <a:solidFill>
                  <a:srgbClr val="2E7CC8"/>
                </a:solidFill>
                <a:latin typeface="Calibri" pitchFamily="34" charset="0"/>
                <a:ea typeface="Calibri" pitchFamily="34" charset="-122"/>
                <a:cs typeface="Calibri" pitchFamily="34" charset="-120"/>
              </a:rPr>
              <a:t>05</a:t>
            </a:r>
            <a:endParaRPr lang="en-US" sz="1000" dirty="0"/>
          </a:p>
        </p:txBody>
      </p:sp>
      <p:sp>
        <p:nvSpPr>
          <p:cNvPr id="33" name="Text 31"/>
          <p:cNvSpPr txBox="1"/>
          <p:nvPr/>
        </p:nvSpPr>
        <p:spPr>
          <a:xfrm>
            <a:off x="8302752" y="3136392"/>
            <a:ext cx="1289304" cy="566928"/>
          </a:xfrm>
          <a:prstGeom prst="rect">
            <a:avLst/>
          </a:prstGeom>
          <a:noFill/>
          <a:ln/>
        </p:spPr>
        <p:txBody>
          <a:bodyPr wrap="square" lIns="0" tIns="0" rIns="0" bIns="0" rtlCol="0" anchor="ctr"/>
          <a:lstStyle/>
          <a:p>
            <a:pPr indent="0" marL="0">
              <a:lnSpc>
                <a:spcPct val="105000"/>
              </a:lnSpc>
              <a:buNone/>
            </a:pPr>
            <a:r>
              <a:rPr lang="en-US" sz="1400" b="1" dirty="0">
                <a:solidFill>
                  <a:srgbClr val="1B2A44"/>
                </a:solidFill>
                <a:latin typeface="Cambria" pitchFamily="34" charset="0"/>
                <a:ea typeface="Cambria" pitchFamily="34" charset="-122"/>
                <a:cs typeface="Cambria" pitchFamily="34" charset="-120"/>
              </a:rPr>
              <a:t>Evidence challenge</a:t>
            </a:r>
            <a:endParaRPr lang="en-US" sz="1400" dirty="0"/>
          </a:p>
        </p:txBody>
      </p:sp>
      <p:sp>
        <p:nvSpPr>
          <p:cNvPr id="34" name="Text 32"/>
          <p:cNvSpPr txBox="1"/>
          <p:nvPr/>
        </p:nvSpPr>
        <p:spPr>
          <a:xfrm>
            <a:off x="8302752" y="3703320"/>
            <a:ext cx="1289304" cy="731520"/>
          </a:xfrm>
          <a:prstGeom prst="rect">
            <a:avLst/>
          </a:prstGeom>
          <a:noFill/>
          <a:ln/>
        </p:spPr>
        <p:txBody>
          <a:bodyPr wrap="square" lIns="0" tIns="0" rIns="0" bIns="0" rtlCol="0" anchor="ctr"/>
          <a:lstStyle/>
          <a:p>
            <a:pPr indent="0" marL="0">
              <a:lnSpc>
                <a:spcPct val="110000"/>
              </a:lnSpc>
              <a:buNone/>
            </a:pPr>
            <a:r>
              <a:rPr lang="en-US" sz="1050" dirty="0">
                <a:solidFill>
                  <a:srgbClr val="53565A"/>
                </a:solidFill>
                <a:latin typeface="Calibri" pitchFamily="34" charset="0"/>
                <a:ea typeface="Calibri" pitchFamily="34" charset="-122"/>
                <a:cs typeface="Calibri" pitchFamily="34" charset="-120"/>
              </a:rPr>
              <a:t>Weak, unreachable and duplicate claims are held back</a:t>
            </a:r>
            <a:endParaRPr lang="en-US" sz="1050" dirty="0"/>
          </a:p>
        </p:txBody>
      </p:sp>
      <p:sp>
        <p:nvSpPr>
          <p:cNvPr id="35" name="Shape 33"/>
          <p:cNvSpPr/>
          <p:nvPr/>
        </p:nvSpPr>
        <p:spPr>
          <a:xfrm rot="5400000">
            <a:off x="9820656" y="3511296"/>
            <a:ext cx="164592" cy="181051"/>
          </a:xfrm>
          <a:prstGeom prst="triangle">
            <a:avLst/>
          </a:prstGeom>
          <a:solidFill>
            <a:srgbClr val="2E7CC8"/>
          </a:solidFill>
          <a:ln/>
        </p:spPr>
      </p:sp>
      <p:sp>
        <p:nvSpPr>
          <p:cNvPr id="36" name="Shape 34"/>
          <p:cNvSpPr/>
          <p:nvPr/>
        </p:nvSpPr>
        <p:spPr>
          <a:xfrm>
            <a:off x="10012680" y="2697480"/>
            <a:ext cx="1691640" cy="1828800"/>
          </a:xfrm>
          <a:prstGeom prst="roundRect">
            <a:avLst>
              <a:gd name="adj" fmla="val 4324"/>
            </a:avLst>
          </a:prstGeom>
          <a:solidFill>
            <a:srgbClr val="006FCF"/>
          </a:solidFill>
          <a:ln/>
          <a:effectLst>
            <a:outerShdw sx="100000" sy="100000" kx="0" ky="0" algn="bl" rotWithShape="0" blurRad="152400" dist="25400" dir="5400000">
              <a:srgbClr val="8FA0B8">
                <a:alpha val="20000"/>
              </a:srgbClr>
            </a:outerShdw>
          </a:effectLst>
        </p:spPr>
      </p:sp>
      <p:sp>
        <p:nvSpPr>
          <p:cNvPr id="37" name="Text 35"/>
          <p:cNvSpPr txBox="1"/>
          <p:nvPr/>
        </p:nvSpPr>
        <p:spPr>
          <a:xfrm>
            <a:off x="10213848" y="2862072"/>
            <a:ext cx="548640" cy="237744"/>
          </a:xfrm>
          <a:prstGeom prst="rect">
            <a:avLst/>
          </a:prstGeom>
          <a:noFill/>
          <a:ln/>
        </p:spPr>
        <p:txBody>
          <a:bodyPr wrap="square" lIns="0" tIns="0" rIns="0" bIns="0" rtlCol="0" anchor="ctr"/>
          <a:lstStyle/>
          <a:p>
            <a:pPr indent="0" marL="0">
              <a:buNone/>
            </a:pPr>
            <a:r>
              <a:rPr lang="en-US" sz="1000" b="1" spc="100" kern="0" dirty="0">
                <a:solidFill>
                  <a:srgbClr val="9BCAEB"/>
                </a:solidFill>
                <a:latin typeface="Calibri" pitchFamily="34" charset="0"/>
                <a:ea typeface="Calibri" pitchFamily="34" charset="-122"/>
                <a:cs typeface="Calibri" pitchFamily="34" charset="-120"/>
              </a:rPr>
              <a:t>06</a:t>
            </a:r>
            <a:endParaRPr lang="en-US" sz="1000" dirty="0"/>
          </a:p>
        </p:txBody>
      </p:sp>
      <p:sp>
        <p:nvSpPr>
          <p:cNvPr id="38" name="Text 36"/>
          <p:cNvSpPr txBox="1"/>
          <p:nvPr/>
        </p:nvSpPr>
        <p:spPr>
          <a:xfrm>
            <a:off x="10213848" y="3136392"/>
            <a:ext cx="1289304" cy="566928"/>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Cambria" pitchFamily="34" charset="0"/>
                <a:ea typeface="Cambria" pitchFamily="34" charset="-122"/>
                <a:cs typeface="Cambria" pitchFamily="34" charset="-120"/>
              </a:rPr>
              <a:t>Results</a:t>
            </a:r>
            <a:endParaRPr lang="en-US" sz="1400" dirty="0"/>
          </a:p>
        </p:txBody>
      </p:sp>
      <p:sp>
        <p:nvSpPr>
          <p:cNvPr id="39" name="Text 37"/>
          <p:cNvSpPr txBox="1"/>
          <p:nvPr/>
        </p:nvSpPr>
        <p:spPr>
          <a:xfrm>
            <a:off x="10213848" y="3703320"/>
            <a:ext cx="1289304" cy="731520"/>
          </a:xfrm>
          <a:prstGeom prst="rect">
            <a:avLst/>
          </a:prstGeom>
          <a:noFill/>
          <a:ln/>
        </p:spPr>
        <p:txBody>
          <a:bodyPr wrap="square" lIns="0" tIns="0" rIns="0" bIns="0" rtlCol="0" anchor="ctr"/>
          <a:lstStyle/>
          <a:p>
            <a:pPr indent="0" marL="0">
              <a:lnSpc>
                <a:spcPct val="110000"/>
              </a:lnSpc>
              <a:buNone/>
            </a:pPr>
            <a:r>
              <a:rPr lang="en-US" sz="1050" dirty="0">
                <a:solidFill>
                  <a:srgbClr val="C5D9EE"/>
                </a:solidFill>
                <a:latin typeface="Calibri" pitchFamily="34" charset="0"/>
                <a:ea typeface="Calibri" pitchFamily="34" charset="-122"/>
                <a:cs typeface="Calibri" pitchFamily="34" charset="-120"/>
              </a:rPr>
              <a:t>Actionable findings, each carrying an evidence status</a:t>
            </a:r>
            <a:endParaRPr lang="en-US" sz="1050" dirty="0"/>
          </a:p>
        </p:txBody>
      </p:sp>
      <p:sp>
        <p:nvSpPr>
          <p:cNvPr id="40" name="Shape 38"/>
          <p:cNvSpPr/>
          <p:nvPr/>
        </p:nvSpPr>
        <p:spPr>
          <a:xfrm>
            <a:off x="8101584" y="5029200"/>
            <a:ext cx="3602736" cy="841248"/>
          </a:xfrm>
          <a:prstGeom prst="roundRect">
            <a:avLst>
              <a:gd name="adj" fmla="val 8696"/>
            </a:avLst>
          </a:prstGeom>
          <a:solidFill>
            <a:srgbClr val="EAF2FB"/>
          </a:solidFill>
          <a:ln w="12700">
            <a:solidFill>
              <a:srgbClr val="C6DDF3"/>
            </a:solidFill>
            <a:prstDash val="solid"/>
          </a:ln>
          <a:effectLst>
            <a:outerShdw sx="100000" sy="100000" kx="0" ky="0" algn="bl" rotWithShape="0" blurRad="152400" dist="25400" dir="5400000">
              <a:srgbClr val="8FA0B8">
                <a:alpha val="20000"/>
              </a:srgbClr>
            </a:outerShdw>
          </a:effectLst>
        </p:spPr>
      </p:sp>
      <p:sp>
        <p:nvSpPr>
          <p:cNvPr id="41" name="Text 39"/>
          <p:cNvSpPr txBox="1"/>
          <p:nvPr/>
        </p:nvSpPr>
        <p:spPr>
          <a:xfrm>
            <a:off x="8302752" y="5029200"/>
            <a:ext cx="3200400" cy="841248"/>
          </a:xfrm>
          <a:prstGeom prst="rect">
            <a:avLst/>
          </a:prstGeom>
          <a:noFill/>
          <a:ln/>
        </p:spPr>
        <p:txBody>
          <a:bodyPr wrap="square" lIns="0" tIns="0" rIns="0" bIns="0" rtlCol="0" anchor="ctr"/>
          <a:lstStyle/>
          <a:p>
            <a:pPr indent="0" marL="0">
              <a:lnSpc>
                <a:spcPct val="110000"/>
              </a:lnSpc>
              <a:buNone/>
            </a:pPr>
            <a:r>
              <a:rPr lang="en-US" sz="1150" b="1" dirty="0">
                <a:solidFill>
                  <a:srgbClr val="006FCF"/>
                </a:solidFill>
                <a:latin typeface="Calibri" pitchFamily="34" charset="0"/>
                <a:ea typeface="Calibri" pitchFamily="34" charset="-122"/>
                <a:cs typeface="Calibri" pitchFamily="34" charset="-120"/>
              </a:rPr>
              <a:t>Selective runtime proof   </a:t>
            </a:r>
            <a:pPr indent="0" marL="0">
              <a:lnSpc>
                <a:spcPct val="110000"/>
              </a:lnSpc>
              <a:buNone/>
            </a:pPr>
            <a:r>
              <a:rPr lang="en-US" sz="1150" dirty="0">
                <a:solidFill>
                  <a:srgbClr val="53565A"/>
                </a:solidFill>
                <a:latin typeface="Calibri" pitchFamily="34" charset="0"/>
                <a:ea typeface="Calibri" pitchFamily="34" charset="-122"/>
                <a:cs typeface="Calibri" pitchFamily="34" charset="-120"/>
              </a:rPr>
              <a:t>when an executable environment is available</a:t>
            </a:r>
            <a:endParaRPr lang="en-US" sz="1150" dirty="0"/>
          </a:p>
        </p:txBody>
      </p:sp>
      <p:sp>
        <p:nvSpPr>
          <p:cNvPr id="42" name="Shape 40"/>
          <p:cNvSpPr/>
          <p:nvPr/>
        </p:nvSpPr>
        <p:spPr>
          <a:xfrm flipV="1">
            <a:off x="10858500" y="4526280"/>
            <a:ext cx="0" cy="502920"/>
          </a:xfrm>
          <a:prstGeom prst="line">
            <a:avLst/>
          </a:prstGeom>
          <a:noFill/>
          <a:ln w="22225">
            <a:solidFill>
              <a:srgbClr val="2E7CC8"/>
            </a:solidFill>
            <a:prstDash val="solid"/>
            <a:tailEnd type="triangle"/>
          </a:ln>
        </p:spPr>
      </p:sp>
      <p:sp>
        <p:nvSpPr>
          <p:cNvPr id="43" name="Text 41"/>
          <p:cNvSpPr txBox="1"/>
          <p:nvPr/>
        </p:nvSpPr>
        <p:spPr>
          <a:xfrm>
            <a:off x="457200" y="5029200"/>
            <a:ext cx="7315200" cy="256032"/>
          </a:xfrm>
          <a:prstGeom prst="rect">
            <a:avLst/>
          </a:prstGeom>
          <a:noFill/>
          <a:ln/>
        </p:spPr>
        <p:txBody>
          <a:bodyPr wrap="square" lIns="0" tIns="0" rIns="0" bIns="0" rtlCol="0" anchor="ctr"/>
          <a:lstStyle/>
          <a:p>
            <a:pPr indent="0" marL="0">
              <a:buNone/>
            </a:pPr>
            <a:r>
              <a:rPr lang="en-US" sz="1000" b="1" spc="140" kern="0" dirty="0">
                <a:solidFill>
                  <a:srgbClr val="8C959E"/>
                </a:solidFill>
                <a:latin typeface="Calibri" pitchFamily="34" charset="0"/>
                <a:ea typeface="Calibri" pitchFamily="34" charset="-122"/>
                <a:cs typeface="Calibri" pitchFamily="34" charset="-120"/>
              </a:rPr>
              <a:t>EVERY DELIVERED FINDING CARRIES AN EVIDENCE STATUS</a:t>
            </a:r>
            <a:endParaRPr lang="en-US" sz="1000" dirty="0"/>
          </a:p>
        </p:txBody>
      </p:sp>
      <p:sp>
        <p:nvSpPr>
          <p:cNvPr id="44" name="Shape 42"/>
          <p:cNvSpPr/>
          <p:nvPr/>
        </p:nvSpPr>
        <p:spPr>
          <a:xfrm>
            <a:off x="457200" y="5358384"/>
            <a:ext cx="1691640" cy="512064"/>
          </a:xfrm>
          <a:prstGeom prst="roundRect">
            <a:avLst>
              <a:gd name="adj" fmla="val 17857"/>
            </a:avLst>
          </a:prstGeom>
          <a:solidFill>
            <a:srgbClr val="006FCF"/>
          </a:solidFill>
          <a:ln/>
        </p:spPr>
      </p:sp>
      <p:sp>
        <p:nvSpPr>
          <p:cNvPr id="45" name="Text 43"/>
          <p:cNvSpPr txBox="1"/>
          <p:nvPr/>
        </p:nvSpPr>
        <p:spPr>
          <a:xfrm>
            <a:off x="457200" y="5358384"/>
            <a:ext cx="16916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Runtime demonstrated</a:t>
            </a:r>
            <a:endParaRPr lang="en-US" sz="1050" dirty="0"/>
          </a:p>
        </p:txBody>
      </p:sp>
      <p:sp>
        <p:nvSpPr>
          <p:cNvPr id="46" name="Shape 44"/>
          <p:cNvSpPr/>
          <p:nvPr/>
        </p:nvSpPr>
        <p:spPr>
          <a:xfrm>
            <a:off x="2258568" y="5358384"/>
            <a:ext cx="1691640" cy="512064"/>
          </a:xfrm>
          <a:prstGeom prst="roundRect">
            <a:avLst>
              <a:gd name="adj" fmla="val 17857"/>
            </a:avLst>
          </a:prstGeom>
          <a:solidFill>
            <a:srgbClr val="DCEAF8"/>
          </a:solidFill>
          <a:ln/>
        </p:spPr>
      </p:sp>
      <p:sp>
        <p:nvSpPr>
          <p:cNvPr id="47" name="Text 45"/>
          <p:cNvSpPr txBox="1"/>
          <p:nvPr/>
        </p:nvSpPr>
        <p:spPr>
          <a:xfrm>
            <a:off x="2258568" y="5358384"/>
            <a:ext cx="1691640" cy="512064"/>
          </a:xfrm>
          <a:prstGeom prst="rect">
            <a:avLst/>
          </a:prstGeom>
          <a:noFill/>
          <a:ln/>
        </p:spPr>
        <p:txBody>
          <a:bodyPr wrap="square" lIns="0" tIns="0" rIns="0" bIns="0" rtlCol="0" anchor="ctr"/>
          <a:lstStyle/>
          <a:p>
            <a:pPr algn="ctr" indent="0" marL="0">
              <a:buNone/>
            </a:pPr>
            <a:r>
              <a:rPr lang="en-US" sz="1050" b="1" dirty="0">
                <a:solidFill>
                  <a:srgbClr val="00175A"/>
                </a:solidFill>
                <a:latin typeface="Calibri" pitchFamily="34" charset="0"/>
                <a:ea typeface="Calibri" pitchFamily="34" charset="-122"/>
                <a:cs typeface="Calibri" pitchFamily="34" charset="-120"/>
              </a:rPr>
              <a:t>Source supported</a:t>
            </a:r>
            <a:endParaRPr lang="en-US" sz="1050" dirty="0"/>
          </a:p>
        </p:txBody>
      </p:sp>
      <p:sp>
        <p:nvSpPr>
          <p:cNvPr id="48" name="Shape 46"/>
          <p:cNvSpPr/>
          <p:nvPr/>
        </p:nvSpPr>
        <p:spPr>
          <a:xfrm>
            <a:off x="4059936" y="5358384"/>
            <a:ext cx="1691640" cy="512064"/>
          </a:xfrm>
          <a:prstGeom prst="roundRect">
            <a:avLst>
              <a:gd name="adj" fmla="val 17857"/>
            </a:avLst>
          </a:prstGeom>
          <a:solidFill>
            <a:srgbClr val="F4EBDA"/>
          </a:solidFill>
          <a:ln/>
        </p:spPr>
      </p:sp>
      <p:sp>
        <p:nvSpPr>
          <p:cNvPr id="49" name="Text 47"/>
          <p:cNvSpPr txBox="1"/>
          <p:nvPr/>
        </p:nvSpPr>
        <p:spPr>
          <a:xfrm>
            <a:off x="4059936" y="5358384"/>
            <a:ext cx="1691640" cy="512064"/>
          </a:xfrm>
          <a:prstGeom prst="rect">
            <a:avLst/>
          </a:prstGeom>
          <a:noFill/>
          <a:ln/>
        </p:spPr>
        <p:txBody>
          <a:bodyPr wrap="square" lIns="0" tIns="0" rIns="0" bIns="0" rtlCol="0" anchor="ctr"/>
          <a:lstStyle/>
          <a:p>
            <a:pPr algn="ctr" indent="0" marL="0">
              <a:buNone/>
            </a:pPr>
            <a:r>
              <a:rPr lang="en-US" sz="1050" b="1" dirty="0">
                <a:solidFill>
                  <a:srgbClr val="A5793A"/>
                </a:solidFill>
                <a:latin typeface="Calibri" pitchFamily="34" charset="0"/>
                <a:ea typeface="Calibri" pitchFamily="34" charset="-122"/>
                <a:cs typeface="Calibri" pitchFamily="34" charset="-120"/>
              </a:rPr>
              <a:t>Refuted</a:t>
            </a:r>
            <a:endParaRPr lang="en-US" sz="1050" dirty="0"/>
          </a:p>
        </p:txBody>
      </p:sp>
      <p:sp>
        <p:nvSpPr>
          <p:cNvPr id="50" name="Shape 48"/>
          <p:cNvSpPr/>
          <p:nvPr/>
        </p:nvSpPr>
        <p:spPr>
          <a:xfrm>
            <a:off x="5861304" y="5358384"/>
            <a:ext cx="1691640" cy="512064"/>
          </a:xfrm>
          <a:prstGeom prst="roundRect">
            <a:avLst>
              <a:gd name="adj" fmla="val 17857"/>
            </a:avLst>
          </a:prstGeom>
          <a:solidFill>
            <a:srgbClr val="E7EAEE"/>
          </a:solidFill>
          <a:ln/>
        </p:spPr>
      </p:sp>
      <p:sp>
        <p:nvSpPr>
          <p:cNvPr id="51" name="Text 49"/>
          <p:cNvSpPr txBox="1"/>
          <p:nvPr/>
        </p:nvSpPr>
        <p:spPr>
          <a:xfrm>
            <a:off x="5861304" y="5358384"/>
            <a:ext cx="1691640" cy="512064"/>
          </a:xfrm>
          <a:prstGeom prst="rect">
            <a:avLst/>
          </a:prstGeom>
          <a:noFill/>
          <a:ln/>
        </p:spPr>
        <p:txBody>
          <a:bodyPr wrap="square" lIns="0" tIns="0" rIns="0" bIns="0" rtlCol="0" anchor="ctr"/>
          <a:lstStyle/>
          <a:p>
            <a:pPr algn="ctr" indent="0" marL="0">
              <a:buNone/>
            </a:pPr>
            <a:r>
              <a:rPr lang="en-US" sz="1050" b="1" dirty="0">
                <a:solidFill>
                  <a:srgbClr val="53565A"/>
                </a:solidFill>
                <a:latin typeface="Calibri" pitchFamily="34" charset="0"/>
                <a:ea typeface="Calibri" pitchFamily="34" charset="-122"/>
                <a:cs typeface="Calibri" pitchFamily="34" charset="-120"/>
              </a:rPr>
              <a:t>Unresolved</a:t>
            </a:r>
            <a:endParaRPr lang="en-US" sz="1050" dirty="0"/>
          </a:p>
        </p:txBody>
      </p:sp>
      <p:sp>
        <p:nvSpPr>
          <p:cNvPr id="52" name="Text 50"/>
          <p:cNvSpPr txBox="1"/>
          <p:nvPr/>
        </p:nvSpPr>
        <p:spPr>
          <a:xfrm>
            <a:off x="457200" y="6035040"/>
            <a:ext cx="11247120" cy="365760"/>
          </a:xfrm>
          <a:prstGeom prst="rect">
            <a:avLst/>
          </a:prstGeom>
          <a:noFill/>
          <a:ln/>
        </p:spPr>
        <p:txBody>
          <a:bodyPr wrap="square" lIns="0" tIns="0" rIns="0" bIns="0" rtlCol="0" anchor="ctr"/>
          <a:lstStyle/>
          <a:p>
            <a:pPr indent="0" marL="0">
              <a:buNone/>
            </a:pPr>
            <a:r>
              <a:rPr lang="en-US" sz="1150" i="1" dirty="0">
                <a:solidFill>
                  <a:srgbClr val="53565A"/>
                </a:solidFill>
                <a:latin typeface="Calibri" pitchFamily="34" charset="0"/>
                <a:ea typeface="Calibri" pitchFamily="34" charset="-122"/>
                <a:cs typeface="Calibri" pitchFamily="34" charset="-120"/>
              </a:rPr>
              <a:t>No individual finding is delivered by the component that discovered it. Discovery, consolidation, challenge and proof are separate stages of one workflow.</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03  WHY PRISM FINDS MORE</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Coverage comes from how investigation is organized</a:t>
            </a:r>
            <a:endParaRPr lang="en-US" sz="3100" dirty="0"/>
          </a:p>
        </p:txBody>
      </p:sp>
      <p:sp>
        <p:nvSpPr>
          <p:cNvPr id="5" name="Text 3"/>
          <p:cNvSpPr txBox="1"/>
          <p:nvPr/>
        </p:nvSpPr>
        <p:spPr>
          <a:xfrm>
            <a:off x="548640" y="1691640"/>
            <a:ext cx="5394960" cy="868680"/>
          </a:xfrm>
          <a:prstGeom prst="rect">
            <a:avLst/>
          </a:prstGeom>
          <a:noFill/>
          <a:ln/>
        </p:spPr>
        <p:txBody>
          <a:bodyPr wrap="square" lIns="0" tIns="0" rIns="0" bIns="0" rtlCol="0" anchor="ctr"/>
          <a:lstStyle/>
          <a:p>
            <a:pPr indent="0" marL="0">
              <a:lnSpc>
                <a:spcPct val="110000"/>
              </a:lnSpc>
              <a:buNone/>
            </a:pPr>
            <a:r>
              <a:rPr lang="en-US" sz="2000" b="1" dirty="0">
                <a:solidFill>
                  <a:srgbClr val="1B2A44"/>
                </a:solidFill>
                <a:latin typeface="Cambria" pitchFamily="34" charset="0"/>
                <a:ea typeface="Cambria" pitchFamily="34" charset="-122"/>
                <a:cs typeface="Cambria" pitchFamily="34" charset="-120"/>
              </a:rPr>
              <a:t>Different investigation strategies discover different vulnerabilities.</a:t>
            </a:r>
            <a:endParaRPr lang="en-US" sz="2000" dirty="0"/>
          </a:p>
        </p:txBody>
      </p:sp>
      <p:sp>
        <p:nvSpPr>
          <p:cNvPr id="6" name="Shape 4"/>
          <p:cNvSpPr/>
          <p:nvPr/>
        </p:nvSpPr>
        <p:spPr>
          <a:xfrm rot="5400000">
            <a:off x="566928" y="2752344"/>
            <a:ext cx="118872" cy="137160"/>
          </a:xfrm>
          <a:prstGeom prst="triangle">
            <a:avLst/>
          </a:prstGeom>
          <a:solidFill>
            <a:srgbClr val="006FCF"/>
          </a:solidFill>
          <a:ln/>
        </p:spPr>
      </p:sp>
      <p:sp>
        <p:nvSpPr>
          <p:cNvPr id="7" name="Text 5"/>
          <p:cNvSpPr txBox="1"/>
          <p:nvPr/>
        </p:nvSpPr>
        <p:spPr>
          <a:xfrm>
            <a:off x="822960" y="2670048"/>
            <a:ext cx="5029200" cy="658368"/>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Broad and systematic</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Wide coverage across many possible security concerns</a:t>
            </a:r>
            <a:endParaRPr lang="en-US" sz="1250" dirty="0"/>
          </a:p>
        </p:txBody>
      </p:sp>
      <p:sp>
        <p:nvSpPr>
          <p:cNvPr id="8" name="Shape 6"/>
          <p:cNvSpPr/>
          <p:nvPr/>
        </p:nvSpPr>
        <p:spPr>
          <a:xfrm rot="5400000">
            <a:off x="566928" y="3502152"/>
            <a:ext cx="118872" cy="137160"/>
          </a:xfrm>
          <a:prstGeom prst="triangle">
            <a:avLst/>
          </a:prstGeom>
          <a:solidFill>
            <a:srgbClr val="006FCF"/>
          </a:solidFill>
          <a:ln/>
        </p:spPr>
      </p:sp>
      <p:sp>
        <p:nvSpPr>
          <p:cNvPr id="9" name="Text 7"/>
          <p:cNvSpPr txBox="1"/>
          <p:nvPr/>
        </p:nvSpPr>
        <p:spPr>
          <a:xfrm>
            <a:off x="822960" y="3419856"/>
            <a:ext cx="5029200" cy="658368"/>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Deep and adversarial</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Sustained attention on the most consequential attack surfaces</a:t>
            </a:r>
            <a:endParaRPr lang="en-US" sz="1250" dirty="0"/>
          </a:p>
        </p:txBody>
      </p:sp>
      <p:sp>
        <p:nvSpPr>
          <p:cNvPr id="10" name="Shape 8"/>
          <p:cNvSpPr/>
          <p:nvPr/>
        </p:nvSpPr>
        <p:spPr>
          <a:xfrm rot="5400000">
            <a:off x="566928" y="4251960"/>
            <a:ext cx="118872" cy="137160"/>
          </a:xfrm>
          <a:prstGeom prst="triangle">
            <a:avLst/>
          </a:prstGeom>
          <a:solidFill>
            <a:srgbClr val="006FCF"/>
          </a:solidFill>
          <a:ln/>
        </p:spPr>
      </p:sp>
      <p:sp>
        <p:nvSpPr>
          <p:cNvPr id="11" name="Text 9"/>
          <p:cNvSpPr txBox="1"/>
          <p:nvPr/>
        </p:nvSpPr>
        <p:spPr>
          <a:xfrm>
            <a:off x="822960" y="4169664"/>
            <a:ext cx="5029200" cy="658368"/>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Guided, not constrained</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Deterministic security signals steer the work without limiting what the AI may explore</a:t>
            </a:r>
            <a:endParaRPr lang="en-US" sz="1250" dirty="0"/>
          </a:p>
        </p:txBody>
      </p:sp>
      <p:sp>
        <p:nvSpPr>
          <p:cNvPr id="12" name="Shape 10"/>
          <p:cNvSpPr/>
          <p:nvPr/>
        </p:nvSpPr>
        <p:spPr>
          <a:xfrm>
            <a:off x="548640" y="4956048"/>
            <a:ext cx="5394960" cy="868680"/>
          </a:xfrm>
          <a:prstGeom prst="roundRect">
            <a:avLst>
              <a:gd name="adj" fmla="val 8421"/>
            </a:avLst>
          </a:prstGeom>
          <a:solidFill>
            <a:srgbClr val="EDF3FA"/>
          </a:solidFill>
          <a:ln/>
        </p:spPr>
      </p:sp>
      <p:sp>
        <p:nvSpPr>
          <p:cNvPr id="13" name="Text 11"/>
          <p:cNvSpPr txBox="1"/>
          <p:nvPr/>
        </p:nvSpPr>
        <p:spPr>
          <a:xfrm>
            <a:off x="777240" y="4956048"/>
            <a:ext cx="4937760" cy="868680"/>
          </a:xfrm>
          <a:prstGeom prst="rect">
            <a:avLst/>
          </a:prstGeom>
          <a:noFill/>
          <a:ln/>
        </p:spPr>
        <p:txBody>
          <a:bodyPr wrap="square" lIns="0" tIns="0" rIns="0" bIns="0" rtlCol="0" anchor="ctr"/>
          <a:lstStyle/>
          <a:p>
            <a:pPr indent="0" marL="0">
              <a:lnSpc>
                <a:spcPct val="115000"/>
              </a:lnSpc>
              <a:buNone/>
            </a:pPr>
            <a:r>
              <a:rPr lang="en-US" sz="1150" i="1" dirty="0">
                <a:solidFill>
                  <a:srgbClr val="00175A"/>
                </a:solidFill>
                <a:latin typeface="Calibri" pitchFamily="34" charset="0"/>
                <a:ea typeface="Calibri" pitchFamily="34" charset="-122"/>
                <a:cs typeface="Calibri" pitchFamily="34" charset="-120"/>
              </a:rPr>
              <a:t>Instead of asking one expert to review an entire application one way, PRISM gives the application to several complementary research approaches and combines what each one sees.</a:t>
            </a:r>
            <a:endParaRPr lang="en-US" sz="1150" dirty="0"/>
          </a:p>
        </p:txBody>
      </p:sp>
      <p:sp>
        <p:nvSpPr>
          <p:cNvPr id="14" name="Shape 12"/>
          <p:cNvSpPr/>
          <p:nvPr/>
        </p:nvSpPr>
        <p:spPr>
          <a:xfrm>
            <a:off x="6309360" y="1691640"/>
            <a:ext cx="5330952" cy="4133088"/>
          </a:xfrm>
          <a:prstGeom prst="roundRect">
            <a:avLst>
              <a:gd name="adj" fmla="val 1770"/>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5" name="Text 13"/>
          <p:cNvSpPr txBox="1"/>
          <p:nvPr/>
        </p:nvSpPr>
        <p:spPr>
          <a:xfrm>
            <a:off x="6629400" y="1938528"/>
            <a:ext cx="4754880" cy="274320"/>
          </a:xfrm>
          <a:prstGeom prst="rect">
            <a:avLst/>
          </a:prstGeom>
          <a:noFill/>
          <a:ln/>
        </p:spPr>
        <p:txBody>
          <a:bodyPr wrap="square" lIns="0" tIns="0" rIns="0" bIns="0" rtlCol="0" anchor="ctr"/>
          <a:lstStyle/>
          <a:p>
            <a:pPr indent="0" marL="0">
              <a:buNone/>
            </a:pPr>
            <a:r>
              <a:rPr lang="en-US" sz="1050" b="1" spc="130" kern="0" dirty="0">
                <a:solidFill>
                  <a:srgbClr val="006FCF"/>
                </a:solidFill>
                <a:latin typeface="Calibri" pitchFamily="34" charset="0"/>
                <a:ea typeface="Calibri" pitchFamily="34" charset="-122"/>
                <a:cs typeface="Calibri" pitchFamily="34" charset="-120"/>
              </a:rPr>
              <a:t>ONE CONTROLLED INTERNAL COMPARISON</a:t>
            </a:r>
            <a:endParaRPr lang="en-US" sz="1050" dirty="0"/>
          </a:p>
        </p:txBody>
      </p:sp>
      <p:sp>
        <p:nvSpPr>
          <p:cNvPr id="16" name="Text 14"/>
          <p:cNvSpPr txBox="1"/>
          <p:nvPr/>
        </p:nvSpPr>
        <p:spPr>
          <a:xfrm>
            <a:off x="6629400" y="2212848"/>
            <a:ext cx="4663440" cy="310896"/>
          </a:xfrm>
          <a:prstGeom prst="rect">
            <a:avLst/>
          </a:prstGeom>
          <a:noFill/>
          <a:ln/>
        </p:spPr>
        <p:txBody>
          <a:bodyPr wrap="square" lIns="0" tIns="0" rIns="0" bIns="0" rtlCol="0" anchor="ctr"/>
          <a:lstStyle/>
          <a:p>
            <a:pPr indent="0" marL="0">
              <a:buNone/>
            </a:pPr>
            <a:r>
              <a:rPr lang="en-US" sz="1200" dirty="0">
                <a:solidFill>
                  <a:srgbClr val="53565A"/>
                </a:solidFill>
                <a:latin typeface="Calibri" pitchFamily="34" charset="0"/>
                <a:ea typeface="Calibri" pitchFamily="34" charset="-122"/>
                <a:cs typeface="Calibri" pitchFamily="34" charset="-120"/>
              </a:rPr>
              <a:t>Adjudicated root causes at approximately equal model token usage</a:t>
            </a:r>
            <a:endParaRPr lang="en-US" sz="1200" dirty="0"/>
          </a:p>
        </p:txBody>
      </p:sp>
      <p:sp>
        <p:nvSpPr>
          <p:cNvPr id="17" name="Text 15"/>
          <p:cNvSpPr txBox="1"/>
          <p:nvPr/>
        </p:nvSpPr>
        <p:spPr>
          <a:xfrm>
            <a:off x="6629400" y="2788920"/>
            <a:ext cx="4663440" cy="274320"/>
          </a:xfrm>
          <a:prstGeom prst="rect">
            <a:avLst/>
          </a:prstGeom>
          <a:noFill/>
          <a:ln/>
        </p:spPr>
        <p:txBody>
          <a:bodyPr wrap="square" lIns="0" tIns="0" rIns="0" bIns="0" rtlCol="0" anchor="ctr"/>
          <a:lstStyle/>
          <a:p>
            <a:pPr indent="0" marL="0">
              <a:buNone/>
            </a:pPr>
            <a:r>
              <a:rPr lang="en-US" sz="1150" b="1" dirty="0">
                <a:solidFill>
                  <a:srgbClr val="1B2A44"/>
                </a:solidFill>
                <a:latin typeface="Calibri" pitchFamily="34" charset="0"/>
                <a:ea typeface="Calibri" pitchFamily="34" charset="-122"/>
                <a:cs typeface="Calibri" pitchFamily="34" charset="-120"/>
              </a:rPr>
              <a:t>Single investigation approach</a:t>
            </a:r>
            <a:endParaRPr lang="en-US" sz="1150" dirty="0"/>
          </a:p>
        </p:txBody>
      </p:sp>
      <p:sp>
        <p:nvSpPr>
          <p:cNvPr id="18" name="Shape 16"/>
          <p:cNvSpPr/>
          <p:nvPr/>
        </p:nvSpPr>
        <p:spPr>
          <a:xfrm>
            <a:off x="6629400" y="3099816"/>
            <a:ext cx="960120" cy="457200"/>
          </a:xfrm>
          <a:prstGeom prst="roundRect">
            <a:avLst>
              <a:gd name="adj" fmla="val 10000"/>
            </a:avLst>
          </a:prstGeom>
          <a:solidFill>
            <a:srgbClr val="B9C4D2"/>
          </a:solidFill>
          <a:ln/>
        </p:spPr>
      </p:sp>
      <p:sp>
        <p:nvSpPr>
          <p:cNvPr id="19" name="Text 17"/>
          <p:cNvSpPr txBox="1"/>
          <p:nvPr/>
        </p:nvSpPr>
        <p:spPr>
          <a:xfrm>
            <a:off x="7735824" y="2990088"/>
            <a:ext cx="1188720" cy="658368"/>
          </a:xfrm>
          <a:prstGeom prst="rect">
            <a:avLst/>
          </a:prstGeom>
          <a:noFill/>
          <a:ln/>
        </p:spPr>
        <p:txBody>
          <a:bodyPr wrap="square" lIns="0" tIns="0" rIns="0" bIns="0" rtlCol="0" anchor="ctr"/>
          <a:lstStyle/>
          <a:p>
            <a:pPr indent="0" marL="0">
              <a:buNone/>
            </a:pPr>
            <a:r>
              <a:rPr lang="en-US" sz="3400" b="1" dirty="0">
                <a:solidFill>
                  <a:srgbClr val="00175A"/>
                </a:solidFill>
                <a:latin typeface="Cambria" pitchFamily="34" charset="0"/>
                <a:ea typeface="Cambria" pitchFamily="34" charset="-122"/>
                <a:cs typeface="Cambria" pitchFamily="34" charset="-120"/>
              </a:rPr>
              <a:t>11</a:t>
            </a:r>
            <a:endParaRPr lang="en-US" sz="3400" dirty="0"/>
          </a:p>
        </p:txBody>
      </p:sp>
      <p:sp>
        <p:nvSpPr>
          <p:cNvPr id="20" name="Text 18"/>
          <p:cNvSpPr txBox="1"/>
          <p:nvPr/>
        </p:nvSpPr>
        <p:spPr>
          <a:xfrm>
            <a:off x="6629400" y="3977640"/>
            <a:ext cx="4663440" cy="274320"/>
          </a:xfrm>
          <a:prstGeom prst="rect">
            <a:avLst/>
          </a:prstGeom>
          <a:noFill/>
          <a:ln/>
        </p:spPr>
        <p:txBody>
          <a:bodyPr wrap="square" lIns="0" tIns="0" rIns="0" bIns="0" rtlCol="0" anchor="ctr"/>
          <a:lstStyle/>
          <a:p>
            <a:pPr indent="0" marL="0">
              <a:buNone/>
            </a:pPr>
            <a:r>
              <a:rPr lang="en-US" sz="1150" b="1" dirty="0">
                <a:solidFill>
                  <a:srgbClr val="1B2A44"/>
                </a:solidFill>
                <a:latin typeface="Calibri" pitchFamily="34" charset="0"/>
                <a:ea typeface="Calibri" pitchFamily="34" charset="-122"/>
                <a:cs typeface="Calibri" pitchFamily="34" charset="-120"/>
              </a:rPr>
              <a:t>Complementary structured approach</a:t>
            </a:r>
            <a:endParaRPr lang="en-US" sz="1150" dirty="0"/>
          </a:p>
        </p:txBody>
      </p:sp>
      <p:sp>
        <p:nvSpPr>
          <p:cNvPr id="21" name="Shape 19"/>
          <p:cNvSpPr/>
          <p:nvPr/>
        </p:nvSpPr>
        <p:spPr>
          <a:xfrm>
            <a:off x="6629400" y="4288536"/>
            <a:ext cx="3566160" cy="457200"/>
          </a:xfrm>
          <a:prstGeom prst="roundRect">
            <a:avLst>
              <a:gd name="adj" fmla="val 10000"/>
            </a:avLst>
          </a:prstGeom>
          <a:solidFill>
            <a:srgbClr val="006FCF"/>
          </a:solidFill>
          <a:ln/>
        </p:spPr>
      </p:sp>
      <p:sp>
        <p:nvSpPr>
          <p:cNvPr id="22" name="Text 20"/>
          <p:cNvSpPr txBox="1"/>
          <p:nvPr/>
        </p:nvSpPr>
        <p:spPr>
          <a:xfrm>
            <a:off x="10341864" y="4178808"/>
            <a:ext cx="1188720" cy="658368"/>
          </a:xfrm>
          <a:prstGeom prst="rect">
            <a:avLst/>
          </a:prstGeom>
          <a:noFill/>
          <a:ln/>
        </p:spPr>
        <p:txBody>
          <a:bodyPr wrap="square" lIns="0" tIns="0" rIns="0" bIns="0" rtlCol="0" anchor="ctr"/>
          <a:lstStyle/>
          <a:p>
            <a:pPr indent="0" marL="0">
              <a:buNone/>
            </a:pPr>
            <a:r>
              <a:rPr lang="en-US" sz="3400" b="1" dirty="0">
                <a:solidFill>
                  <a:srgbClr val="006FCF"/>
                </a:solidFill>
                <a:latin typeface="Cambria" pitchFamily="34" charset="0"/>
                <a:ea typeface="Cambria" pitchFamily="34" charset="-122"/>
                <a:cs typeface="Cambria" pitchFamily="34" charset="-120"/>
              </a:rPr>
              <a:t>42</a:t>
            </a:r>
            <a:endParaRPr lang="en-US" sz="3400" dirty="0"/>
          </a:p>
        </p:txBody>
      </p:sp>
      <p:sp>
        <p:nvSpPr>
          <p:cNvPr id="23" name="Text 21"/>
          <p:cNvSpPr txBox="1"/>
          <p:nvPr/>
        </p:nvSpPr>
        <p:spPr>
          <a:xfrm>
            <a:off x="6629400" y="5074920"/>
            <a:ext cx="4709160" cy="594360"/>
          </a:xfrm>
          <a:prstGeom prst="rect">
            <a:avLst/>
          </a:prstGeom>
          <a:noFill/>
          <a:ln/>
        </p:spPr>
        <p:txBody>
          <a:bodyPr wrap="square" lIns="0" tIns="0" rIns="0" bIns="0" rtlCol="0" anchor="ctr"/>
          <a:lstStyle/>
          <a:p>
            <a:pPr indent="0" marL="0">
              <a:lnSpc>
                <a:spcPct val="115000"/>
              </a:lnSpc>
              <a:buNone/>
            </a:pPr>
            <a:r>
              <a:rPr lang="en-US" sz="1000" dirty="0">
                <a:solidFill>
                  <a:srgbClr val="8C959E"/>
                </a:solidFill>
                <a:latin typeface="Calibri" pitchFamily="34" charset="0"/>
                <a:ea typeface="Calibri" pitchFamily="34" charset="-122"/>
                <a:cs typeface="Calibri" pitchFamily="34" charset="-120"/>
              </a:rPr>
              <a:t>Internal controlled experiment. Not an external benchmark claim, and not yet a statement about any specific competing product.</a:t>
            </a:r>
            <a:endParaRPr lang="en-US" sz="1000" dirty="0"/>
          </a:p>
        </p:txBody>
      </p:sp>
      <p:sp>
        <p:nvSpPr>
          <p:cNvPr id="24" name="Shape 22"/>
          <p:cNvSpPr/>
          <p:nvPr/>
        </p:nvSpPr>
        <p:spPr>
          <a:xfrm>
            <a:off x="548640" y="5989320"/>
            <a:ext cx="11091672" cy="658368"/>
          </a:xfrm>
          <a:prstGeom prst="roundRect">
            <a:avLst>
              <a:gd name="adj" fmla="val 11111"/>
            </a:avLst>
          </a:prstGeom>
          <a:solidFill>
            <a:srgbClr val="00175A"/>
          </a:solidFill>
          <a:ln/>
          <a:effectLst>
            <a:outerShdw sx="100000" sy="100000" kx="0" ky="0" algn="bl" rotWithShape="0" blurRad="152400" dist="25400" dir="5400000">
              <a:srgbClr val="8FA0B8">
                <a:alpha val="20000"/>
              </a:srgbClr>
            </a:outerShdw>
          </a:effectLst>
        </p:spPr>
      </p:sp>
      <p:sp>
        <p:nvSpPr>
          <p:cNvPr id="25" name="Text 23"/>
          <p:cNvSpPr txBox="1"/>
          <p:nvPr/>
        </p:nvSpPr>
        <p:spPr>
          <a:xfrm>
            <a:off x="822960" y="5989320"/>
            <a:ext cx="10515600" cy="658368"/>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More findings means more distinct validated root causes, not more warning messages.</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04  CLEANER RESULTS</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Discovery and validation are separate jobs</a:t>
            </a:r>
            <a:endParaRPr lang="en-US" sz="3100" dirty="0"/>
          </a:p>
        </p:txBody>
      </p:sp>
      <p:sp>
        <p:nvSpPr>
          <p:cNvPr id="5" name="Shape 3"/>
          <p:cNvSpPr/>
          <p:nvPr/>
        </p:nvSpPr>
        <p:spPr>
          <a:xfrm>
            <a:off x="640080" y="1783080"/>
            <a:ext cx="5212080" cy="713232"/>
          </a:xfrm>
          <a:prstGeom prst="roundRect">
            <a:avLst>
              <a:gd name="adj" fmla="val 8974"/>
            </a:avLst>
          </a:prstGeom>
          <a:solidFill>
            <a:srgbClr val="DCEAF8"/>
          </a:solidFill>
          <a:ln/>
          <a:effectLst>
            <a:outerShdw sx="100000" sy="100000" kx="0" ky="0" algn="bl" rotWithShape="0" blurRad="152400" dist="25400" dir="5400000">
              <a:srgbClr val="8FA0B8">
                <a:alpha val="20000"/>
              </a:srgbClr>
            </a:outerShdw>
          </a:effectLst>
        </p:spPr>
      </p:sp>
      <p:sp>
        <p:nvSpPr>
          <p:cNvPr id="6" name="Text 4"/>
          <p:cNvSpPr txBox="1"/>
          <p:nvPr/>
        </p:nvSpPr>
        <p:spPr>
          <a:xfrm>
            <a:off x="640080" y="1783080"/>
            <a:ext cx="5212080" cy="713232"/>
          </a:xfrm>
          <a:prstGeom prst="rect">
            <a:avLst/>
          </a:prstGeom>
          <a:noFill/>
          <a:ln/>
        </p:spPr>
        <p:txBody>
          <a:bodyPr wrap="square" lIns="0" tIns="0" rIns="0" bIns="0" rtlCol="0" anchor="ctr"/>
          <a:lstStyle/>
          <a:p>
            <a:pPr algn="ctr" indent="0" marL="0">
              <a:buNone/>
            </a:pPr>
            <a:r>
              <a:rPr lang="en-US" sz="1300" b="1" dirty="0">
                <a:solidFill>
                  <a:srgbClr val="1B2A44"/>
                </a:solidFill>
                <a:latin typeface="Calibri" pitchFamily="34" charset="0"/>
                <a:ea typeface="Calibri" pitchFamily="34" charset="-122"/>
                <a:cs typeface="Calibri" pitchFamily="34" charset="-120"/>
              </a:rPr>
              <a:t>Candidate hypotheses</a:t>
            </a:r>
            <a:endParaRPr lang="en-US" sz="1300" dirty="0"/>
          </a:p>
        </p:txBody>
      </p:sp>
      <p:sp>
        <p:nvSpPr>
          <p:cNvPr id="7" name="Shape 5"/>
          <p:cNvSpPr/>
          <p:nvPr/>
        </p:nvSpPr>
        <p:spPr>
          <a:xfrm rot="10800000">
            <a:off x="3154680" y="2542032"/>
            <a:ext cx="160934" cy="146304"/>
          </a:xfrm>
          <a:prstGeom prst="triangle">
            <a:avLst/>
          </a:prstGeom>
          <a:solidFill>
            <a:srgbClr val="8C959E"/>
          </a:solidFill>
          <a:ln/>
        </p:spPr>
      </p:sp>
      <p:sp>
        <p:nvSpPr>
          <p:cNvPr id="8" name="Shape 6"/>
          <p:cNvSpPr/>
          <p:nvPr/>
        </p:nvSpPr>
        <p:spPr>
          <a:xfrm>
            <a:off x="960120" y="2697480"/>
            <a:ext cx="4572000" cy="713232"/>
          </a:xfrm>
          <a:prstGeom prst="roundRect">
            <a:avLst>
              <a:gd name="adj" fmla="val 8974"/>
            </a:avLst>
          </a:prstGeom>
          <a:solidFill>
            <a:srgbClr val="A9CFEE"/>
          </a:solidFill>
          <a:ln/>
          <a:effectLst>
            <a:outerShdw sx="100000" sy="100000" kx="0" ky="0" algn="bl" rotWithShape="0" blurRad="152400" dist="25400" dir="5400000">
              <a:srgbClr val="8FA0B8">
                <a:alpha val="20000"/>
              </a:srgbClr>
            </a:outerShdw>
          </a:effectLst>
        </p:spPr>
      </p:sp>
      <p:sp>
        <p:nvSpPr>
          <p:cNvPr id="9" name="Text 7"/>
          <p:cNvSpPr txBox="1"/>
          <p:nvPr/>
        </p:nvSpPr>
        <p:spPr>
          <a:xfrm>
            <a:off x="960120" y="2697480"/>
            <a:ext cx="4572000" cy="713232"/>
          </a:xfrm>
          <a:prstGeom prst="rect">
            <a:avLst/>
          </a:prstGeom>
          <a:noFill/>
          <a:ln/>
        </p:spPr>
        <p:txBody>
          <a:bodyPr wrap="square" lIns="0" tIns="0" rIns="0" bIns="0" rtlCol="0" anchor="ctr"/>
          <a:lstStyle/>
          <a:p>
            <a:pPr algn="ctr" indent="0" marL="0">
              <a:buNone/>
            </a:pPr>
            <a:r>
              <a:rPr lang="en-US" sz="1300" b="1" dirty="0">
                <a:solidFill>
                  <a:srgbClr val="1B2A44"/>
                </a:solidFill>
                <a:latin typeface="Calibri" pitchFamily="34" charset="0"/>
                <a:ea typeface="Calibri" pitchFamily="34" charset="-122"/>
                <a:cs typeface="Calibri" pitchFamily="34" charset="-120"/>
              </a:rPr>
              <a:t>Root cause consolidation</a:t>
            </a:r>
            <a:endParaRPr lang="en-US" sz="1300" dirty="0"/>
          </a:p>
        </p:txBody>
      </p:sp>
      <p:sp>
        <p:nvSpPr>
          <p:cNvPr id="10" name="Shape 8"/>
          <p:cNvSpPr/>
          <p:nvPr/>
        </p:nvSpPr>
        <p:spPr>
          <a:xfrm rot="10800000">
            <a:off x="3154680" y="3456432"/>
            <a:ext cx="160934" cy="146304"/>
          </a:xfrm>
          <a:prstGeom prst="triangle">
            <a:avLst/>
          </a:prstGeom>
          <a:solidFill>
            <a:srgbClr val="8C959E"/>
          </a:solidFill>
          <a:ln/>
        </p:spPr>
      </p:sp>
      <p:sp>
        <p:nvSpPr>
          <p:cNvPr id="11" name="Shape 9"/>
          <p:cNvSpPr/>
          <p:nvPr/>
        </p:nvSpPr>
        <p:spPr>
          <a:xfrm>
            <a:off x="1280160" y="3611880"/>
            <a:ext cx="3931920" cy="713232"/>
          </a:xfrm>
          <a:prstGeom prst="roundRect">
            <a:avLst>
              <a:gd name="adj" fmla="val 8974"/>
            </a:avLst>
          </a:prstGeom>
          <a:solidFill>
            <a:srgbClr val="2E7CC8"/>
          </a:solidFill>
          <a:ln/>
          <a:effectLst>
            <a:outerShdw sx="100000" sy="100000" kx="0" ky="0" algn="bl" rotWithShape="0" blurRad="152400" dist="25400" dir="5400000">
              <a:srgbClr val="8FA0B8">
                <a:alpha val="20000"/>
              </a:srgbClr>
            </a:outerShdw>
          </a:effectLst>
        </p:spPr>
      </p:sp>
      <p:sp>
        <p:nvSpPr>
          <p:cNvPr id="12" name="Text 10"/>
          <p:cNvSpPr txBox="1"/>
          <p:nvPr/>
        </p:nvSpPr>
        <p:spPr>
          <a:xfrm>
            <a:off x="1280160" y="3611880"/>
            <a:ext cx="393192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Evidence challenge</a:t>
            </a:r>
            <a:endParaRPr lang="en-US" sz="1300" dirty="0"/>
          </a:p>
        </p:txBody>
      </p:sp>
      <p:sp>
        <p:nvSpPr>
          <p:cNvPr id="13" name="Shape 11"/>
          <p:cNvSpPr/>
          <p:nvPr/>
        </p:nvSpPr>
        <p:spPr>
          <a:xfrm rot="10800000">
            <a:off x="3154680" y="4370832"/>
            <a:ext cx="160934" cy="146304"/>
          </a:xfrm>
          <a:prstGeom prst="triangle">
            <a:avLst/>
          </a:prstGeom>
          <a:solidFill>
            <a:srgbClr val="8C959E"/>
          </a:solidFill>
          <a:ln/>
        </p:spPr>
      </p:sp>
      <p:sp>
        <p:nvSpPr>
          <p:cNvPr id="14" name="Shape 12"/>
          <p:cNvSpPr/>
          <p:nvPr/>
        </p:nvSpPr>
        <p:spPr>
          <a:xfrm>
            <a:off x="1600200" y="4526280"/>
            <a:ext cx="3291840" cy="713232"/>
          </a:xfrm>
          <a:prstGeom prst="roundRect">
            <a:avLst>
              <a:gd name="adj" fmla="val 8974"/>
            </a:avLst>
          </a:prstGeom>
          <a:solidFill>
            <a:srgbClr val="006FCF"/>
          </a:solidFill>
          <a:ln/>
          <a:effectLst>
            <a:outerShdw sx="100000" sy="100000" kx="0" ky="0" algn="bl" rotWithShape="0" blurRad="152400" dist="25400" dir="5400000">
              <a:srgbClr val="8FA0B8">
                <a:alpha val="20000"/>
              </a:srgbClr>
            </a:outerShdw>
          </a:effectLst>
        </p:spPr>
      </p:sp>
      <p:sp>
        <p:nvSpPr>
          <p:cNvPr id="15" name="Text 13"/>
          <p:cNvSpPr txBox="1"/>
          <p:nvPr/>
        </p:nvSpPr>
        <p:spPr>
          <a:xfrm>
            <a:off x="1600200" y="4526280"/>
            <a:ext cx="329184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Runtime proof where available</a:t>
            </a:r>
            <a:endParaRPr lang="en-US" sz="1300" dirty="0"/>
          </a:p>
        </p:txBody>
      </p:sp>
      <p:sp>
        <p:nvSpPr>
          <p:cNvPr id="16" name="Shape 14"/>
          <p:cNvSpPr/>
          <p:nvPr/>
        </p:nvSpPr>
        <p:spPr>
          <a:xfrm rot="10800000">
            <a:off x="3154680" y="5285232"/>
            <a:ext cx="160934" cy="146304"/>
          </a:xfrm>
          <a:prstGeom prst="triangle">
            <a:avLst/>
          </a:prstGeom>
          <a:solidFill>
            <a:srgbClr val="8C959E"/>
          </a:solidFill>
          <a:ln/>
        </p:spPr>
      </p:sp>
      <p:sp>
        <p:nvSpPr>
          <p:cNvPr id="17" name="Shape 15"/>
          <p:cNvSpPr/>
          <p:nvPr/>
        </p:nvSpPr>
        <p:spPr>
          <a:xfrm>
            <a:off x="1920240" y="5440680"/>
            <a:ext cx="2651760" cy="713232"/>
          </a:xfrm>
          <a:prstGeom prst="roundRect">
            <a:avLst>
              <a:gd name="adj" fmla="val 8974"/>
            </a:avLst>
          </a:prstGeom>
          <a:solidFill>
            <a:srgbClr val="00175A"/>
          </a:solidFill>
          <a:ln/>
          <a:effectLst>
            <a:outerShdw sx="100000" sy="100000" kx="0" ky="0" algn="bl" rotWithShape="0" blurRad="152400" dist="25400" dir="5400000">
              <a:srgbClr val="8FA0B8">
                <a:alpha val="20000"/>
              </a:srgbClr>
            </a:outerShdw>
          </a:effectLst>
        </p:spPr>
      </p:sp>
      <p:sp>
        <p:nvSpPr>
          <p:cNvPr id="18" name="Text 16"/>
          <p:cNvSpPr txBox="1"/>
          <p:nvPr/>
        </p:nvSpPr>
        <p:spPr>
          <a:xfrm>
            <a:off x="1920240" y="5440680"/>
            <a:ext cx="265176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Actionable findings</a:t>
            </a:r>
            <a:endParaRPr lang="en-US" sz="1300" dirty="0"/>
          </a:p>
        </p:txBody>
      </p:sp>
      <p:sp>
        <p:nvSpPr>
          <p:cNvPr id="19" name="Shape 17"/>
          <p:cNvSpPr/>
          <p:nvPr/>
        </p:nvSpPr>
        <p:spPr>
          <a:xfrm>
            <a:off x="6400800" y="1783080"/>
            <a:ext cx="5239512" cy="1417320"/>
          </a:xfrm>
          <a:prstGeom prst="roundRect">
            <a:avLst>
              <a:gd name="adj" fmla="val 5161"/>
            </a:avLst>
          </a:prstGeom>
          <a:solidFill>
            <a:srgbClr val="00175A"/>
          </a:solidFill>
          <a:ln/>
          <a:effectLst>
            <a:outerShdw sx="100000" sy="100000" kx="0" ky="0" algn="bl" rotWithShape="0" blurRad="152400" dist="25400" dir="5400000">
              <a:srgbClr val="8FA0B8">
                <a:alpha val="20000"/>
              </a:srgbClr>
            </a:outerShdw>
          </a:effectLst>
        </p:spPr>
      </p:sp>
      <p:sp>
        <p:nvSpPr>
          <p:cNvPr id="20" name="Text 18"/>
          <p:cNvSpPr txBox="1"/>
          <p:nvPr/>
        </p:nvSpPr>
        <p:spPr>
          <a:xfrm>
            <a:off x="6693408" y="1783080"/>
            <a:ext cx="4663440" cy="1417320"/>
          </a:xfrm>
          <a:prstGeom prst="rect">
            <a:avLst/>
          </a:prstGeom>
          <a:noFill/>
          <a:ln/>
        </p:spPr>
        <p:txBody>
          <a:bodyPr wrap="square" lIns="0" tIns="0" rIns="0" bIns="0" rtlCol="0" anchor="ctr"/>
          <a:lstStyle/>
          <a:p>
            <a:pPr indent="0" marL="0">
              <a:lnSpc>
                <a:spcPct val="115000"/>
              </a:lnSpc>
              <a:buNone/>
            </a:pPr>
            <a:r>
              <a:rPr lang="en-US" sz="1700" b="1" dirty="0">
                <a:solidFill>
                  <a:srgbClr val="FFFFFF"/>
                </a:solidFill>
                <a:latin typeface="Cambria" pitchFamily="34" charset="0"/>
                <a:ea typeface="Cambria" pitchFamily="34" charset="-122"/>
                <a:cs typeface="Cambria" pitchFamily="34" charset="-120"/>
              </a:rPr>
              <a:t>The system that finds an issue is not the final authority on whether the issue should be delivered.</a:t>
            </a:r>
            <a:endParaRPr lang="en-US" sz="1700" dirty="0"/>
          </a:p>
        </p:txBody>
      </p:sp>
      <p:sp>
        <p:nvSpPr>
          <p:cNvPr id="21" name="Text 19"/>
          <p:cNvSpPr txBox="1"/>
          <p:nvPr/>
        </p:nvSpPr>
        <p:spPr>
          <a:xfrm>
            <a:off x="6400800" y="3401568"/>
            <a:ext cx="5120640" cy="548640"/>
          </a:xfrm>
          <a:prstGeom prst="rect">
            <a:avLst/>
          </a:prstGeom>
          <a:noFill/>
          <a:ln/>
        </p:spPr>
        <p:txBody>
          <a:bodyPr wrap="square" lIns="0" tIns="0" rIns="0" bIns="0" rtlCol="0" anchor="ctr"/>
          <a:lstStyle/>
          <a:p>
            <a:pPr indent="0" marL="0">
              <a:lnSpc>
                <a:spcPct val="115000"/>
              </a:lnSpc>
              <a:buNone/>
            </a:pPr>
            <a:r>
              <a:rPr lang="en-US" sz="1250" dirty="0">
                <a:solidFill>
                  <a:srgbClr val="53565A"/>
                </a:solidFill>
                <a:latin typeface="Calibri" pitchFamily="34" charset="0"/>
                <a:ea typeface="Calibri" pitchFamily="34" charset="-122"/>
                <a:cs typeface="Calibri" pitchFamily="34" charset="-120"/>
              </a:rPr>
              <a:t>Before a finding is delivered, a separate step tests whether it survives scrutiny. This is designed to reduce:</a:t>
            </a:r>
            <a:endParaRPr lang="en-US" sz="1250" dirty="0"/>
          </a:p>
        </p:txBody>
      </p:sp>
      <p:sp>
        <p:nvSpPr>
          <p:cNvPr id="22" name="Shape 20"/>
          <p:cNvSpPr/>
          <p:nvPr/>
        </p:nvSpPr>
        <p:spPr>
          <a:xfrm rot="5400000">
            <a:off x="6419088" y="4096512"/>
            <a:ext cx="118872" cy="137160"/>
          </a:xfrm>
          <a:prstGeom prst="triangle">
            <a:avLst/>
          </a:prstGeom>
          <a:solidFill>
            <a:srgbClr val="A5793A"/>
          </a:solidFill>
          <a:ln/>
        </p:spPr>
      </p:sp>
      <p:sp>
        <p:nvSpPr>
          <p:cNvPr id="23" name="Text 21"/>
          <p:cNvSpPr txBox="1"/>
          <p:nvPr/>
        </p:nvSpPr>
        <p:spPr>
          <a:xfrm>
            <a:off x="6675120" y="4014216"/>
            <a:ext cx="4937760" cy="365760"/>
          </a:xfrm>
          <a:prstGeom prst="rect">
            <a:avLst/>
          </a:prstGeom>
          <a:noFill/>
          <a:ln/>
        </p:spPr>
        <p:txBody>
          <a:bodyPr wrap="square" lIns="0" tIns="0" rIns="0" bIns="0" rtlCol="0" anchor="t"/>
          <a:lstStyle/>
          <a:p>
            <a:pPr indent="0" marL="0">
              <a:lnSpc>
                <a:spcPct val="112000"/>
              </a:lnSpc>
              <a:buNone/>
            </a:pPr>
            <a:r>
              <a:rPr lang="en-US" sz="1200" dirty="0">
                <a:solidFill>
                  <a:srgbClr val="1B2A44"/>
                </a:solidFill>
                <a:latin typeface="Calibri" pitchFamily="34" charset="0"/>
                <a:ea typeface="Calibri" pitchFamily="34" charset="-122"/>
                <a:cs typeface="Calibri" pitchFamily="34" charset="-120"/>
              </a:rPr>
              <a:t>Duplicate reports of a single defect</a:t>
            </a:r>
            <a:endParaRPr lang="en-US" sz="1200" dirty="0"/>
          </a:p>
        </p:txBody>
      </p:sp>
      <p:sp>
        <p:nvSpPr>
          <p:cNvPr id="24" name="Shape 22"/>
          <p:cNvSpPr/>
          <p:nvPr/>
        </p:nvSpPr>
        <p:spPr>
          <a:xfrm rot="5400000">
            <a:off x="6419088" y="4517136"/>
            <a:ext cx="118872" cy="137160"/>
          </a:xfrm>
          <a:prstGeom prst="triangle">
            <a:avLst/>
          </a:prstGeom>
          <a:solidFill>
            <a:srgbClr val="A5793A"/>
          </a:solidFill>
          <a:ln/>
        </p:spPr>
      </p:sp>
      <p:sp>
        <p:nvSpPr>
          <p:cNvPr id="25" name="Text 23"/>
          <p:cNvSpPr txBox="1"/>
          <p:nvPr/>
        </p:nvSpPr>
        <p:spPr>
          <a:xfrm>
            <a:off x="6675120" y="4434840"/>
            <a:ext cx="4937760" cy="365760"/>
          </a:xfrm>
          <a:prstGeom prst="rect">
            <a:avLst/>
          </a:prstGeom>
          <a:noFill/>
          <a:ln/>
        </p:spPr>
        <p:txBody>
          <a:bodyPr wrap="square" lIns="0" tIns="0" rIns="0" bIns="0" rtlCol="0" anchor="t"/>
          <a:lstStyle/>
          <a:p>
            <a:pPr indent="0" marL="0">
              <a:lnSpc>
                <a:spcPct val="112000"/>
              </a:lnSpc>
              <a:buNone/>
            </a:pPr>
            <a:r>
              <a:rPr lang="en-US" sz="1200" dirty="0">
                <a:solidFill>
                  <a:srgbClr val="1B2A44"/>
                </a:solidFill>
                <a:latin typeface="Calibri" pitchFamily="34" charset="0"/>
                <a:ea typeface="Calibri" pitchFamily="34" charset="-122"/>
                <a:cs typeface="Calibri" pitchFamily="34" charset="-120"/>
              </a:rPr>
              <a:t>Technically correct but irrelevant observations</a:t>
            </a:r>
            <a:endParaRPr lang="en-US" sz="1200" dirty="0"/>
          </a:p>
        </p:txBody>
      </p:sp>
      <p:sp>
        <p:nvSpPr>
          <p:cNvPr id="26" name="Shape 24"/>
          <p:cNvSpPr/>
          <p:nvPr/>
        </p:nvSpPr>
        <p:spPr>
          <a:xfrm rot="5400000">
            <a:off x="6419088" y="4937760"/>
            <a:ext cx="118872" cy="137160"/>
          </a:xfrm>
          <a:prstGeom prst="triangle">
            <a:avLst/>
          </a:prstGeom>
          <a:solidFill>
            <a:srgbClr val="A5793A"/>
          </a:solidFill>
          <a:ln/>
        </p:spPr>
      </p:sp>
      <p:sp>
        <p:nvSpPr>
          <p:cNvPr id="27" name="Text 25"/>
          <p:cNvSpPr txBox="1"/>
          <p:nvPr/>
        </p:nvSpPr>
        <p:spPr>
          <a:xfrm>
            <a:off x="6675120" y="4855464"/>
            <a:ext cx="4937760" cy="365760"/>
          </a:xfrm>
          <a:prstGeom prst="rect">
            <a:avLst/>
          </a:prstGeom>
          <a:noFill/>
          <a:ln/>
        </p:spPr>
        <p:txBody>
          <a:bodyPr wrap="square" lIns="0" tIns="0" rIns="0" bIns="0" rtlCol="0" anchor="t"/>
          <a:lstStyle/>
          <a:p>
            <a:pPr indent="0" marL="0">
              <a:lnSpc>
                <a:spcPct val="112000"/>
              </a:lnSpc>
              <a:buNone/>
            </a:pPr>
            <a:r>
              <a:rPr lang="en-US" sz="1200" dirty="0">
                <a:solidFill>
                  <a:srgbClr val="1B2A44"/>
                </a:solidFill>
                <a:latin typeface="Calibri" pitchFamily="34" charset="0"/>
                <a:ea typeface="Calibri" pitchFamily="34" charset="-122"/>
                <a:cs typeface="Calibri" pitchFamily="34" charset="-120"/>
              </a:rPr>
              <a:t>Overstated severity</a:t>
            </a:r>
            <a:endParaRPr lang="en-US" sz="1200" dirty="0"/>
          </a:p>
        </p:txBody>
      </p:sp>
      <p:sp>
        <p:nvSpPr>
          <p:cNvPr id="28" name="Shape 26"/>
          <p:cNvSpPr/>
          <p:nvPr/>
        </p:nvSpPr>
        <p:spPr>
          <a:xfrm rot="5400000">
            <a:off x="6419088" y="5358384"/>
            <a:ext cx="118872" cy="137160"/>
          </a:xfrm>
          <a:prstGeom prst="triangle">
            <a:avLst/>
          </a:prstGeom>
          <a:solidFill>
            <a:srgbClr val="A5793A"/>
          </a:solidFill>
          <a:ln/>
        </p:spPr>
      </p:sp>
      <p:sp>
        <p:nvSpPr>
          <p:cNvPr id="29" name="Text 27"/>
          <p:cNvSpPr txBox="1"/>
          <p:nvPr/>
        </p:nvSpPr>
        <p:spPr>
          <a:xfrm>
            <a:off x="6675120" y="5276088"/>
            <a:ext cx="4937760" cy="365760"/>
          </a:xfrm>
          <a:prstGeom prst="rect">
            <a:avLst/>
          </a:prstGeom>
          <a:noFill/>
          <a:ln/>
        </p:spPr>
        <p:txBody>
          <a:bodyPr wrap="square" lIns="0" tIns="0" rIns="0" bIns="0" rtlCol="0" anchor="t"/>
          <a:lstStyle/>
          <a:p>
            <a:pPr indent="0" marL="0">
              <a:lnSpc>
                <a:spcPct val="112000"/>
              </a:lnSpc>
              <a:buNone/>
            </a:pPr>
            <a:r>
              <a:rPr lang="en-US" sz="1200" dirty="0">
                <a:solidFill>
                  <a:srgbClr val="1B2A44"/>
                </a:solidFill>
                <a:latin typeface="Calibri" pitchFamily="34" charset="0"/>
                <a:ea typeface="Calibri" pitchFamily="34" charset="-122"/>
                <a:cs typeface="Calibri" pitchFamily="34" charset="-120"/>
              </a:rPr>
              <a:t>Findings an attacker cannot realistically reach</a:t>
            </a:r>
            <a:endParaRPr lang="en-US" sz="1200" dirty="0"/>
          </a:p>
        </p:txBody>
      </p:sp>
      <p:sp>
        <p:nvSpPr>
          <p:cNvPr id="30" name="Shape 28"/>
          <p:cNvSpPr/>
          <p:nvPr/>
        </p:nvSpPr>
        <p:spPr>
          <a:xfrm rot="5400000">
            <a:off x="6419088" y="5779008"/>
            <a:ext cx="118872" cy="137160"/>
          </a:xfrm>
          <a:prstGeom prst="triangle">
            <a:avLst/>
          </a:prstGeom>
          <a:solidFill>
            <a:srgbClr val="A5793A"/>
          </a:solidFill>
          <a:ln/>
        </p:spPr>
      </p:sp>
      <p:sp>
        <p:nvSpPr>
          <p:cNvPr id="31" name="Text 29"/>
          <p:cNvSpPr txBox="1"/>
          <p:nvPr/>
        </p:nvSpPr>
        <p:spPr>
          <a:xfrm>
            <a:off x="6675120" y="5696712"/>
            <a:ext cx="4937760" cy="365760"/>
          </a:xfrm>
          <a:prstGeom prst="rect">
            <a:avLst/>
          </a:prstGeom>
          <a:noFill/>
          <a:ln/>
        </p:spPr>
        <p:txBody>
          <a:bodyPr wrap="square" lIns="0" tIns="0" rIns="0" bIns="0" rtlCol="0" anchor="t"/>
          <a:lstStyle/>
          <a:p>
            <a:pPr indent="0" marL="0">
              <a:lnSpc>
                <a:spcPct val="112000"/>
              </a:lnSpc>
              <a:buNone/>
            </a:pPr>
            <a:r>
              <a:rPr lang="en-US" sz="1200" dirty="0">
                <a:solidFill>
                  <a:srgbClr val="1B2A44"/>
                </a:solidFill>
                <a:latin typeface="Calibri" pitchFamily="34" charset="0"/>
                <a:ea typeface="Calibri" pitchFamily="34" charset="-122"/>
                <a:cs typeface="Calibri" pitchFamily="34" charset="-120"/>
              </a:rPr>
              <a:t>Weak conclusions generated by an AI in isolation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05  WHY PRISM CAN COST LESS</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Progressive investment, not uniform spend</a:t>
            </a:r>
            <a:endParaRPr lang="en-US" sz="3100" dirty="0"/>
          </a:p>
        </p:txBody>
      </p:sp>
      <p:sp>
        <p:nvSpPr>
          <p:cNvPr id="5" name="Text 3"/>
          <p:cNvSpPr txBox="1"/>
          <p:nvPr/>
        </p:nvSpPr>
        <p:spPr>
          <a:xfrm>
            <a:off x="548640" y="1298448"/>
            <a:ext cx="10607040" cy="310896"/>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Expensive intelligence is applied only where it changes the decision.</a:t>
            </a:r>
            <a:endParaRPr lang="en-US" sz="1400" dirty="0"/>
          </a:p>
        </p:txBody>
      </p:sp>
      <p:sp>
        <p:nvSpPr>
          <p:cNvPr id="6" name="Shape 4"/>
          <p:cNvSpPr/>
          <p:nvPr/>
        </p:nvSpPr>
        <p:spPr>
          <a:xfrm>
            <a:off x="594360" y="1783080"/>
            <a:ext cx="5669280" cy="749808"/>
          </a:xfrm>
          <a:prstGeom prst="roundRect">
            <a:avLst>
              <a:gd name="adj" fmla="val 8537"/>
            </a:avLst>
          </a:prstGeom>
          <a:solidFill>
            <a:srgbClr val="DCEAF8"/>
          </a:solidFill>
          <a:ln/>
          <a:effectLst>
            <a:outerShdw sx="100000" sy="100000" kx="0" ky="0" algn="bl" rotWithShape="0" blurRad="152400" dist="25400" dir="5400000">
              <a:srgbClr val="8FA0B8">
                <a:alpha val="20000"/>
              </a:srgbClr>
            </a:outerShdw>
          </a:effectLst>
        </p:spPr>
      </p:sp>
      <p:sp>
        <p:nvSpPr>
          <p:cNvPr id="7" name="Text 5"/>
          <p:cNvSpPr txBox="1"/>
          <p:nvPr/>
        </p:nvSpPr>
        <p:spPr>
          <a:xfrm>
            <a:off x="868680" y="1783080"/>
            <a:ext cx="5212080" cy="749808"/>
          </a:xfrm>
          <a:prstGeom prst="rect">
            <a:avLst/>
          </a:prstGeom>
          <a:noFill/>
          <a:ln/>
        </p:spPr>
        <p:txBody>
          <a:bodyPr wrap="square" lIns="0" tIns="0" rIns="0" bIns="0" rtlCol="0" anchor="ctr"/>
          <a:lstStyle/>
          <a:p>
            <a:pPr indent="0" marL="0">
              <a:lnSpc>
                <a:spcPct val="105000"/>
              </a:lnSpc>
              <a:buNone/>
            </a:pPr>
            <a:r>
              <a:rPr lang="en-US" sz="1250" b="1" dirty="0">
                <a:solidFill>
                  <a:srgbClr val="1B2A44"/>
                </a:solidFill>
                <a:latin typeface="Calibri" pitchFamily="34" charset="0"/>
                <a:ea typeface="Calibri" pitchFamily="34" charset="-122"/>
                <a:cs typeface="Calibri" pitchFamily="34" charset="-120"/>
              </a:rPr>
              <a:t>Cheap system understanding</a:t>
            </a:r>
            <a:endParaRPr lang="en-US" sz="1250" dirty="0"/>
          </a:p>
          <a:p>
            <a:pPr indent="0" marL="0">
              <a:lnSpc>
                <a:spcPct val="105000"/>
              </a:lnSpc>
              <a:buNone/>
            </a:pPr>
            <a:r>
              <a:rPr lang="en-US" sz="1000" dirty="0">
                <a:solidFill>
                  <a:srgbClr val="53565A"/>
                </a:solidFill>
                <a:latin typeface="Calibri" pitchFamily="34" charset="0"/>
                <a:ea typeface="Calibri" pitchFamily="34" charset="-122"/>
                <a:cs typeface="Calibri" pitchFamily="34" charset="-120"/>
              </a:rPr>
              <a:t>Every file</a:t>
            </a:r>
            <a:endParaRPr lang="en-US" sz="1250" dirty="0"/>
          </a:p>
        </p:txBody>
      </p:sp>
      <p:sp>
        <p:nvSpPr>
          <p:cNvPr id="8" name="Shape 6"/>
          <p:cNvSpPr/>
          <p:nvPr/>
        </p:nvSpPr>
        <p:spPr>
          <a:xfrm rot="10800000">
            <a:off x="960120" y="2560320"/>
            <a:ext cx="150876" cy="137160"/>
          </a:xfrm>
          <a:prstGeom prst="triangle">
            <a:avLst/>
          </a:prstGeom>
          <a:solidFill>
            <a:srgbClr val="8C959E"/>
          </a:solidFill>
          <a:ln/>
        </p:spPr>
      </p:sp>
      <p:sp>
        <p:nvSpPr>
          <p:cNvPr id="9" name="Shape 7"/>
          <p:cNvSpPr/>
          <p:nvPr/>
        </p:nvSpPr>
        <p:spPr>
          <a:xfrm>
            <a:off x="594360" y="2697480"/>
            <a:ext cx="4572000" cy="749808"/>
          </a:xfrm>
          <a:prstGeom prst="roundRect">
            <a:avLst>
              <a:gd name="adj" fmla="val 8537"/>
            </a:avLst>
          </a:prstGeom>
          <a:solidFill>
            <a:srgbClr val="A9CFEE"/>
          </a:solidFill>
          <a:ln/>
          <a:effectLst>
            <a:outerShdw sx="100000" sy="100000" kx="0" ky="0" algn="bl" rotWithShape="0" blurRad="152400" dist="25400" dir="5400000">
              <a:srgbClr val="8FA0B8">
                <a:alpha val="20000"/>
              </a:srgbClr>
            </a:outerShdw>
          </a:effectLst>
        </p:spPr>
      </p:sp>
      <p:sp>
        <p:nvSpPr>
          <p:cNvPr id="10" name="Text 8"/>
          <p:cNvSpPr txBox="1"/>
          <p:nvPr/>
        </p:nvSpPr>
        <p:spPr>
          <a:xfrm>
            <a:off x="868680" y="2697480"/>
            <a:ext cx="4114800" cy="749808"/>
          </a:xfrm>
          <a:prstGeom prst="rect">
            <a:avLst/>
          </a:prstGeom>
          <a:noFill/>
          <a:ln/>
        </p:spPr>
        <p:txBody>
          <a:bodyPr wrap="square" lIns="0" tIns="0" rIns="0" bIns="0" rtlCol="0" anchor="ctr"/>
          <a:lstStyle/>
          <a:p>
            <a:pPr indent="0" marL="0">
              <a:lnSpc>
                <a:spcPct val="105000"/>
              </a:lnSpc>
              <a:buNone/>
            </a:pPr>
            <a:r>
              <a:rPr lang="en-US" sz="1250" b="1" dirty="0">
                <a:solidFill>
                  <a:srgbClr val="1B2A44"/>
                </a:solidFill>
                <a:latin typeface="Calibri" pitchFamily="34" charset="0"/>
                <a:ea typeface="Calibri" pitchFamily="34" charset="-122"/>
                <a:cs typeface="Calibri" pitchFamily="34" charset="-120"/>
              </a:rPr>
              <a:t>Broad inexpensive investigation</a:t>
            </a:r>
            <a:endParaRPr lang="en-US" sz="1250" dirty="0"/>
          </a:p>
          <a:p>
            <a:pPr indent="0" marL="0">
              <a:lnSpc>
                <a:spcPct val="105000"/>
              </a:lnSpc>
              <a:buNone/>
            </a:pPr>
            <a:r>
              <a:rPr lang="en-US" sz="1000" dirty="0">
                <a:solidFill>
                  <a:srgbClr val="2C4A73"/>
                </a:solidFill>
                <a:latin typeface="Calibri" pitchFamily="34" charset="0"/>
                <a:ea typeface="Calibri" pitchFamily="34" charset="-122"/>
                <a:cs typeface="Calibri" pitchFamily="34" charset="-120"/>
              </a:rPr>
              <a:t>Many candidates</a:t>
            </a:r>
            <a:endParaRPr lang="en-US" sz="1250" dirty="0"/>
          </a:p>
        </p:txBody>
      </p:sp>
      <p:sp>
        <p:nvSpPr>
          <p:cNvPr id="11" name="Shape 9"/>
          <p:cNvSpPr/>
          <p:nvPr/>
        </p:nvSpPr>
        <p:spPr>
          <a:xfrm rot="10800000">
            <a:off x="960120" y="3474720"/>
            <a:ext cx="150876" cy="137160"/>
          </a:xfrm>
          <a:prstGeom prst="triangle">
            <a:avLst/>
          </a:prstGeom>
          <a:solidFill>
            <a:srgbClr val="8C959E"/>
          </a:solidFill>
          <a:ln/>
        </p:spPr>
      </p:sp>
      <p:sp>
        <p:nvSpPr>
          <p:cNvPr id="12" name="Shape 10"/>
          <p:cNvSpPr/>
          <p:nvPr/>
        </p:nvSpPr>
        <p:spPr>
          <a:xfrm>
            <a:off x="594360" y="3611880"/>
            <a:ext cx="3749040" cy="749808"/>
          </a:xfrm>
          <a:prstGeom prst="roundRect">
            <a:avLst>
              <a:gd name="adj" fmla="val 8537"/>
            </a:avLst>
          </a:prstGeom>
          <a:solidFill>
            <a:srgbClr val="006FCF"/>
          </a:solidFill>
          <a:ln/>
          <a:effectLst>
            <a:outerShdw sx="100000" sy="100000" kx="0" ky="0" algn="bl" rotWithShape="0" blurRad="152400" dist="25400" dir="5400000">
              <a:srgbClr val="8FA0B8">
                <a:alpha val="20000"/>
              </a:srgbClr>
            </a:outerShdw>
          </a:effectLst>
        </p:spPr>
      </p:sp>
      <p:sp>
        <p:nvSpPr>
          <p:cNvPr id="13" name="Text 11"/>
          <p:cNvSpPr txBox="1"/>
          <p:nvPr/>
        </p:nvSpPr>
        <p:spPr>
          <a:xfrm>
            <a:off x="868680" y="3611880"/>
            <a:ext cx="3291840" cy="749808"/>
          </a:xfrm>
          <a:prstGeom prst="rect">
            <a:avLst/>
          </a:prstGeom>
          <a:noFill/>
          <a:ln/>
        </p:spPr>
        <p:txBody>
          <a:bodyPr wrap="square" lIns="0" tIns="0" rIns="0" bIns="0" rtlCol="0" anchor="ctr"/>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Stronger model on promising findings</a:t>
            </a:r>
            <a:endParaRPr lang="en-US" sz="1250" dirty="0"/>
          </a:p>
          <a:p>
            <a:pPr indent="0" marL="0">
              <a:lnSpc>
                <a:spcPct val="105000"/>
              </a:lnSpc>
              <a:buNone/>
            </a:pPr>
            <a:r>
              <a:rPr lang="en-US" sz="1000" dirty="0">
                <a:solidFill>
                  <a:srgbClr val="CFE3F8"/>
                </a:solidFill>
                <a:latin typeface="Calibri" pitchFamily="34" charset="0"/>
                <a:ea typeface="Calibri" pitchFamily="34" charset="-122"/>
                <a:cs typeface="Calibri" pitchFamily="34" charset="-120"/>
              </a:rPr>
              <a:t>Fewer items</a:t>
            </a:r>
            <a:endParaRPr lang="en-US" sz="1250" dirty="0"/>
          </a:p>
        </p:txBody>
      </p:sp>
      <p:sp>
        <p:nvSpPr>
          <p:cNvPr id="14" name="Shape 12"/>
          <p:cNvSpPr/>
          <p:nvPr/>
        </p:nvSpPr>
        <p:spPr>
          <a:xfrm rot="10800000">
            <a:off x="960120" y="4389120"/>
            <a:ext cx="150876" cy="137160"/>
          </a:xfrm>
          <a:prstGeom prst="triangle">
            <a:avLst/>
          </a:prstGeom>
          <a:solidFill>
            <a:srgbClr val="8C959E"/>
          </a:solidFill>
          <a:ln/>
        </p:spPr>
      </p:sp>
      <p:sp>
        <p:nvSpPr>
          <p:cNvPr id="15" name="Shape 13"/>
          <p:cNvSpPr/>
          <p:nvPr/>
        </p:nvSpPr>
        <p:spPr>
          <a:xfrm>
            <a:off x="594360" y="4526280"/>
            <a:ext cx="2834640" cy="749808"/>
          </a:xfrm>
          <a:prstGeom prst="roundRect">
            <a:avLst>
              <a:gd name="adj" fmla="val 8537"/>
            </a:avLst>
          </a:prstGeom>
          <a:solidFill>
            <a:srgbClr val="00175A"/>
          </a:solidFill>
          <a:ln/>
          <a:effectLst>
            <a:outerShdw sx="100000" sy="100000" kx="0" ky="0" algn="bl" rotWithShape="0" blurRad="152400" dist="25400" dir="5400000">
              <a:srgbClr val="8FA0B8">
                <a:alpha val="20000"/>
              </a:srgbClr>
            </a:outerShdw>
          </a:effectLst>
        </p:spPr>
      </p:sp>
      <p:sp>
        <p:nvSpPr>
          <p:cNvPr id="16" name="Text 14"/>
          <p:cNvSpPr txBox="1"/>
          <p:nvPr/>
        </p:nvSpPr>
        <p:spPr>
          <a:xfrm>
            <a:off x="868680" y="4526280"/>
            <a:ext cx="2377440" cy="749808"/>
          </a:xfrm>
          <a:prstGeom prst="rect">
            <a:avLst/>
          </a:prstGeom>
          <a:noFill/>
          <a:ln/>
        </p:spPr>
        <p:txBody>
          <a:bodyPr wrap="square" lIns="0" tIns="0" rIns="0" bIns="0" rtlCol="0" anchor="ctr"/>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Runtime validation</a:t>
            </a:r>
            <a:endParaRPr lang="en-US" sz="1250" dirty="0"/>
          </a:p>
          <a:p>
            <a:pPr indent="0" marL="0">
              <a:lnSpc>
                <a:spcPct val="105000"/>
              </a:lnSpc>
              <a:buNone/>
            </a:pPr>
            <a:r>
              <a:rPr lang="en-US" sz="1000" dirty="0">
                <a:solidFill>
                  <a:srgbClr val="A9C4E2"/>
                </a:solidFill>
                <a:latin typeface="Calibri" pitchFamily="34" charset="0"/>
                <a:ea typeface="Calibri" pitchFamily="34" charset="-122"/>
                <a:cs typeface="Calibri" pitchFamily="34" charset="-120"/>
              </a:rPr>
              <a:t>Few priority findings</a:t>
            </a:r>
            <a:endParaRPr lang="en-US" sz="1250" dirty="0"/>
          </a:p>
        </p:txBody>
      </p:sp>
      <p:sp>
        <p:nvSpPr>
          <p:cNvPr id="17" name="Text 15"/>
          <p:cNvSpPr txBox="1"/>
          <p:nvPr/>
        </p:nvSpPr>
        <p:spPr>
          <a:xfrm>
            <a:off x="594360" y="5468112"/>
            <a:ext cx="5669280" cy="731520"/>
          </a:xfrm>
          <a:prstGeom prst="rect">
            <a:avLst/>
          </a:prstGeom>
          <a:noFill/>
          <a:ln/>
        </p:spPr>
        <p:txBody>
          <a:bodyPr wrap="square" lIns="0" tIns="0" rIns="0" bIns="0" rtlCol="0" anchor="ctr"/>
          <a:lstStyle/>
          <a:p>
            <a:pPr indent="0" marL="0">
              <a:lnSpc>
                <a:spcPct val="120000"/>
              </a:lnSpc>
              <a:buNone/>
            </a:pPr>
            <a:r>
              <a:rPr lang="en-US" sz="1150" i="1" dirty="0">
                <a:solidFill>
                  <a:srgbClr val="00175A"/>
                </a:solidFill>
                <a:latin typeface="Calibri" pitchFamily="34" charset="0"/>
                <a:ea typeface="Calibri" pitchFamily="34" charset="-122"/>
                <a:cs typeface="Calibri" pitchFamily="34" charset="-120"/>
              </a:rPr>
              <a:t>PRISM spends security research dollars the way a good engineering organization spends human expert time. Screen broadly first, then invest deeply where the evidence warrants it.</a:t>
            </a:r>
            <a:endParaRPr lang="en-US" sz="1150" dirty="0"/>
          </a:p>
        </p:txBody>
      </p:sp>
      <p:sp>
        <p:nvSpPr>
          <p:cNvPr id="18" name="Shape 16"/>
          <p:cNvSpPr/>
          <p:nvPr/>
        </p:nvSpPr>
        <p:spPr>
          <a:xfrm>
            <a:off x="6537960" y="1783080"/>
            <a:ext cx="5102352" cy="914400"/>
          </a:xfrm>
          <a:prstGeom prst="roundRect">
            <a:avLst>
              <a:gd name="adj" fmla="val 8000"/>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9" name="Text 17"/>
          <p:cNvSpPr txBox="1"/>
          <p:nvPr/>
        </p:nvSpPr>
        <p:spPr>
          <a:xfrm>
            <a:off x="6812280" y="1783080"/>
            <a:ext cx="4572000" cy="914400"/>
          </a:xfrm>
          <a:prstGeom prst="rect">
            <a:avLst/>
          </a:prstGeom>
          <a:noFill/>
          <a:ln/>
        </p:spPr>
        <p:txBody>
          <a:bodyPr wrap="square" lIns="0" tIns="0" rIns="0" bIns="0" rtlCol="0" anchor="ctr"/>
          <a:lstStyle/>
          <a:p>
            <a:pPr indent="0" marL="0">
              <a:lnSpc>
                <a:spcPct val="112000"/>
              </a:lnSpc>
              <a:buNone/>
            </a:pPr>
            <a:r>
              <a:rPr lang="en-US" sz="1300" b="1" dirty="0">
                <a:solidFill>
                  <a:srgbClr val="1B2A44"/>
                </a:solidFill>
                <a:latin typeface="Calibri" pitchFamily="34" charset="0"/>
                <a:ea typeface="Calibri" pitchFamily="34" charset="-122"/>
                <a:cs typeface="Calibri" pitchFamily="34" charset="-120"/>
              </a:rPr>
              <a:t>Model routing</a:t>
            </a:r>
            <a:endParaRPr lang="en-US" sz="1300" dirty="0"/>
          </a:p>
          <a:p>
            <a:pPr indent="0" marL="0">
              <a:lnSpc>
                <a:spcPct val="112000"/>
              </a:lnSpc>
              <a:buNone/>
            </a:pPr>
            <a:r>
              <a:rPr lang="en-US" sz="1100" dirty="0">
                <a:solidFill>
                  <a:srgbClr val="53565A"/>
                </a:solidFill>
                <a:latin typeface="Calibri" pitchFamily="34" charset="0"/>
                <a:ea typeface="Calibri" pitchFamily="34" charset="-122"/>
                <a:cs typeface="Calibri" pitchFamily="34" charset="-120"/>
              </a:rPr>
              <a:t>A fast model handles broad work. A stronger model investigates difficult findings.</a:t>
            </a:r>
            <a:endParaRPr lang="en-US" sz="1300" dirty="0"/>
          </a:p>
        </p:txBody>
      </p:sp>
      <p:sp>
        <p:nvSpPr>
          <p:cNvPr id="20" name="Shape 18"/>
          <p:cNvSpPr/>
          <p:nvPr/>
        </p:nvSpPr>
        <p:spPr>
          <a:xfrm>
            <a:off x="6537960" y="2807208"/>
            <a:ext cx="5102352" cy="914400"/>
          </a:xfrm>
          <a:prstGeom prst="roundRect">
            <a:avLst>
              <a:gd name="adj" fmla="val 8000"/>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21" name="Text 19"/>
          <p:cNvSpPr txBox="1"/>
          <p:nvPr/>
        </p:nvSpPr>
        <p:spPr>
          <a:xfrm>
            <a:off x="6812280" y="2807208"/>
            <a:ext cx="4572000" cy="914400"/>
          </a:xfrm>
          <a:prstGeom prst="rect">
            <a:avLst/>
          </a:prstGeom>
          <a:noFill/>
          <a:ln/>
        </p:spPr>
        <p:txBody>
          <a:bodyPr wrap="square" lIns="0" tIns="0" rIns="0" bIns="0" rtlCol="0" anchor="ctr"/>
          <a:lstStyle/>
          <a:p>
            <a:pPr indent="0" marL="0">
              <a:lnSpc>
                <a:spcPct val="112000"/>
              </a:lnSpc>
              <a:buNone/>
            </a:pPr>
            <a:r>
              <a:rPr lang="en-US" sz="1300" b="1" dirty="0">
                <a:solidFill>
                  <a:srgbClr val="1B2A44"/>
                </a:solidFill>
                <a:latin typeface="Calibri" pitchFamily="34" charset="0"/>
                <a:ea typeface="Calibri" pitchFamily="34" charset="-122"/>
                <a:cs typeface="Calibri" pitchFamily="34" charset="-120"/>
              </a:rPr>
              <a:t>Selective escalation</a:t>
            </a:r>
            <a:endParaRPr lang="en-US" sz="1300" dirty="0"/>
          </a:p>
          <a:p>
            <a:pPr indent="0" marL="0">
              <a:lnSpc>
                <a:spcPct val="112000"/>
              </a:lnSpc>
              <a:buNone/>
            </a:pPr>
            <a:r>
              <a:rPr lang="en-US" sz="1100" dirty="0">
                <a:solidFill>
                  <a:srgbClr val="53565A"/>
                </a:solidFill>
                <a:latin typeface="Calibri" pitchFamily="34" charset="0"/>
                <a:ea typeface="Calibri" pitchFamily="34" charset="-122"/>
                <a:cs typeface="Calibri" pitchFamily="34" charset="-120"/>
              </a:rPr>
              <a:t>Not every file and not every candidate receives the maximum inference budget.</a:t>
            </a:r>
            <a:endParaRPr lang="en-US" sz="1300" dirty="0"/>
          </a:p>
        </p:txBody>
      </p:sp>
      <p:sp>
        <p:nvSpPr>
          <p:cNvPr id="22" name="Shape 20"/>
          <p:cNvSpPr/>
          <p:nvPr/>
        </p:nvSpPr>
        <p:spPr>
          <a:xfrm>
            <a:off x="6537960" y="3831336"/>
            <a:ext cx="5102352" cy="914400"/>
          </a:xfrm>
          <a:prstGeom prst="roundRect">
            <a:avLst>
              <a:gd name="adj" fmla="val 8000"/>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23" name="Text 21"/>
          <p:cNvSpPr txBox="1"/>
          <p:nvPr/>
        </p:nvSpPr>
        <p:spPr>
          <a:xfrm>
            <a:off x="6812280" y="3831336"/>
            <a:ext cx="4572000" cy="914400"/>
          </a:xfrm>
          <a:prstGeom prst="rect">
            <a:avLst/>
          </a:prstGeom>
          <a:noFill/>
          <a:ln/>
        </p:spPr>
        <p:txBody>
          <a:bodyPr wrap="square" lIns="0" tIns="0" rIns="0" bIns="0" rtlCol="0" anchor="ctr"/>
          <a:lstStyle/>
          <a:p>
            <a:pPr indent="0" marL="0">
              <a:lnSpc>
                <a:spcPct val="112000"/>
              </a:lnSpc>
              <a:buNone/>
            </a:pPr>
            <a:r>
              <a:rPr lang="en-US" sz="1300" b="1" dirty="0">
                <a:solidFill>
                  <a:srgbClr val="1B2A44"/>
                </a:solidFill>
                <a:latin typeface="Calibri" pitchFamily="34" charset="0"/>
                <a:ea typeface="Calibri" pitchFamily="34" charset="-122"/>
                <a:cs typeface="Calibri" pitchFamily="34" charset="-120"/>
              </a:rPr>
              <a:t>Root cause consolidation</a:t>
            </a:r>
            <a:endParaRPr lang="en-US" sz="1300" dirty="0"/>
          </a:p>
          <a:p>
            <a:pPr indent="0" marL="0">
              <a:lnSpc>
                <a:spcPct val="112000"/>
              </a:lnSpc>
              <a:buNone/>
            </a:pPr>
            <a:r>
              <a:rPr lang="en-US" sz="1100" dirty="0">
                <a:solidFill>
                  <a:srgbClr val="53565A"/>
                </a:solidFill>
                <a:latin typeface="Calibri" pitchFamily="34" charset="0"/>
                <a:ea typeface="Calibri" pitchFamily="34" charset="-122"/>
                <a:cs typeface="Calibri" pitchFamily="34" charset="-120"/>
              </a:rPr>
              <a:t>Observations from one defect are investigated and reported once, not repeatedly.</a:t>
            </a:r>
            <a:endParaRPr lang="en-US" sz="1300" dirty="0"/>
          </a:p>
        </p:txBody>
      </p:sp>
      <p:sp>
        <p:nvSpPr>
          <p:cNvPr id="24" name="Shape 22"/>
          <p:cNvSpPr/>
          <p:nvPr/>
        </p:nvSpPr>
        <p:spPr>
          <a:xfrm>
            <a:off x="6537960" y="4892040"/>
            <a:ext cx="5102352" cy="1051560"/>
          </a:xfrm>
          <a:prstGeom prst="roundRect">
            <a:avLst>
              <a:gd name="adj" fmla="val 6957"/>
            </a:avLst>
          </a:prstGeom>
          <a:solidFill>
            <a:srgbClr val="00175A"/>
          </a:solidFill>
          <a:ln/>
          <a:effectLst>
            <a:outerShdw sx="100000" sy="100000" kx="0" ky="0" algn="bl" rotWithShape="0" blurRad="152400" dist="25400" dir="5400000">
              <a:srgbClr val="8FA0B8">
                <a:alpha val="20000"/>
              </a:srgbClr>
            </a:outerShdw>
          </a:effectLst>
        </p:spPr>
      </p:sp>
      <p:sp>
        <p:nvSpPr>
          <p:cNvPr id="25" name="Text 23"/>
          <p:cNvSpPr txBox="1"/>
          <p:nvPr/>
        </p:nvSpPr>
        <p:spPr>
          <a:xfrm>
            <a:off x="6812280" y="4892040"/>
            <a:ext cx="4572000" cy="1051560"/>
          </a:xfrm>
          <a:prstGeom prst="rect">
            <a:avLst/>
          </a:prstGeom>
          <a:noFill/>
          <a:ln/>
        </p:spPr>
        <p:txBody>
          <a:bodyPr wrap="square" lIns="0" tIns="0" rIns="0" bIns="0" rtlCol="0" anchor="ctr"/>
          <a:lstStyle/>
          <a:p>
            <a:pPr indent="0" marL="0">
              <a:lnSpc>
                <a:spcPct val="120000"/>
              </a:lnSpc>
              <a:buNone/>
            </a:pPr>
            <a:r>
              <a:rPr lang="en-US" sz="1400" b="1" dirty="0">
                <a:solidFill>
                  <a:srgbClr val="FFFFFF"/>
                </a:solidFill>
                <a:latin typeface="Calibri" pitchFamily="34" charset="0"/>
                <a:ea typeface="Calibri" pitchFamily="34" charset="-122"/>
                <a:cs typeface="Calibri" pitchFamily="34" charset="-120"/>
              </a:rPr>
              <a:t>The KPI is cost per validated distinct vulnerability.</a:t>
            </a:r>
            <a:endParaRPr lang="en-US" sz="1400" dirty="0"/>
          </a:p>
          <a:p>
            <a:pPr indent="0" marL="0">
              <a:lnSpc>
                <a:spcPct val="120000"/>
              </a:lnSpc>
              <a:buNone/>
            </a:pPr>
            <a:r>
              <a:rPr lang="en-US" sz="1150" dirty="0">
                <a:solidFill>
                  <a:srgbClr val="9BCAEB"/>
                </a:solidFill>
                <a:latin typeface="Calibri" pitchFamily="34" charset="0"/>
                <a:ea typeface="Calibri" pitchFamily="34" charset="-122"/>
                <a:cs typeface="Calibri" pitchFamily="34" charset="-120"/>
              </a:rPr>
              <a:t>Not total tokens, and not total model spend.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06  MODEL AGNOSTIC BY DESIGN</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PRISM owns the security workflow</a:t>
            </a:r>
            <a:endParaRPr lang="en-US" sz="3100" dirty="0"/>
          </a:p>
        </p:txBody>
      </p:sp>
      <p:sp>
        <p:nvSpPr>
          <p:cNvPr id="5" name="Text 3"/>
          <p:cNvSpPr txBox="1"/>
          <p:nvPr/>
        </p:nvSpPr>
        <p:spPr>
          <a:xfrm>
            <a:off x="548640" y="1298448"/>
            <a:ext cx="10607040" cy="310896"/>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Frontier models are interchangeable intelligence engines inside it.</a:t>
            </a:r>
            <a:endParaRPr lang="en-US" sz="1400" dirty="0"/>
          </a:p>
        </p:txBody>
      </p:sp>
      <p:sp>
        <p:nvSpPr>
          <p:cNvPr id="6" name="Shape 4"/>
          <p:cNvSpPr/>
          <p:nvPr/>
        </p:nvSpPr>
        <p:spPr>
          <a:xfrm>
            <a:off x="868680" y="1965960"/>
            <a:ext cx="5029200" cy="960120"/>
          </a:xfrm>
          <a:prstGeom prst="roundRect">
            <a:avLst>
              <a:gd name="adj" fmla="val 7619"/>
            </a:avLst>
          </a:prstGeom>
          <a:solidFill>
            <a:srgbClr val="00175A"/>
          </a:solidFill>
          <a:ln/>
          <a:effectLst>
            <a:outerShdw sx="100000" sy="100000" kx="0" ky="0" algn="bl" rotWithShape="0" blurRad="152400" dist="25400" dir="5400000">
              <a:srgbClr val="8FA0B8">
                <a:alpha val="20000"/>
              </a:srgbClr>
            </a:outerShdw>
          </a:effectLst>
        </p:spPr>
      </p:sp>
      <p:sp>
        <p:nvSpPr>
          <p:cNvPr id="7" name="Text 5"/>
          <p:cNvSpPr txBox="1"/>
          <p:nvPr/>
        </p:nvSpPr>
        <p:spPr>
          <a:xfrm>
            <a:off x="868680" y="1965960"/>
            <a:ext cx="5029200" cy="960120"/>
          </a:xfrm>
          <a:prstGeom prst="rect">
            <a:avLst/>
          </a:prstGeom>
          <a:noFill/>
          <a:ln/>
        </p:spPr>
        <p:txBody>
          <a:bodyPr wrap="square" lIns="0" tIns="0" rIns="0" bIns="0" rtlCol="0" anchor="ctr"/>
          <a:lstStyle/>
          <a:p>
            <a:pPr algn="ctr" indent="0" marL="0">
              <a:lnSpc>
                <a:spcPct val="115000"/>
              </a:lnSpc>
              <a:buNone/>
            </a:pPr>
            <a:r>
              <a:rPr lang="en-US" sz="1500" b="1" spc="120" kern="0" dirty="0">
                <a:solidFill>
                  <a:srgbClr val="FFFFFF"/>
                </a:solidFill>
                <a:latin typeface="Calibri" pitchFamily="34" charset="0"/>
                <a:ea typeface="Calibri" pitchFamily="34" charset="-122"/>
                <a:cs typeface="Calibri" pitchFamily="34" charset="-120"/>
              </a:rPr>
              <a:t>PRISM SECURITY ENGINE</a:t>
            </a:r>
            <a:endParaRPr lang="en-US" sz="1500" dirty="0"/>
          </a:p>
          <a:p>
            <a:pPr algn="ctr" indent="0" marL="0">
              <a:lnSpc>
                <a:spcPct val="115000"/>
              </a:lnSpc>
              <a:buNone/>
            </a:pPr>
            <a:r>
              <a:rPr lang="en-US" sz="1050" dirty="0">
                <a:solidFill>
                  <a:srgbClr val="A9C4E2"/>
                </a:solidFill>
                <a:latin typeface="Calibri" pitchFamily="34" charset="0"/>
                <a:ea typeface="Calibri" pitchFamily="34" charset="-122"/>
                <a:cs typeface="Calibri" pitchFamily="34" charset="-120"/>
              </a:rPr>
              <a:t>Discovery, consolidation, evidence challenge, runtime proof</a:t>
            </a:r>
            <a:endParaRPr lang="en-US" sz="1500" dirty="0"/>
          </a:p>
        </p:txBody>
      </p:sp>
      <p:sp>
        <p:nvSpPr>
          <p:cNvPr id="8" name="Shape 6"/>
          <p:cNvSpPr/>
          <p:nvPr/>
        </p:nvSpPr>
        <p:spPr>
          <a:xfrm>
            <a:off x="3383280" y="2926080"/>
            <a:ext cx="0" cy="457200"/>
          </a:xfrm>
          <a:prstGeom prst="line">
            <a:avLst/>
          </a:prstGeom>
          <a:noFill/>
          <a:ln w="22225">
            <a:solidFill>
              <a:srgbClr val="2E7CC8"/>
            </a:solidFill>
            <a:prstDash val="solid"/>
            <a:tailEnd type="triangle"/>
          </a:ln>
        </p:spPr>
      </p:sp>
      <p:sp>
        <p:nvSpPr>
          <p:cNvPr id="9" name="Shape 7"/>
          <p:cNvSpPr/>
          <p:nvPr/>
        </p:nvSpPr>
        <p:spPr>
          <a:xfrm>
            <a:off x="2103120" y="3429000"/>
            <a:ext cx="2560320" cy="640080"/>
          </a:xfrm>
          <a:prstGeom prst="roundRect">
            <a:avLst>
              <a:gd name="adj" fmla="val 11429"/>
            </a:avLst>
          </a:prstGeom>
          <a:solidFill>
            <a:srgbClr val="006FCF"/>
          </a:solidFill>
          <a:ln/>
          <a:effectLst>
            <a:outerShdw sx="100000" sy="100000" kx="0" ky="0" algn="bl" rotWithShape="0" blurRad="152400" dist="25400" dir="5400000">
              <a:srgbClr val="8FA0B8">
                <a:alpha val="20000"/>
              </a:srgbClr>
            </a:outerShdw>
          </a:effectLst>
        </p:spPr>
      </p:sp>
      <p:sp>
        <p:nvSpPr>
          <p:cNvPr id="10" name="Text 8"/>
          <p:cNvSpPr txBox="1"/>
          <p:nvPr/>
        </p:nvSpPr>
        <p:spPr>
          <a:xfrm>
            <a:off x="2103120" y="3429000"/>
            <a:ext cx="2560320" cy="640080"/>
          </a:xfrm>
          <a:prstGeom prst="rect">
            <a:avLst/>
          </a:prstGeom>
          <a:noFill/>
          <a:ln/>
        </p:spPr>
        <p:txBody>
          <a:bodyPr wrap="square" lIns="0" tIns="0" rIns="0" bIns="0" rtlCol="0" anchor="ctr"/>
          <a:lstStyle/>
          <a:p>
            <a:pPr algn="ctr" indent="0" marL="0">
              <a:buNone/>
            </a:pPr>
            <a:r>
              <a:rPr lang="en-US" sz="1300" b="1" spc="120" kern="0" dirty="0">
                <a:solidFill>
                  <a:srgbClr val="FFFFFF"/>
                </a:solidFill>
                <a:latin typeface="Calibri" pitchFamily="34" charset="0"/>
                <a:ea typeface="Calibri" pitchFamily="34" charset="-122"/>
                <a:cs typeface="Calibri" pitchFamily="34" charset="-120"/>
              </a:rPr>
              <a:t>MODEL ROUTER</a:t>
            </a:r>
            <a:endParaRPr lang="en-US" sz="1300" dirty="0"/>
          </a:p>
        </p:txBody>
      </p:sp>
      <p:sp>
        <p:nvSpPr>
          <p:cNvPr id="11" name="Shape 9"/>
          <p:cNvSpPr/>
          <p:nvPr/>
        </p:nvSpPr>
        <p:spPr>
          <a:xfrm flipH="1">
            <a:off x="1760220" y="4069080"/>
            <a:ext cx="1623060" cy="822960"/>
          </a:xfrm>
          <a:prstGeom prst="line">
            <a:avLst/>
          </a:prstGeom>
          <a:noFill/>
          <a:ln w="19050">
            <a:solidFill>
              <a:srgbClr val="8C959E"/>
            </a:solidFill>
            <a:prstDash val="solid"/>
          </a:ln>
        </p:spPr>
      </p:sp>
      <p:sp>
        <p:nvSpPr>
          <p:cNvPr id="12" name="Shape 10"/>
          <p:cNvSpPr/>
          <p:nvPr/>
        </p:nvSpPr>
        <p:spPr>
          <a:xfrm>
            <a:off x="1051560" y="4892040"/>
            <a:ext cx="1417320" cy="960120"/>
          </a:xfrm>
          <a:prstGeom prst="roundRect">
            <a:avLst>
              <a:gd name="adj" fmla="val 7619"/>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3" name="Text 11"/>
          <p:cNvSpPr txBox="1"/>
          <p:nvPr/>
        </p:nvSpPr>
        <p:spPr>
          <a:xfrm>
            <a:off x="1051560" y="4892040"/>
            <a:ext cx="1417320" cy="960120"/>
          </a:xfrm>
          <a:prstGeom prst="rect">
            <a:avLst/>
          </a:prstGeom>
          <a:noFill/>
          <a:ln/>
        </p:spPr>
        <p:txBody>
          <a:bodyPr wrap="square" lIns="0" tIns="0" rIns="0" bIns="0" rtlCol="0" anchor="ctr"/>
          <a:lstStyle/>
          <a:p>
            <a:pPr algn="ctr" indent="0" marL="0">
              <a:lnSpc>
                <a:spcPct val="115000"/>
              </a:lnSpc>
              <a:buNone/>
            </a:pPr>
            <a:r>
              <a:rPr lang="en-US" sz="1250" b="1" dirty="0">
                <a:solidFill>
                  <a:srgbClr val="1B2A44"/>
                </a:solidFill>
                <a:latin typeface="Calibri" pitchFamily="34" charset="0"/>
                <a:ea typeface="Calibri" pitchFamily="34" charset="-122"/>
                <a:cs typeface="Calibri" pitchFamily="34" charset="-120"/>
              </a:rPr>
              <a:t>Model A</a:t>
            </a:r>
            <a:endParaRPr lang="en-US" sz="1250" dirty="0"/>
          </a:p>
          <a:p>
            <a:pPr algn="ctr" indent="0" marL="0">
              <a:lnSpc>
                <a:spcPct val="115000"/>
              </a:lnSpc>
              <a:buNone/>
            </a:pPr>
            <a:r>
              <a:rPr lang="en-US" sz="950" dirty="0">
                <a:solidFill>
                  <a:srgbClr val="53565A"/>
                </a:solidFill>
                <a:latin typeface="Calibri" pitchFamily="34" charset="0"/>
                <a:ea typeface="Calibri" pitchFamily="34" charset="-122"/>
                <a:cs typeface="Calibri" pitchFamily="34" charset="-120"/>
              </a:rPr>
              <a:t>fast and broad</a:t>
            </a:r>
            <a:endParaRPr lang="en-US" sz="1250" dirty="0"/>
          </a:p>
        </p:txBody>
      </p:sp>
      <p:sp>
        <p:nvSpPr>
          <p:cNvPr id="14" name="Shape 12"/>
          <p:cNvSpPr/>
          <p:nvPr/>
        </p:nvSpPr>
        <p:spPr>
          <a:xfrm>
            <a:off x="3383280" y="4069080"/>
            <a:ext cx="114300" cy="822960"/>
          </a:xfrm>
          <a:prstGeom prst="line">
            <a:avLst/>
          </a:prstGeom>
          <a:noFill/>
          <a:ln w="19050">
            <a:solidFill>
              <a:srgbClr val="8C959E"/>
            </a:solidFill>
            <a:prstDash val="solid"/>
          </a:ln>
        </p:spPr>
      </p:sp>
      <p:sp>
        <p:nvSpPr>
          <p:cNvPr id="15" name="Shape 13"/>
          <p:cNvSpPr/>
          <p:nvPr/>
        </p:nvSpPr>
        <p:spPr>
          <a:xfrm>
            <a:off x="2788920" y="4892040"/>
            <a:ext cx="1417320" cy="960120"/>
          </a:xfrm>
          <a:prstGeom prst="roundRect">
            <a:avLst>
              <a:gd name="adj" fmla="val 7619"/>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6" name="Text 14"/>
          <p:cNvSpPr txBox="1"/>
          <p:nvPr/>
        </p:nvSpPr>
        <p:spPr>
          <a:xfrm>
            <a:off x="2788920" y="4892040"/>
            <a:ext cx="1417320" cy="960120"/>
          </a:xfrm>
          <a:prstGeom prst="rect">
            <a:avLst/>
          </a:prstGeom>
          <a:noFill/>
          <a:ln/>
        </p:spPr>
        <p:txBody>
          <a:bodyPr wrap="square" lIns="0" tIns="0" rIns="0" bIns="0" rtlCol="0" anchor="ctr"/>
          <a:lstStyle/>
          <a:p>
            <a:pPr algn="ctr" indent="0" marL="0">
              <a:lnSpc>
                <a:spcPct val="115000"/>
              </a:lnSpc>
              <a:buNone/>
            </a:pPr>
            <a:r>
              <a:rPr lang="en-US" sz="1250" b="1" dirty="0">
                <a:solidFill>
                  <a:srgbClr val="1B2A44"/>
                </a:solidFill>
                <a:latin typeface="Calibri" pitchFamily="34" charset="0"/>
                <a:ea typeface="Calibri" pitchFamily="34" charset="-122"/>
                <a:cs typeface="Calibri" pitchFamily="34" charset="-120"/>
              </a:rPr>
              <a:t>Model B</a:t>
            </a:r>
            <a:endParaRPr lang="en-US" sz="1250" dirty="0"/>
          </a:p>
          <a:p>
            <a:pPr algn="ctr" indent="0" marL="0">
              <a:lnSpc>
                <a:spcPct val="115000"/>
              </a:lnSpc>
              <a:buNone/>
            </a:pPr>
            <a:r>
              <a:rPr lang="en-US" sz="950" dirty="0">
                <a:solidFill>
                  <a:srgbClr val="53565A"/>
                </a:solidFill>
                <a:latin typeface="Calibri" pitchFamily="34" charset="0"/>
                <a:ea typeface="Calibri" pitchFamily="34" charset="-122"/>
                <a:cs typeface="Calibri" pitchFamily="34" charset="-120"/>
              </a:rPr>
              <a:t>deep reasoning</a:t>
            </a:r>
            <a:endParaRPr lang="en-US" sz="1250" dirty="0"/>
          </a:p>
        </p:txBody>
      </p:sp>
      <p:sp>
        <p:nvSpPr>
          <p:cNvPr id="17" name="Shape 15"/>
          <p:cNvSpPr/>
          <p:nvPr/>
        </p:nvSpPr>
        <p:spPr>
          <a:xfrm>
            <a:off x="3383280" y="4069080"/>
            <a:ext cx="1851660" cy="822960"/>
          </a:xfrm>
          <a:prstGeom prst="line">
            <a:avLst/>
          </a:prstGeom>
          <a:noFill/>
          <a:ln w="19050">
            <a:solidFill>
              <a:srgbClr val="8C959E"/>
            </a:solidFill>
            <a:prstDash val="solid"/>
          </a:ln>
        </p:spPr>
      </p:sp>
      <p:sp>
        <p:nvSpPr>
          <p:cNvPr id="18" name="Shape 16"/>
          <p:cNvSpPr/>
          <p:nvPr/>
        </p:nvSpPr>
        <p:spPr>
          <a:xfrm>
            <a:off x="4526280" y="4892040"/>
            <a:ext cx="1417320" cy="960120"/>
          </a:xfrm>
          <a:prstGeom prst="roundRect">
            <a:avLst>
              <a:gd name="adj" fmla="val 7619"/>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9" name="Text 17"/>
          <p:cNvSpPr txBox="1"/>
          <p:nvPr/>
        </p:nvSpPr>
        <p:spPr>
          <a:xfrm>
            <a:off x="4526280" y="4892040"/>
            <a:ext cx="1417320" cy="960120"/>
          </a:xfrm>
          <a:prstGeom prst="rect">
            <a:avLst/>
          </a:prstGeom>
          <a:noFill/>
          <a:ln/>
        </p:spPr>
        <p:txBody>
          <a:bodyPr wrap="square" lIns="0" tIns="0" rIns="0" bIns="0" rtlCol="0" anchor="ctr"/>
          <a:lstStyle/>
          <a:p>
            <a:pPr algn="ctr" indent="0" marL="0">
              <a:lnSpc>
                <a:spcPct val="115000"/>
              </a:lnSpc>
              <a:buNone/>
            </a:pPr>
            <a:r>
              <a:rPr lang="en-US" sz="1250" b="1" dirty="0">
                <a:solidFill>
                  <a:srgbClr val="1B2A44"/>
                </a:solidFill>
                <a:latin typeface="Calibri" pitchFamily="34" charset="0"/>
                <a:ea typeface="Calibri" pitchFamily="34" charset="-122"/>
                <a:cs typeface="Calibri" pitchFamily="34" charset="-120"/>
              </a:rPr>
              <a:t>Model C</a:t>
            </a:r>
            <a:endParaRPr lang="en-US" sz="1250" dirty="0"/>
          </a:p>
          <a:p>
            <a:pPr algn="ctr" indent="0" marL="0">
              <a:lnSpc>
                <a:spcPct val="115000"/>
              </a:lnSpc>
              <a:buNone/>
            </a:pPr>
            <a:r>
              <a:rPr lang="en-US" sz="950" dirty="0">
                <a:solidFill>
                  <a:srgbClr val="53565A"/>
                </a:solidFill>
                <a:latin typeface="Calibri" pitchFamily="34" charset="0"/>
                <a:ea typeface="Calibri" pitchFamily="34" charset="-122"/>
                <a:cs typeface="Calibri" pitchFamily="34" charset="-120"/>
              </a:rPr>
              <a:t>policy approved</a:t>
            </a:r>
            <a:endParaRPr lang="en-US" sz="1250" dirty="0"/>
          </a:p>
        </p:txBody>
      </p:sp>
      <p:sp>
        <p:nvSpPr>
          <p:cNvPr id="20" name="Text 18"/>
          <p:cNvSpPr txBox="1"/>
          <p:nvPr/>
        </p:nvSpPr>
        <p:spPr>
          <a:xfrm>
            <a:off x="868680" y="5989320"/>
            <a:ext cx="5120640" cy="320040"/>
          </a:xfrm>
          <a:prstGeom prst="rect">
            <a:avLst/>
          </a:prstGeom>
          <a:noFill/>
          <a:ln/>
        </p:spPr>
        <p:txBody>
          <a:bodyPr wrap="square" lIns="0" tIns="0" rIns="0" bIns="0" rtlCol="0" anchor="ctr"/>
          <a:lstStyle/>
          <a:p>
            <a:pPr indent="0" marL="0">
              <a:buNone/>
            </a:pPr>
            <a:r>
              <a:rPr lang="en-US" sz="1100" i="1" dirty="0">
                <a:solidFill>
                  <a:srgbClr val="53565A"/>
                </a:solidFill>
                <a:latin typeface="Calibri" pitchFamily="34" charset="0"/>
                <a:ea typeface="Calibri" pitchFamily="34" charset="-122"/>
                <a:cs typeface="Calibri" pitchFamily="34" charset="-120"/>
              </a:rPr>
              <a:t>Models are selected by quality, cost, task type or enterprise policy.</a:t>
            </a:r>
            <a:endParaRPr lang="en-US" sz="1100" dirty="0"/>
          </a:p>
        </p:txBody>
      </p:sp>
      <p:sp>
        <p:nvSpPr>
          <p:cNvPr id="21" name="Shape 19"/>
          <p:cNvSpPr/>
          <p:nvPr/>
        </p:nvSpPr>
        <p:spPr>
          <a:xfrm rot="5400000">
            <a:off x="6766560" y="2066544"/>
            <a:ext cx="118872" cy="137160"/>
          </a:xfrm>
          <a:prstGeom prst="triangle">
            <a:avLst/>
          </a:prstGeom>
          <a:solidFill>
            <a:srgbClr val="006FCF"/>
          </a:solidFill>
          <a:ln/>
        </p:spPr>
      </p:sp>
      <p:sp>
        <p:nvSpPr>
          <p:cNvPr id="22" name="Text 20"/>
          <p:cNvSpPr txBox="1"/>
          <p:nvPr/>
        </p:nvSpPr>
        <p:spPr>
          <a:xfrm>
            <a:off x="7022592" y="1984248"/>
            <a:ext cx="4663440" cy="713232"/>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Vendor flexibility</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No single provider becomes a dependency of the security program</a:t>
            </a:r>
            <a:endParaRPr lang="en-US" sz="1250" dirty="0"/>
          </a:p>
        </p:txBody>
      </p:sp>
      <p:sp>
        <p:nvSpPr>
          <p:cNvPr id="23" name="Shape 21"/>
          <p:cNvSpPr/>
          <p:nvPr/>
        </p:nvSpPr>
        <p:spPr>
          <a:xfrm rot="5400000">
            <a:off x="6766560" y="2871216"/>
            <a:ext cx="118872" cy="137160"/>
          </a:xfrm>
          <a:prstGeom prst="triangle">
            <a:avLst/>
          </a:prstGeom>
          <a:solidFill>
            <a:srgbClr val="006FCF"/>
          </a:solidFill>
          <a:ln/>
        </p:spPr>
      </p:sp>
      <p:sp>
        <p:nvSpPr>
          <p:cNvPr id="24" name="Text 22"/>
          <p:cNvSpPr txBox="1"/>
          <p:nvPr/>
        </p:nvSpPr>
        <p:spPr>
          <a:xfrm>
            <a:off x="7022592" y="2788920"/>
            <a:ext cx="4663440" cy="713232"/>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Cost optimization</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Each task can run on the model that clears it most economically</a:t>
            </a:r>
            <a:endParaRPr lang="en-US" sz="1250" dirty="0"/>
          </a:p>
        </p:txBody>
      </p:sp>
      <p:sp>
        <p:nvSpPr>
          <p:cNvPr id="25" name="Shape 23"/>
          <p:cNvSpPr/>
          <p:nvPr/>
        </p:nvSpPr>
        <p:spPr>
          <a:xfrm rot="5400000">
            <a:off x="6766560" y="3675888"/>
            <a:ext cx="118872" cy="137160"/>
          </a:xfrm>
          <a:prstGeom prst="triangle">
            <a:avLst/>
          </a:prstGeom>
          <a:solidFill>
            <a:srgbClr val="006FCF"/>
          </a:solidFill>
          <a:ln/>
        </p:spPr>
      </p:sp>
      <p:sp>
        <p:nvSpPr>
          <p:cNvPr id="26" name="Text 24"/>
          <p:cNvSpPr txBox="1"/>
          <p:nvPr/>
        </p:nvSpPr>
        <p:spPr>
          <a:xfrm>
            <a:off x="7022592" y="3593592"/>
            <a:ext cx="4663440" cy="713232"/>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Model benchmarking</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The same workflow becomes a fair test bed across providers</a:t>
            </a:r>
            <a:endParaRPr lang="en-US" sz="1250" dirty="0"/>
          </a:p>
        </p:txBody>
      </p:sp>
      <p:sp>
        <p:nvSpPr>
          <p:cNvPr id="27" name="Shape 25"/>
          <p:cNvSpPr/>
          <p:nvPr/>
        </p:nvSpPr>
        <p:spPr>
          <a:xfrm rot="5400000">
            <a:off x="6766560" y="4480560"/>
            <a:ext cx="118872" cy="137160"/>
          </a:xfrm>
          <a:prstGeom prst="triangle">
            <a:avLst/>
          </a:prstGeom>
          <a:solidFill>
            <a:srgbClr val="006FCF"/>
          </a:solidFill>
          <a:ln/>
        </p:spPr>
      </p:sp>
      <p:sp>
        <p:nvSpPr>
          <p:cNvPr id="28" name="Text 26"/>
          <p:cNvSpPr txBox="1"/>
          <p:nvPr/>
        </p:nvSpPr>
        <p:spPr>
          <a:xfrm>
            <a:off x="7022592" y="4398264"/>
            <a:ext cx="4663440" cy="713232"/>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Enterprise policy fit</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Approved models can be enforced per environment or data class</a:t>
            </a:r>
            <a:endParaRPr lang="en-US" sz="1250" dirty="0"/>
          </a:p>
        </p:txBody>
      </p:sp>
      <p:sp>
        <p:nvSpPr>
          <p:cNvPr id="29" name="Shape 27"/>
          <p:cNvSpPr/>
          <p:nvPr/>
        </p:nvSpPr>
        <p:spPr>
          <a:xfrm rot="5400000">
            <a:off x="6766560" y="5285232"/>
            <a:ext cx="118872" cy="137160"/>
          </a:xfrm>
          <a:prstGeom prst="triangle">
            <a:avLst/>
          </a:prstGeom>
          <a:solidFill>
            <a:srgbClr val="006FCF"/>
          </a:solidFill>
          <a:ln/>
        </p:spPr>
      </p:sp>
      <p:sp>
        <p:nvSpPr>
          <p:cNvPr id="30" name="Text 28"/>
          <p:cNvSpPr txBox="1"/>
          <p:nvPr/>
        </p:nvSpPr>
        <p:spPr>
          <a:xfrm>
            <a:off x="7022592" y="5202936"/>
            <a:ext cx="4663440" cy="713232"/>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Future proofing</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Stronger models can be adopted without redesigning the platform</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07  HOW PRISM DIFFERS</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A different architecture, not a better model</a:t>
            </a:r>
            <a:endParaRPr lang="en-US" sz="3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3776472"/>
                <a:gridCol w="2286000"/>
                <a:gridCol w="2743200"/>
                <a:gridCol w="2286000"/>
              </a:tblGrid>
              <a:tr h="41148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Capability</a:t>
                      </a:r>
                      <a:endParaRPr lang="en-US" sz="11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0017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Traditional SAST</a:t>
                      </a:r>
                      <a:endParaRPr lang="en-US" sz="11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0017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Single AI security agent</a:t>
                      </a:r>
                      <a:endParaRPr lang="en-US" sz="11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0017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PRISM</a:t>
                      </a:r>
                      <a:endParaRPr lang="en-US" sz="11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006FCF"/>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Fixed rule and pattern detection</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Strong</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Integrated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Deep repository reasoning</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Strong</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Strong</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Multiple complementary discovery strategies</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Usually one primary trajectory</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Root cause consolidation</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Basic</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Variable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Core architecture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Independent evidence challenge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Often self judged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Selective runtime validation</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Possible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Integrated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Multiple model providers</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Not applicable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Usually model specific</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Designed for it</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Cost aware routing</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Core architecture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Evidence strength reporting</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Alert confidence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Model confidence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Evidence based status</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bl>
          </a:graphicData>
        </a:graphic>
      </p:graphicFrame>
      <p:sp>
        <p:nvSpPr>
          <p:cNvPr id="6" name="Text 3"/>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050" i="1" dirty="0">
                <a:solidFill>
                  <a:srgbClr val="8C959E"/>
                </a:solidFill>
                <a:latin typeface="Calibri" pitchFamily="34" charset="0"/>
                <a:ea typeface="Calibri" pitchFamily="34" charset="-122"/>
                <a:cs typeface="Calibri" pitchFamily="34" charset="-120"/>
              </a:rPr>
              <a:t>Categories describe common approaches rather than any specific vendor. PRISM is architected around these capabilities, and the MVP evaluation will measure them.</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08  MVP SUCCESS CRITERIA</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Five measures decide whether PRISM works</a:t>
            </a:r>
            <a:endParaRPr lang="en-US" sz="3100" dirty="0"/>
          </a:p>
        </p:txBody>
      </p:sp>
      <p:sp>
        <p:nvSpPr>
          <p:cNvPr id="5" name="Shape 3"/>
          <p:cNvSpPr/>
          <p:nvPr/>
        </p:nvSpPr>
        <p:spPr>
          <a:xfrm>
            <a:off x="566928" y="1828800"/>
            <a:ext cx="2103120" cy="3246120"/>
          </a:xfrm>
          <a:prstGeom prst="roundRect">
            <a:avLst>
              <a:gd name="adj" fmla="val 3478"/>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6" name="Shape 4"/>
          <p:cNvSpPr/>
          <p:nvPr/>
        </p:nvSpPr>
        <p:spPr>
          <a:xfrm>
            <a:off x="822960" y="2084832"/>
            <a:ext cx="475488" cy="475488"/>
          </a:xfrm>
          <a:prstGeom prst="roundRect">
            <a:avLst>
              <a:gd name="adj" fmla="val 50000"/>
            </a:avLst>
          </a:prstGeom>
          <a:solidFill>
            <a:srgbClr val="E4EFFB"/>
          </a:solidFill>
          <a:ln/>
        </p:spPr>
      </p:sp>
      <p:sp>
        <p:nvSpPr>
          <p:cNvPr id="7" name="Text 5"/>
          <p:cNvSpPr txBox="1"/>
          <p:nvPr/>
        </p:nvSpPr>
        <p:spPr>
          <a:xfrm>
            <a:off x="822960" y="2084832"/>
            <a:ext cx="475488" cy="475488"/>
          </a:xfrm>
          <a:prstGeom prst="rect">
            <a:avLst/>
          </a:prstGeom>
          <a:noFill/>
          <a:ln/>
        </p:spPr>
        <p:txBody>
          <a:bodyPr wrap="square" lIns="0" tIns="0" rIns="0" bIns="0" rtlCol="0" anchor="ctr"/>
          <a:lstStyle/>
          <a:p>
            <a:pPr algn="ctr" indent="0" marL="0">
              <a:buNone/>
            </a:pPr>
            <a:r>
              <a:rPr lang="en-US" sz="1200" b="1" dirty="0">
                <a:solidFill>
                  <a:srgbClr val="006FCF"/>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822960" y="2743200"/>
            <a:ext cx="1591056" cy="457200"/>
          </a:xfrm>
          <a:prstGeom prst="rect">
            <a:avLst/>
          </a:prstGeom>
          <a:noFill/>
          <a:ln/>
        </p:spPr>
        <p:txBody>
          <a:bodyPr wrap="square" lIns="0" tIns="0" rIns="0" bIns="0" rtlCol="0" anchor="ctr"/>
          <a:lstStyle/>
          <a:p>
            <a:pPr indent="0" marL="0">
              <a:lnSpc>
                <a:spcPct val="105000"/>
              </a:lnSpc>
              <a:buNone/>
            </a:pPr>
            <a:r>
              <a:rPr lang="en-US" sz="1050" b="1" spc="110" kern="0" dirty="0">
                <a:solidFill>
                  <a:srgbClr val="006FCF"/>
                </a:solidFill>
                <a:latin typeface="Calibri" pitchFamily="34" charset="0"/>
                <a:ea typeface="Calibri" pitchFamily="34" charset="-122"/>
                <a:cs typeface="Calibri" pitchFamily="34" charset="-120"/>
              </a:rPr>
              <a:t>FIND MORE</a:t>
            </a:r>
            <a:endParaRPr lang="en-US" sz="1050" dirty="0"/>
          </a:p>
        </p:txBody>
      </p:sp>
      <p:sp>
        <p:nvSpPr>
          <p:cNvPr id="9" name="Text 7"/>
          <p:cNvSpPr txBox="1"/>
          <p:nvPr/>
        </p:nvSpPr>
        <p:spPr>
          <a:xfrm>
            <a:off x="822960" y="3246120"/>
            <a:ext cx="1591056" cy="777240"/>
          </a:xfrm>
          <a:prstGeom prst="rect">
            <a:avLst/>
          </a:prstGeom>
          <a:noFill/>
          <a:ln/>
        </p:spPr>
        <p:txBody>
          <a:bodyPr wrap="square" lIns="0" tIns="0" rIns="0" bIns="0" rtlCol="0" anchor="ctr"/>
          <a:lstStyle/>
          <a:p>
            <a:pPr indent="0" marL="0">
              <a:lnSpc>
                <a:spcPct val="108000"/>
              </a:lnSpc>
              <a:buNone/>
            </a:pPr>
            <a:r>
              <a:rPr lang="en-US" sz="1450" b="1" dirty="0">
                <a:solidFill>
                  <a:srgbClr val="1B2A44"/>
                </a:solidFill>
                <a:latin typeface="Cambria" pitchFamily="34" charset="0"/>
                <a:ea typeface="Cambria" pitchFamily="34" charset="-122"/>
                <a:cs typeface="Cambria" pitchFamily="34" charset="-120"/>
              </a:rPr>
              <a:t>Distinct validated root causes</a:t>
            </a:r>
            <a:endParaRPr lang="en-US" sz="1450" dirty="0"/>
          </a:p>
        </p:txBody>
      </p:sp>
      <p:sp>
        <p:nvSpPr>
          <p:cNvPr id="10" name="Text 8"/>
          <p:cNvSpPr txBox="1"/>
          <p:nvPr/>
        </p:nvSpPr>
        <p:spPr>
          <a:xfrm>
            <a:off x="822960" y="4069080"/>
            <a:ext cx="1591056" cy="868680"/>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Compared against a strong external AI security baseline</a:t>
            </a:r>
            <a:endParaRPr lang="en-US" sz="1050" dirty="0"/>
          </a:p>
        </p:txBody>
      </p:sp>
      <p:sp>
        <p:nvSpPr>
          <p:cNvPr id="11" name="Shape 9"/>
          <p:cNvSpPr/>
          <p:nvPr/>
        </p:nvSpPr>
        <p:spPr>
          <a:xfrm>
            <a:off x="2907792" y="1828800"/>
            <a:ext cx="2103120" cy="3246120"/>
          </a:xfrm>
          <a:prstGeom prst="roundRect">
            <a:avLst>
              <a:gd name="adj" fmla="val 3478"/>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2" name="Shape 10"/>
          <p:cNvSpPr/>
          <p:nvPr/>
        </p:nvSpPr>
        <p:spPr>
          <a:xfrm>
            <a:off x="3163824" y="2084832"/>
            <a:ext cx="475488" cy="475488"/>
          </a:xfrm>
          <a:prstGeom prst="roundRect">
            <a:avLst>
              <a:gd name="adj" fmla="val 50000"/>
            </a:avLst>
          </a:prstGeom>
          <a:solidFill>
            <a:srgbClr val="E4EFFB"/>
          </a:solidFill>
          <a:ln/>
        </p:spPr>
      </p:sp>
      <p:sp>
        <p:nvSpPr>
          <p:cNvPr id="13" name="Text 11"/>
          <p:cNvSpPr txBox="1"/>
          <p:nvPr/>
        </p:nvSpPr>
        <p:spPr>
          <a:xfrm>
            <a:off x="3163824" y="2084832"/>
            <a:ext cx="475488" cy="475488"/>
          </a:xfrm>
          <a:prstGeom prst="rect">
            <a:avLst/>
          </a:prstGeom>
          <a:noFill/>
          <a:ln/>
        </p:spPr>
        <p:txBody>
          <a:bodyPr wrap="square" lIns="0" tIns="0" rIns="0" bIns="0" rtlCol="0" anchor="ctr"/>
          <a:lstStyle/>
          <a:p>
            <a:pPr algn="ctr" indent="0" marL="0">
              <a:buNone/>
            </a:pPr>
            <a:r>
              <a:rPr lang="en-US" sz="1200" b="1" dirty="0">
                <a:solidFill>
                  <a:srgbClr val="006FCF"/>
                </a:solidFill>
                <a:latin typeface="Calibri" pitchFamily="34" charset="0"/>
                <a:ea typeface="Calibri" pitchFamily="34" charset="-122"/>
                <a:cs typeface="Calibri" pitchFamily="34" charset="-120"/>
              </a:rPr>
              <a:t>02</a:t>
            </a:r>
            <a:endParaRPr lang="en-US" sz="1200" dirty="0"/>
          </a:p>
        </p:txBody>
      </p:sp>
      <p:sp>
        <p:nvSpPr>
          <p:cNvPr id="14" name="Text 12"/>
          <p:cNvSpPr txBox="1"/>
          <p:nvPr/>
        </p:nvSpPr>
        <p:spPr>
          <a:xfrm>
            <a:off x="3163824" y="2743200"/>
            <a:ext cx="1591056" cy="457200"/>
          </a:xfrm>
          <a:prstGeom prst="rect">
            <a:avLst/>
          </a:prstGeom>
          <a:noFill/>
          <a:ln/>
        </p:spPr>
        <p:txBody>
          <a:bodyPr wrap="square" lIns="0" tIns="0" rIns="0" bIns="0" rtlCol="0" anchor="ctr"/>
          <a:lstStyle/>
          <a:p>
            <a:pPr indent="0" marL="0">
              <a:lnSpc>
                <a:spcPct val="105000"/>
              </a:lnSpc>
              <a:buNone/>
            </a:pPr>
            <a:r>
              <a:rPr lang="en-US" sz="1050" b="1" spc="110" kern="0" dirty="0">
                <a:solidFill>
                  <a:srgbClr val="006FCF"/>
                </a:solidFill>
                <a:latin typeface="Calibri" pitchFamily="34" charset="0"/>
                <a:ea typeface="Calibri" pitchFamily="34" charset="-122"/>
                <a:cs typeface="Calibri" pitchFamily="34" charset="-120"/>
              </a:rPr>
              <a:t>FEWER FALSE POSITIVES</a:t>
            </a:r>
            <a:endParaRPr lang="en-US" sz="1050" dirty="0"/>
          </a:p>
        </p:txBody>
      </p:sp>
      <p:sp>
        <p:nvSpPr>
          <p:cNvPr id="15" name="Text 13"/>
          <p:cNvSpPr txBox="1"/>
          <p:nvPr/>
        </p:nvSpPr>
        <p:spPr>
          <a:xfrm>
            <a:off x="3163824" y="3246120"/>
            <a:ext cx="1591056" cy="777240"/>
          </a:xfrm>
          <a:prstGeom prst="rect">
            <a:avLst/>
          </a:prstGeom>
          <a:noFill/>
          <a:ln/>
        </p:spPr>
        <p:txBody>
          <a:bodyPr wrap="square" lIns="0" tIns="0" rIns="0" bIns="0" rtlCol="0" anchor="ctr"/>
          <a:lstStyle/>
          <a:p>
            <a:pPr indent="0" marL="0">
              <a:lnSpc>
                <a:spcPct val="108000"/>
              </a:lnSpc>
              <a:buNone/>
            </a:pPr>
            <a:r>
              <a:rPr lang="en-US" sz="1450" b="1" dirty="0">
                <a:solidFill>
                  <a:srgbClr val="1B2A44"/>
                </a:solidFill>
                <a:latin typeface="Cambria" pitchFamily="34" charset="0"/>
                <a:ea typeface="Cambria" pitchFamily="34" charset="-122"/>
                <a:cs typeface="Cambria" pitchFamily="34" charset="-120"/>
              </a:rPr>
              <a:t>Delivered precision</a:t>
            </a:r>
            <a:endParaRPr lang="en-US" sz="1450" dirty="0"/>
          </a:p>
        </p:txBody>
      </p:sp>
      <p:sp>
        <p:nvSpPr>
          <p:cNvPr id="16" name="Text 14"/>
          <p:cNvSpPr txBox="1"/>
          <p:nvPr/>
        </p:nvSpPr>
        <p:spPr>
          <a:xfrm>
            <a:off x="3163824" y="4069080"/>
            <a:ext cx="1591056" cy="868680"/>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Measured after the challenge layer, not at raw candidate generation</a:t>
            </a:r>
            <a:endParaRPr lang="en-US" sz="1050" dirty="0"/>
          </a:p>
        </p:txBody>
      </p:sp>
      <p:sp>
        <p:nvSpPr>
          <p:cNvPr id="17" name="Shape 15"/>
          <p:cNvSpPr/>
          <p:nvPr/>
        </p:nvSpPr>
        <p:spPr>
          <a:xfrm>
            <a:off x="5248656" y="1828800"/>
            <a:ext cx="2103120" cy="3246120"/>
          </a:xfrm>
          <a:prstGeom prst="roundRect">
            <a:avLst>
              <a:gd name="adj" fmla="val 3478"/>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8" name="Shape 16"/>
          <p:cNvSpPr/>
          <p:nvPr/>
        </p:nvSpPr>
        <p:spPr>
          <a:xfrm>
            <a:off x="5504688" y="2084832"/>
            <a:ext cx="475488" cy="475488"/>
          </a:xfrm>
          <a:prstGeom prst="roundRect">
            <a:avLst>
              <a:gd name="adj" fmla="val 50000"/>
            </a:avLst>
          </a:prstGeom>
          <a:solidFill>
            <a:srgbClr val="E4EFFB"/>
          </a:solidFill>
          <a:ln/>
        </p:spPr>
      </p:sp>
      <p:sp>
        <p:nvSpPr>
          <p:cNvPr id="19" name="Text 17"/>
          <p:cNvSpPr txBox="1"/>
          <p:nvPr/>
        </p:nvSpPr>
        <p:spPr>
          <a:xfrm>
            <a:off x="5504688" y="2084832"/>
            <a:ext cx="475488" cy="475488"/>
          </a:xfrm>
          <a:prstGeom prst="rect">
            <a:avLst/>
          </a:prstGeom>
          <a:noFill/>
          <a:ln/>
        </p:spPr>
        <p:txBody>
          <a:bodyPr wrap="square" lIns="0" tIns="0" rIns="0" bIns="0" rtlCol="0" anchor="ctr"/>
          <a:lstStyle/>
          <a:p>
            <a:pPr algn="ctr" indent="0" marL="0">
              <a:buNone/>
            </a:pPr>
            <a:r>
              <a:rPr lang="en-US" sz="1200" b="1" dirty="0">
                <a:solidFill>
                  <a:srgbClr val="006FCF"/>
                </a:solidFill>
                <a:latin typeface="Calibri" pitchFamily="34" charset="0"/>
                <a:ea typeface="Calibri" pitchFamily="34" charset="-122"/>
                <a:cs typeface="Calibri" pitchFamily="34" charset="-120"/>
              </a:rPr>
              <a:t>03</a:t>
            </a:r>
            <a:endParaRPr lang="en-US" sz="1200" dirty="0"/>
          </a:p>
        </p:txBody>
      </p:sp>
      <p:sp>
        <p:nvSpPr>
          <p:cNvPr id="20" name="Text 18"/>
          <p:cNvSpPr txBox="1"/>
          <p:nvPr/>
        </p:nvSpPr>
        <p:spPr>
          <a:xfrm>
            <a:off x="5504688" y="2743200"/>
            <a:ext cx="1591056" cy="457200"/>
          </a:xfrm>
          <a:prstGeom prst="rect">
            <a:avLst/>
          </a:prstGeom>
          <a:noFill/>
          <a:ln/>
        </p:spPr>
        <p:txBody>
          <a:bodyPr wrap="square" lIns="0" tIns="0" rIns="0" bIns="0" rtlCol="0" anchor="ctr"/>
          <a:lstStyle/>
          <a:p>
            <a:pPr indent="0" marL="0">
              <a:lnSpc>
                <a:spcPct val="105000"/>
              </a:lnSpc>
              <a:buNone/>
            </a:pPr>
            <a:r>
              <a:rPr lang="en-US" sz="1050" b="1" spc="110" kern="0" dirty="0">
                <a:solidFill>
                  <a:srgbClr val="006FCF"/>
                </a:solidFill>
                <a:latin typeface="Calibri" pitchFamily="34" charset="0"/>
                <a:ea typeface="Calibri" pitchFamily="34" charset="-122"/>
                <a:cs typeface="Calibri" pitchFamily="34" charset="-120"/>
              </a:rPr>
              <a:t>LOWER COST</a:t>
            </a:r>
            <a:endParaRPr lang="en-US" sz="1050" dirty="0"/>
          </a:p>
        </p:txBody>
      </p:sp>
      <p:sp>
        <p:nvSpPr>
          <p:cNvPr id="21" name="Text 19"/>
          <p:cNvSpPr txBox="1"/>
          <p:nvPr/>
        </p:nvSpPr>
        <p:spPr>
          <a:xfrm>
            <a:off x="5504688" y="3246120"/>
            <a:ext cx="1591056" cy="777240"/>
          </a:xfrm>
          <a:prstGeom prst="rect">
            <a:avLst/>
          </a:prstGeom>
          <a:noFill/>
          <a:ln/>
        </p:spPr>
        <p:txBody>
          <a:bodyPr wrap="square" lIns="0" tIns="0" rIns="0" bIns="0" rtlCol="0" anchor="ctr"/>
          <a:lstStyle/>
          <a:p>
            <a:pPr indent="0" marL="0">
              <a:lnSpc>
                <a:spcPct val="108000"/>
              </a:lnSpc>
              <a:buNone/>
            </a:pPr>
            <a:r>
              <a:rPr lang="en-US" sz="1450" b="1" dirty="0">
                <a:solidFill>
                  <a:srgbClr val="1B2A44"/>
                </a:solidFill>
                <a:latin typeface="Cambria" pitchFamily="34" charset="0"/>
                <a:ea typeface="Cambria" pitchFamily="34" charset="-122"/>
                <a:cs typeface="Cambria" pitchFamily="34" charset="-120"/>
              </a:rPr>
              <a:t>Cost per validated root cause</a:t>
            </a:r>
            <a:endParaRPr lang="en-US" sz="1450" dirty="0"/>
          </a:p>
        </p:txBody>
      </p:sp>
      <p:sp>
        <p:nvSpPr>
          <p:cNvPr id="22" name="Text 20"/>
          <p:cNvSpPr txBox="1"/>
          <p:nvPr/>
        </p:nvSpPr>
        <p:spPr>
          <a:xfrm>
            <a:off x="5504688" y="4069080"/>
            <a:ext cx="1591056" cy="868680"/>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Not total model spend and not token volume</a:t>
            </a:r>
            <a:endParaRPr lang="en-US" sz="1050" dirty="0"/>
          </a:p>
        </p:txBody>
      </p:sp>
      <p:sp>
        <p:nvSpPr>
          <p:cNvPr id="23" name="Shape 21"/>
          <p:cNvSpPr/>
          <p:nvPr/>
        </p:nvSpPr>
        <p:spPr>
          <a:xfrm>
            <a:off x="7589520" y="1828800"/>
            <a:ext cx="2103120" cy="3246120"/>
          </a:xfrm>
          <a:prstGeom prst="roundRect">
            <a:avLst>
              <a:gd name="adj" fmla="val 3478"/>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24" name="Shape 22"/>
          <p:cNvSpPr/>
          <p:nvPr/>
        </p:nvSpPr>
        <p:spPr>
          <a:xfrm>
            <a:off x="7845552" y="2084832"/>
            <a:ext cx="475488" cy="475488"/>
          </a:xfrm>
          <a:prstGeom prst="roundRect">
            <a:avLst>
              <a:gd name="adj" fmla="val 50000"/>
            </a:avLst>
          </a:prstGeom>
          <a:solidFill>
            <a:srgbClr val="E4EFFB"/>
          </a:solidFill>
          <a:ln/>
        </p:spPr>
      </p:sp>
      <p:sp>
        <p:nvSpPr>
          <p:cNvPr id="25" name="Text 23"/>
          <p:cNvSpPr txBox="1"/>
          <p:nvPr/>
        </p:nvSpPr>
        <p:spPr>
          <a:xfrm>
            <a:off x="7845552" y="2084832"/>
            <a:ext cx="475488" cy="475488"/>
          </a:xfrm>
          <a:prstGeom prst="rect">
            <a:avLst/>
          </a:prstGeom>
          <a:noFill/>
          <a:ln/>
        </p:spPr>
        <p:txBody>
          <a:bodyPr wrap="square" lIns="0" tIns="0" rIns="0" bIns="0" rtlCol="0" anchor="ctr"/>
          <a:lstStyle/>
          <a:p>
            <a:pPr algn="ctr" indent="0" marL="0">
              <a:buNone/>
            </a:pPr>
            <a:r>
              <a:rPr lang="en-US" sz="1200" b="1" dirty="0">
                <a:solidFill>
                  <a:srgbClr val="006FCF"/>
                </a:solidFill>
                <a:latin typeface="Calibri" pitchFamily="34" charset="0"/>
                <a:ea typeface="Calibri" pitchFamily="34" charset="-122"/>
                <a:cs typeface="Calibri" pitchFamily="34" charset="-120"/>
              </a:rPr>
              <a:t>04</a:t>
            </a:r>
            <a:endParaRPr lang="en-US" sz="1200" dirty="0"/>
          </a:p>
        </p:txBody>
      </p:sp>
      <p:sp>
        <p:nvSpPr>
          <p:cNvPr id="26" name="Text 24"/>
          <p:cNvSpPr txBox="1"/>
          <p:nvPr/>
        </p:nvSpPr>
        <p:spPr>
          <a:xfrm>
            <a:off x="7845552" y="2743200"/>
            <a:ext cx="1591056" cy="457200"/>
          </a:xfrm>
          <a:prstGeom prst="rect">
            <a:avLst/>
          </a:prstGeom>
          <a:noFill/>
          <a:ln/>
        </p:spPr>
        <p:txBody>
          <a:bodyPr wrap="square" lIns="0" tIns="0" rIns="0" bIns="0" rtlCol="0" anchor="ctr"/>
          <a:lstStyle/>
          <a:p>
            <a:pPr indent="0" marL="0">
              <a:lnSpc>
                <a:spcPct val="105000"/>
              </a:lnSpc>
              <a:buNone/>
            </a:pPr>
            <a:r>
              <a:rPr lang="en-US" sz="1050" b="1" spc="110" kern="0" dirty="0">
                <a:solidFill>
                  <a:srgbClr val="006FCF"/>
                </a:solidFill>
                <a:latin typeface="Calibri" pitchFamily="34" charset="0"/>
                <a:ea typeface="Calibri" pitchFamily="34" charset="-122"/>
                <a:cs typeface="Calibri" pitchFamily="34" charset="-120"/>
              </a:rPr>
              <a:t>BETTER EVIDENCE</a:t>
            </a:r>
            <a:endParaRPr lang="en-US" sz="1050" dirty="0"/>
          </a:p>
        </p:txBody>
      </p:sp>
      <p:sp>
        <p:nvSpPr>
          <p:cNvPr id="27" name="Text 25"/>
          <p:cNvSpPr txBox="1"/>
          <p:nvPr/>
        </p:nvSpPr>
        <p:spPr>
          <a:xfrm>
            <a:off x="7845552" y="3246120"/>
            <a:ext cx="1591056" cy="777240"/>
          </a:xfrm>
          <a:prstGeom prst="rect">
            <a:avLst/>
          </a:prstGeom>
          <a:noFill/>
          <a:ln/>
        </p:spPr>
        <p:txBody>
          <a:bodyPr wrap="square" lIns="0" tIns="0" rIns="0" bIns="0" rtlCol="0" anchor="ctr"/>
          <a:lstStyle/>
          <a:p>
            <a:pPr indent="0" marL="0">
              <a:lnSpc>
                <a:spcPct val="108000"/>
              </a:lnSpc>
              <a:buNone/>
            </a:pPr>
            <a:r>
              <a:rPr lang="en-US" sz="1450" b="1" dirty="0">
                <a:solidFill>
                  <a:srgbClr val="1B2A44"/>
                </a:solidFill>
                <a:latin typeface="Cambria" pitchFamily="34" charset="0"/>
                <a:ea typeface="Cambria" pitchFamily="34" charset="-122"/>
                <a:cs typeface="Cambria" pitchFamily="34" charset="-120"/>
              </a:rPr>
              <a:t>Priority findings with runtime evidence</a:t>
            </a:r>
            <a:endParaRPr lang="en-US" sz="1450" dirty="0"/>
          </a:p>
        </p:txBody>
      </p:sp>
      <p:sp>
        <p:nvSpPr>
          <p:cNvPr id="28" name="Text 26"/>
          <p:cNvSpPr txBox="1"/>
          <p:nvPr/>
        </p:nvSpPr>
        <p:spPr>
          <a:xfrm>
            <a:off x="7845552" y="4069080"/>
            <a:ext cx="1591056" cy="868680"/>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Findings refuted at runtime are tracked as well</a:t>
            </a:r>
            <a:endParaRPr lang="en-US" sz="1050" dirty="0"/>
          </a:p>
        </p:txBody>
      </p:sp>
      <p:sp>
        <p:nvSpPr>
          <p:cNvPr id="29" name="Shape 27"/>
          <p:cNvSpPr/>
          <p:nvPr/>
        </p:nvSpPr>
        <p:spPr>
          <a:xfrm>
            <a:off x="9930384" y="1828800"/>
            <a:ext cx="2103120" cy="3246120"/>
          </a:xfrm>
          <a:prstGeom prst="roundRect">
            <a:avLst>
              <a:gd name="adj" fmla="val 3478"/>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30" name="Shape 28"/>
          <p:cNvSpPr/>
          <p:nvPr/>
        </p:nvSpPr>
        <p:spPr>
          <a:xfrm>
            <a:off x="10186416" y="2084832"/>
            <a:ext cx="475488" cy="475488"/>
          </a:xfrm>
          <a:prstGeom prst="roundRect">
            <a:avLst>
              <a:gd name="adj" fmla="val 50000"/>
            </a:avLst>
          </a:prstGeom>
          <a:solidFill>
            <a:srgbClr val="F4EBDA"/>
          </a:solidFill>
          <a:ln/>
        </p:spPr>
      </p:sp>
      <p:sp>
        <p:nvSpPr>
          <p:cNvPr id="31" name="Text 29"/>
          <p:cNvSpPr txBox="1"/>
          <p:nvPr/>
        </p:nvSpPr>
        <p:spPr>
          <a:xfrm>
            <a:off x="10186416" y="2084832"/>
            <a:ext cx="475488" cy="475488"/>
          </a:xfrm>
          <a:prstGeom prst="rect">
            <a:avLst/>
          </a:prstGeom>
          <a:noFill/>
          <a:ln/>
        </p:spPr>
        <p:txBody>
          <a:bodyPr wrap="square" lIns="0" tIns="0" rIns="0" bIns="0" rtlCol="0" anchor="ctr"/>
          <a:lstStyle/>
          <a:p>
            <a:pPr algn="ctr" indent="0" marL="0">
              <a:buNone/>
            </a:pPr>
            <a:r>
              <a:rPr lang="en-US" sz="1200" b="1" dirty="0">
                <a:solidFill>
                  <a:srgbClr val="A5793A"/>
                </a:solidFill>
                <a:latin typeface="Calibri" pitchFamily="34" charset="0"/>
                <a:ea typeface="Calibri" pitchFamily="34" charset="-122"/>
                <a:cs typeface="Calibri" pitchFamily="34" charset="-120"/>
              </a:rPr>
              <a:t>05</a:t>
            </a:r>
            <a:endParaRPr lang="en-US" sz="1200" dirty="0"/>
          </a:p>
        </p:txBody>
      </p:sp>
      <p:sp>
        <p:nvSpPr>
          <p:cNvPr id="32" name="Text 30"/>
          <p:cNvSpPr txBox="1"/>
          <p:nvPr/>
        </p:nvSpPr>
        <p:spPr>
          <a:xfrm>
            <a:off x="10186416" y="2743200"/>
            <a:ext cx="1591056" cy="457200"/>
          </a:xfrm>
          <a:prstGeom prst="rect">
            <a:avLst/>
          </a:prstGeom>
          <a:noFill/>
          <a:ln/>
        </p:spPr>
        <p:txBody>
          <a:bodyPr wrap="square" lIns="0" tIns="0" rIns="0" bIns="0" rtlCol="0" anchor="ctr"/>
          <a:lstStyle/>
          <a:p>
            <a:pPr indent="0" marL="0">
              <a:lnSpc>
                <a:spcPct val="105000"/>
              </a:lnSpc>
              <a:buNone/>
            </a:pPr>
            <a:r>
              <a:rPr lang="en-US" sz="1050" b="1" spc="110" kern="0" dirty="0">
                <a:solidFill>
                  <a:srgbClr val="006FCF"/>
                </a:solidFill>
                <a:latin typeface="Calibri" pitchFamily="34" charset="0"/>
                <a:ea typeface="Calibri" pitchFamily="34" charset="-122"/>
                <a:cs typeface="Calibri" pitchFamily="34" charset="-120"/>
              </a:rPr>
              <a:t>MODEL FLEXIBILITY</a:t>
            </a:r>
            <a:endParaRPr lang="en-US" sz="1050" dirty="0"/>
          </a:p>
        </p:txBody>
      </p:sp>
      <p:sp>
        <p:nvSpPr>
          <p:cNvPr id="33" name="Text 31"/>
          <p:cNvSpPr txBox="1"/>
          <p:nvPr/>
        </p:nvSpPr>
        <p:spPr>
          <a:xfrm>
            <a:off x="10186416" y="3246120"/>
            <a:ext cx="1591056" cy="777240"/>
          </a:xfrm>
          <a:prstGeom prst="rect">
            <a:avLst/>
          </a:prstGeom>
          <a:noFill/>
          <a:ln/>
        </p:spPr>
        <p:txBody>
          <a:bodyPr wrap="square" lIns="0" tIns="0" rIns="0" bIns="0" rtlCol="0" anchor="ctr"/>
          <a:lstStyle/>
          <a:p>
            <a:pPr indent="0" marL="0">
              <a:lnSpc>
                <a:spcPct val="108000"/>
              </a:lnSpc>
              <a:buNone/>
            </a:pPr>
            <a:r>
              <a:rPr lang="en-US" sz="1450" b="1" dirty="0">
                <a:solidFill>
                  <a:srgbClr val="1B2A44"/>
                </a:solidFill>
                <a:latin typeface="Cambria" pitchFamily="34" charset="0"/>
                <a:ea typeface="Cambria" pitchFamily="34" charset="-122"/>
                <a:cs typeface="Cambria" pitchFamily="34" charset="-120"/>
              </a:rPr>
              <a:t>One pipeline across providers</a:t>
            </a:r>
            <a:endParaRPr lang="en-US" sz="1450" dirty="0"/>
          </a:p>
        </p:txBody>
      </p:sp>
      <p:sp>
        <p:nvSpPr>
          <p:cNvPr id="34" name="Text 32"/>
          <p:cNvSpPr txBox="1"/>
          <p:nvPr/>
        </p:nvSpPr>
        <p:spPr>
          <a:xfrm>
            <a:off x="10186416" y="4069080"/>
            <a:ext cx="1591056" cy="868680"/>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The same workflow operating on multiple frontier models</a:t>
            </a:r>
            <a:endParaRPr lang="en-US" sz="1050" dirty="0"/>
          </a:p>
        </p:txBody>
      </p:sp>
      <p:sp>
        <p:nvSpPr>
          <p:cNvPr id="35" name="Shape 33"/>
          <p:cNvSpPr/>
          <p:nvPr/>
        </p:nvSpPr>
        <p:spPr>
          <a:xfrm>
            <a:off x="566928" y="5349240"/>
            <a:ext cx="11064240" cy="914400"/>
          </a:xfrm>
          <a:prstGeom prst="roundRect">
            <a:avLst>
              <a:gd name="adj" fmla="val 8000"/>
            </a:avLst>
          </a:prstGeom>
          <a:solidFill>
            <a:srgbClr val="00175A"/>
          </a:solidFill>
          <a:ln/>
          <a:effectLst>
            <a:outerShdw sx="100000" sy="100000" kx="0" ky="0" algn="bl" rotWithShape="0" blurRad="152400" dist="25400" dir="5400000">
              <a:srgbClr val="8FA0B8">
                <a:alpha val="20000"/>
              </a:srgbClr>
            </a:outerShdw>
          </a:effectLst>
        </p:spPr>
      </p:sp>
      <p:sp>
        <p:nvSpPr>
          <p:cNvPr id="36" name="Text 34"/>
          <p:cNvSpPr txBox="1"/>
          <p:nvPr/>
        </p:nvSpPr>
        <p:spPr>
          <a:xfrm>
            <a:off x="868680" y="5349240"/>
            <a:ext cx="10515600" cy="9144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None of these are claimed today. Each is a target the MVP evaluation will measure, including a controlled head to head against an external baseline.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1233"/>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9BCAEB"/>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9BCAEB"/>
                </a:solidFill>
                <a:latin typeface="Calibri" pitchFamily="34" charset="0"/>
                <a:ea typeface="Calibri" pitchFamily="34" charset="-122"/>
                <a:cs typeface="Calibri" pitchFamily="34" charset="-120"/>
              </a:rPr>
              <a:t>09  WHERE THIS GOES</a:t>
            </a:r>
            <a:endParaRPr lang="en-US" sz="1150" dirty="0"/>
          </a:p>
        </p:txBody>
      </p:sp>
      <p:sp>
        <p:nvSpPr>
          <p:cNvPr id="4" name="Text 2"/>
          <p:cNvSpPr txBox="1"/>
          <p:nvPr/>
        </p:nvSpPr>
        <p:spPr>
          <a:xfrm>
            <a:off x="548640" y="749808"/>
            <a:ext cx="11155680" cy="56692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From evidence first research to continuous experimentation</a:t>
            </a:r>
            <a:endParaRPr lang="en-US" sz="3100" dirty="0"/>
          </a:p>
        </p:txBody>
      </p:sp>
      <p:sp>
        <p:nvSpPr>
          <p:cNvPr id="5" name="Shape 3"/>
          <p:cNvSpPr/>
          <p:nvPr/>
        </p:nvSpPr>
        <p:spPr>
          <a:xfrm>
            <a:off x="658368" y="2148840"/>
            <a:ext cx="3429000" cy="2606040"/>
          </a:xfrm>
          <a:prstGeom prst="roundRect">
            <a:avLst>
              <a:gd name="adj" fmla="val 2807"/>
            </a:avLst>
          </a:prstGeom>
          <a:solidFill>
            <a:srgbClr val="002050"/>
          </a:solidFill>
          <a:ln w="12700">
            <a:solidFill>
              <a:srgbClr val="13407F"/>
            </a:solidFill>
            <a:prstDash val="solid"/>
          </a:ln>
        </p:spPr>
      </p:sp>
      <p:sp>
        <p:nvSpPr>
          <p:cNvPr id="6" name="Text 4"/>
          <p:cNvSpPr txBox="1"/>
          <p:nvPr/>
        </p:nvSpPr>
        <p:spPr>
          <a:xfrm>
            <a:off x="978408" y="2450592"/>
            <a:ext cx="2788920" cy="292608"/>
          </a:xfrm>
          <a:prstGeom prst="rect">
            <a:avLst/>
          </a:prstGeom>
          <a:noFill/>
          <a:ln/>
        </p:spPr>
        <p:txBody>
          <a:bodyPr wrap="square" lIns="0" tIns="0" rIns="0" bIns="0" rtlCol="0" anchor="ctr"/>
          <a:lstStyle/>
          <a:p>
            <a:pPr indent="0" marL="0">
              <a:buNone/>
            </a:pPr>
            <a:r>
              <a:rPr lang="en-US" sz="1100" b="1" spc="150" kern="0" dirty="0">
                <a:solidFill>
                  <a:srgbClr val="9BCAEB"/>
                </a:solidFill>
                <a:latin typeface="Calibri" pitchFamily="34" charset="0"/>
                <a:ea typeface="Calibri" pitchFamily="34" charset="-122"/>
                <a:cs typeface="Calibri" pitchFamily="34" charset="-120"/>
              </a:rPr>
              <a:t>TODAY</a:t>
            </a:r>
            <a:endParaRPr lang="en-US" sz="1100" dirty="0"/>
          </a:p>
        </p:txBody>
      </p:sp>
      <p:sp>
        <p:nvSpPr>
          <p:cNvPr id="7" name="Text 5"/>
          <p:cNvSpPr txBox="1"/>
          <p:nvPr/>
        </p:nvSpPr>
        <p:spPr>
          <a:xfrm>
            <a:off x="978408" y="2816352"/>
            <a:ext cx="2788920" cy="868680"/>
          </a:xfrm>
          <a:prstGeom prst="rect">
            <a:avLst/>
          </a:prstGeom>
          <a:noFill/>
          <a:ln/>
        </p:spPr>
        <p:txBody>
          <a:bodyPr wrap="square" lIns="0" tIns="0" rIns="0" bIns="0" rtlCol="0" anchor="ctr"/>
          <a:lstStyle/>
          <a:p>
            <a:pPr indent="0" marL="0">
              <a:lnSpc>
                <a:spcPct val="110000"/>
              </a:lnSpc>
              <a:buNone/>
            </a:pPr>
            <a:r>
              <a:rPr lang="en-US" sz="1800" b="1" dirty="0">
                <a:solidFill>
                  <a:srgbClr val="FFFFFF"/>
                </a:solidFill>
                <a:latin typeface="Cambria" pitchFamily="34" charset="0"/>
                <a:ea typeface="Cambria" pitchFamily="34" charset="-122"/>
                <a:cs typeface="Cambria" pitchFamily="34" charset="-120"/>
              </a:rPr>
              <a:t>Evidence first AI security research</a:t>
            </a:r>
            <a:endParaRPr lang="en-US" sz="1800" dirty="0"/>
          </a:p>
        </p:txBody>
      </p:sp>
      <p:sp>
        <p:nvSpPr>
          <p:cNvPr id="8" name="Text 6"/>
          <p:cNvSpPr txBox="1"/>
          <p:nvPr/>
        </p:nvSpPr>
        <p:spPr>
          <a:xfrm>
            <a:off x="978408" y="3730752"/>
            <a:ext cx="2788920" cy="868680"/>
          </a:xfrm>
          <a:prstGeom prst="rect">
            <a:avLst/>
          </a:prstGeom>
          <a:noFill/>
          <a:ln/>
        </p:spPr>
        <p:txBody>
          <a:bodyPr wrap="square" lIns="0" tIns="0" rIns="0" bIns="0" rtlCol="0" anchor="ctr"/>
          <a:lstStyle/>
          <a:p>
            <a:pPr indent="0" marL="0">
              <a:lnSpc>
                <a:spcPct val="120000"/>
              </a:lnSpc>
              <a:buNone/>
            </a:pPr>
            <a:r>
              <a:rPr lang="en-US" sz="1150" dirty="0">
                <a:solidFill>
                  <a:srgbClr val="A9C4E2"/>
                </a:solidFill>
                <a:latin typeface="Calibri" pitchFamily="34" charset="0"/>
                <a:ea typeface="Calibri" pitchFamily="34" charset="-122"/>
                <a:cs typeface="Calibri" pitchFamily="34" charset="-120"/>
              </a:rPr>
              <a:t>Complementary discovery, root cause consolidation and an evidence challenge before delivery</a:t>
            </a:r>
            <a:endParaRPr lang="en-US" sz="1150" dirty="0"/>
          </a:p>
        </p:txBody>
      </p:sp>
      <p:sp>
        <p:nvSpPr>
          <p:cNvPr id="9" name="Shape 7"/>
          <p:cNvSpPr/>
          <p:nvPr/>
        </p:nvSpPr>
        <p:spPr>
          <a:xfrm rot="5400000">
            <a:off x="4233672" y="3364992"/>
            <a:ext cx="201168" cy="221285"/>
          </a:xfrm>
          <a:prstGeom prst="triangle">
            <a:avLst/>
          </a:prstGeom>
          <a:solidFill>
            <a:srgbClr val="2C5896"/>
          </a:solidFill>
          <a:ln/>
        </p:spPr>
      </p:sp>
      <p:sp>
        <p:nvSpPr>
          <p:cNvPr id="10" name="Shape 8"/>
          <p:cNvSpPr/>
          <p:nvPr/>
        </p:nvSpPr>
        <p:spPr>
          <a:xfrm>
            <a:off x="4590288" y="2148840"/>
            <a:ext cx="3429000" cy="2606040"/>
          </a:xfrm>
          <a:prstGeom prst="roundRect">
            <a:avLst>
              <a:gd name="adj" fmla="val 2807"/>
            </a:avLst>
          </a:prstGeom>
          <a:solidFill>
            <a:srgbClr val="002050"/>
          </a:solidFill>
          <a:ln w="12700">
            <a:solidFill>
              <a:srgbClr val="13407F"/>
            </a:solidFill>
            <a:prstDash val="solid"/>
          </a:ln>
        </p:spPr>
      </p:sp>
      <p:sp>
        <p:nvSpPr>
          <p:cNvPr id="11" name="Text 9"/>
          <p:cNvSpPr txBox="1"/>
          <p:nvPr/>
        </p:nvSpPr>
        <p:spPr>
          <a:xfrm>
            <a:off x="4910328" y="2450592"/>
            <a:ext cx="2788920" cy="292608"/>
          </a:xfrm>
          <a:prstGeom prst="rect">
            <a:avLst/>
          </a:prstGeom>
          <a:noFill/>
          <a:ln/>
        </p:spPr>
        <p:txBody>
          <a:bodyPr wrap="square" lIns="0" tIns="0" rIns="0" bIns="0" rtlCol="0" anchor="ctr"/>
          <a:lstStyle/>
          <a:p>
            <a:pPr indent="0" marL="0">
              <a:buNone/>
            </a:pPr>
            <a:r>
              <a:rPr lang="en-US" sz="1100" b="1" spc="150" kern="0" dirty="0">
                <a:solidFill>
                  <a:srgbClr val="7FC3F5"/>
                </a:solidFill>
                <a:latin typeface="Calibri" pitchFamily="34" charset="0"/>
                <a:ea typeface="Calibri" pitchFamily="34" charset="-122"/>
                <a:cs typeface="Calibri" pitchFamily="34" charset="-120"/>
              </a:rPr>
              <a:t>NEXT</a:t>
            </a:r>
            <a:endParaRPr lang="en-US" sz="1100" dirty="0"/>
          </a:p>
        </p:txBody>
      </p:sp>
      <p:sp>
        <p:nvSpPr>
          <p:cNvPr id="12" name="Text 10"/>
          <p:cNvSpPr txBox="1"/>
          <p:nvPr/>
        </p:nvSpPr>
        <p:spPr>
          <a:xfrm>
            <a:off x="4910328" y="2816352"/>
            <a:ext cx="2788920" cy="868680"/>
          </a:xfrm>
          <a:prstGeom prst="rect">
            <a:avLst/>
          </a:prstGeom>
          <a:noFill/>
          <a:ln/>
        </p:spPr>
        <p:txBody>
          <a:bodyPr wrap="square" lIns="0" tIns="0" rIns="0" bIns="0" rtlCol="0" anchor="ctr"/>
          <a:lstStyle/>
          <a:p>
            <a:pPr indent="0" marL="0">
              <a:lnSpc>
                <a:spcPct val="110000"/>
              </a:lnSpc>
              <a:buNone/>
            </a:pPr>
            <a:r>
              <a:rPr lang="en-US" sz="1800" b="1" dirty="0">
                <a:solidFill>
                  <a:srgbClr val="FFFFFF"/>
                </a:solidFill>
                <a:latin typeface="Cambria" pitchFamily="34" charset="0"/>
                <a:ea typeface="Cambria" pitchFamily="34" charset="-122"/>
                <a:cs typeface="Cambria" pitchFamily="34" charset="-120"/>
              </a:rPr>
              <a:t>Increasing autonomous runtime validation</a:t>
            </a:r>
            <a:endParaRPr lang="en-US" sz="1800" dirty="0"/>
          </a:p>
        </p:txBody>
      </p:sp>
      <p:sp>
        <p:nvSpPr>
          <p:cNvPr id="13" name="Text 11"/>
          <p:cNvSpPr txBox="1"/>
          <p:nvPr/>
        </p:nvSpPr>
        <p:spPr>
          <a:xfrm>
            <a:off x="4910328" y="3730752"/>
            <a:ext cx="2788920" cy="868680"/>
          </a:xfrm>
          <a:prstGeom prst="rect">
            <a:avLst/>
          </a:prstGeom>
          <a:noFill/>
          <a:ln/>
        </p:spPr>
        <p:txBody>
          <a:bodyPr wrap="square" lIns="0" tIns="0" rIns="0" bIns="0" rtlCol="0" anchor="ctr"/>
          <a:lstStyle/>
          <a:p>
            <a:pPr indent="0" marL="0">
              <a:lnSpc>
                <a:spcPct val="120000"/>
              </a:lnSpc>
              <a:buNone/>
            </a:pPr>
            <a:r>
              <a:rPr lang="en-US" sz="1150" dirty="0">
                <a:solidFill>
                  <a:srgbClr val="A9C4E2"/>
                </a:solidFill>
                <a:latin typeface="Calibri" pitchFamily="34" charset="0"/>
                <a:ea typeface="Calibri" pitchFamily="34" charset="-122"/>
                <a:cs typeface="Calibri" pitchFamily="34" charset="-120"/>
              </a:rPr>
              <a:t>More priority findings demonstrated or refuted in an executable environment</a:t>
            </a:r>
            <a:endParaRPr lang="en-US" sz="1150" dirty="0"/>
          </a:p>
        </p:txBody>
      </p:sp>
      <p:sp>
        <p:nvSpPr>
          <p:cNvPr id="14" name="Shape 12"/>
          <p:cNvSpPr/>
          <p:nvPr/>
        </p:nvSpPr>
        <p:spPr>
          <a:xfrm rot="5400000">
            <a:off x="8165592" y="3364992"/>
            <a:ext cx="201168" cy="221285"/>
          </a:xfrm>
          <a:prstGeom prst="triangle">
            <a:avLst/>
          </a:prstGeom>
          <a:solidFill>
            <a:srgbClr val="2C5896"/>
          </a:solidFill>
          <a:ln/>
        </p:spPr>
      </p:sp>
      <p:sp>
        <p:nvSpPr>
          <p:cNvPr id="15" name="Shape 13"/>
          <p:cNvSpPr/>
          <p:nvPr/>
        </p:nvSpPr>
        <p:spPr>
          <a:xfrm>
            <a:off x="8522208" y="2148840"/>
            <a:ext cx="3429000" cy="2606040"/>
          </a:xfrm>
          <a:prstGeom prst="roundRect">
            <a:avLst>
              <a:gd name="adj" fmla="val 2807"/>
            </a:avLst>
          </a:prstGeom>
          <a:solidFill>
            <a:srgbClr val="002050"/>
          </a:solidFill>
          <a:ln w="12700">
            <a:solidFill>
              <a:srgbClr val="13407F"/>
            </a:solidFill>
            <a:prstDash val="solid"/>
          </a:ln>
        </p:spPr>
      </p:sp>
      <p:sp>
        <p:nvSpPr>
          <p:cNvPr id="16" name="Text 14"/>
          <p:cNvSpPr txBox="1"/>
          <p:nvPr/>
        </p:nvSpPr>
        <p:spPr>
          <a:xfrm>
            <a:off x="8842248" y="2450592"/>
            <a:ext cx="2788920" cy="292608"/>
          </a:xfrm>
          <a:prstGeom prst="rect">
            <a:avLst/>
          </a:prstGeom>
          <a:noFill/>
          <a:ln/>
        </p:spPr>
        <p:txBody>
          <a:bodyPr wrap="square" lIns="0" tIns="0" rIns="0" bIns="0" rtlCol="0" anchor="ctr"/>
          <a:lstStyle/>
          <a:p>
            <a:pPr indent="0" marL="0">
              <a:buNone/>
            </a:pPr>
            <a:r>
              <a:rPr lang="en-US" sz="1100" b="1" spc="150" kern="0" dirty="0">
                <a:solidFill>
                  <a:srgbClr val="D9B36C"/>
                </a:solidFill>
                <a:latin typeface="Calibri" pitchFamily="34" charset="0"/>
                <a:ea typeface="Calibri" pitchFamily="34" charset="-122"/>
                <a:cs typeface="Calibri" pitchFamily="34" charset="-120"/>
              </a:rPr>
              <a:t>FUTURE</a:t>
            </a:r>
            <a:endParaRPr lang="en-US" sz="1100" dirty="0"/>
          </a:p>
        </p:txBody>
      </p:sp>
      <p:sp>
        <p:nvSpPr>
          <p:cNvPr id="17" name="Text 15"/>
          <p:cNvSpPr txBox="1"/>
          <p:nvPr/>
        </p:nvSpPr>
        <p:spPr>
          <a:xfrm>
            <a:off x="8842248" y="2816352"/>
            <a:ext cx="2788920" cy="868680"/>
          </a:xfrm>
          <a:prstGeom prst="rect">
            <a:avLst/>
          </a:prstGeom>
          <a:noFill/>
          <a:ln/>
        </p:spPr>
        <p:txBody>
          <a:bodyPr wrap="square" lIns="0" tIns="0" rIns="0" bIns="0" rtlCol="0" anchor="ctr"/>
          <a:lstStyle/>
          <a:p>
            <a:pPr indent="0" marL="0">
              <a:lnSpc>
                <a:spcPct val="110000"/>
              </a:lnSpc>
              <a:buNone/>
            </a:pPr>
            <a:r>
              <a:rPr lang="en-US" sz="1800" b="1" dirty="0">
                <a:solidFill>
                  <a:srgbClr val="FFFFFF"/>
                </a:solidFill>
                <a:latin typeface="Cambria" pitchFamily="34" charset="0"/>
                <a:ea typeface="Cambria" pitchFamily="34" charset="-122"/>
                <a:cs typeface="Cambria" pitchFamily="34" charset="-120"/>
              </a:rPr>
              <a:t>Continuous AI security experimentation</a:t>
            </a:r>
            <a:endParaRPr lang="en-US" sz="1800" dirty="0"/>
          </a:p>
        </p:txBody>
      </p:sp>
      <p:sp>
        <p:nvSpPr>
          <p:cNvPr id="18" name="Text 16"/>
          <p:cNvSpPr txBox="1"/>
          <p:nvPr/>
        </p:nvSpPr>
        <p:spPr>
          <a:xfrm>
            <a:off x="8842248" y="3730752"/>
            <a:ext cx="2788920" cy="868680"/>
          </a:xfrm>
          <a:prstGeom prst="rect">
            <a:avLst/>
          </a:prstGeom>
          <a:noFill/>
          <a:ln/>
        </p:spPr>
        <p:txBody>
          <a:bodyPr wrap="square" lIns="0" tIns="0" rIns="0" bIns="0" rtlCol="0" anchor="ctr"/>
          <a:lstStyle/>
          <a:p>
            <a:pPr indent="0" marL="0">
              <a:lnSpc>
                <a:spcPct val="120000"/>
              </a:lnSpc>
              <a:buNone/>
            </a:pPr>
            <a:r>
              <a:rPr lang="en-US" sz="1150" dirty="0">
                <a:solidFill>
                  <a:srgbClr val="A9C4E2"/>
                </a:solidFill>
                <a:latin typeface="Calibri" pitchFamily="34" charset="0"/>
                <a:ea typeface="Calibri" pitchFamily="34" charset="-122"/>
                <a:cs typeface="Calibri" pitchFamily="34" charset="-120"/>
              </a:rPr>
              <a:t>Ongoing investigation across real application environments as models improve</a:t>
            </a:r>
            <a:endParaRPr lang="en-US" sz="1150" dirty="0"/>
          </a:p>
        </p:txBody>
      </p:sp>
      <p:sp>
        <p:nvSpPr>
          <p:cNvPr id="19" name="Text 17"/>
          <p:cNvSpPr txBox="1"/>
          <p:nvPr/>
        </p:nvSpPr>
        <p:spPr>
          <a:xfrm>
            <a:off x="658368" y="5257800"/>
            <a:ext cx="10881360" cy="868680"/>
          </a:xfrm>
          <a:prstGeom prst="rect">
            <a:avLst/>
          </a:prstGeom>
          <a:noFill/>
          <a:ln/>
        </p:spPr>
        <p:txBody>
          <a:bodyPr wrap="square" lIns="0" tIns="0" rIns="0" bIns="0" rtlCol="0" anchor="ctr"/>
          <a:lstStyle/>
          <a:p>
            <a:pPr indent="0" marL="0">
              <a:lnSpc>
                <a:spcPct val="125000"/>
              </a:lnSpc>
              <a:buNone/>
            </a:pPr>
            <a:r>
              <a:rPr lang="en-US" sz="1600" dirty="0">
                <a:solidFill>
                  <a:srgbClr val="D2E1F2"/>
                </a:solidFill>
                <a:latin typeface="Cambria" pitchFamily="34" charset="0"/>
                <a:ea typeface="Cambria" pitchFamily="34" charset="-122"/>
                <a:cs typeface="Cambria" pitchFamily="34" charset="-120"/>
              </a:rPr>
              <a:t>PRISM's advantage is not one better AI model. It is an architecture that combines complementary security investigation, evidence driven filtering, selective runtime validation and cost aware model routing into one system.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PRISM Executive Briefing</dc:title>
  <dc:subject>PptxGenJS Presentation</dc:subject>
  <dc:creator>PRISM</dc:creator>
  <cp:lastModifiedBy>PRISM</cp:lastModifiedBy>
  <cp:revision>1</cp:revision>
  <dcterms:created xsi:type="dcterms:W3CDTF">2026-08-26T19:00:59Z</dcterms:created>
  <dcterms:modified xsi:type="dcterms:W3CDTF">2026-08-26T19:00:59Z</dcterms:modified>
</cp:coreProperties>
</file>